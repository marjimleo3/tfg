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9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E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Importancia</c:v>
                </c:pt>
              </c:strCache>
            </c:strRef>
          </c:tx>
          <c:spPr>
            <a:solidFill>
              <a:srgbClr val="3B6E77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B2320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valoracion_clientes</c:v>
                </c:pt>
                <c:pt idx="1">
                  <c:v>dias_restantes</c:v>
                </c:pt>
                <c:pt idx="2">
                  <c:v>localidad</c:v>
                </c:pt>
                <c:pt idx="3">
                  <c:v>n_valoraciones</c:v>
                </c:pt>
                <c:pt idx="4">
                  <c:v>tamaño_habitacion</c:v>
                </c:pt>
                <c:pt idx="5">
                  <c:v>distancia_centro_km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8.4000000000000005E-2</c:v>
                </c:pt>
                <c:pt idx="1">
                  <c:v>9.0999999999999998E-2</c:v>
                </c:pt>
                <c:pt idx="2">
                  <c:v>0.113</c:v>
                </c:pt>
                <c:pt idx="3">
                  <c:v>0.11899999999999999</c:v>
                </c:pt>
                <c:pt idx="4">
                  <c:v>0.155</c:v>
                </c:pt>
                <c:pt idx="5">
                  <c:v>0.155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A88-40FB-8D55-342BF721F89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8"/>
          <c:min val="0"/>
        </c:scaling>
        <c:delete val="0"/>
        <c:axPos val="b"/>
        <c:majorGridlines>
          <c:spPr>
            <a:ln w="6350" cap="flat">
              <a:solidFill>
                <a:srgbClr val="E7DD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A6F68"/>
                </a:solidFill>
                <a:latin typeface="Arial"/>
              </a:defRPr>
            </a:pPr>
            <a:endParaRPr lang="es-E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Categorías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D1D-45FC-9F42-CB84D4A6B1A1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D1D-45FC-9F42-CB84D4A6B1A1}"/>
              </c:ext>
            </c:extLst>
          </c:dPt>
          <c:dPt>
            <c:idx val="2"/>
            <c:bubble3D val="0"/>
            <c:spPr>
              <a:solidFill>
                <a:schemeClr val="accent6">
                  <a:lumMod val="60000"/>
                  <a:lumOff val="4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D1D-45FC-9F42-CB84D4A6B1A1}"/>
              </c:ext>
            </c:extLst>
          </c:dPt>
          <c:dPt>
            <c:idx val="3"/>
            <c:bubble3D val="0"/>
            <c:spPr>
              <a:solidFill>
                <a:schemeClr val="accent6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D1D-45FC-9F42-CB84D4A6B1A1}"/>
              </c:ext>
            </c:extLst>
          </c:dPt>
          <c:dPt>
            <c:idx val="4"/>
            <c:bubble3D val="0"/>
            <c:spPr>
              <a:solidFill>
                <a:schemeClr val="accent6">
                  <a:lumMod val="5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4D1D-45FC-9F42-CB84D4A6B1A1}"/>
              </c:ext>
            </c:extLst>
          </c:dPt>
          <c:dLbls>
            <c:dLbl>
              <c:idx val="0"/>
              <c:layout>
                <c:manualLayout>
                  <c:x val="-0.16372929549060605"/>
                  <c:y val="0.12350978449122431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D1D-45FC-9F42-CB84D4A6B1A1}"/>
                </c:ext>
              </c:extLst>
            </c:dLbl>
            <c:dLbl>
              <c:idx val="1"/>
              <c:layout>
                <c:manualLayout>
                  <c:x val="-0.12574069131189111"/>
                  <c:y val="-0.21527085899976789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D1D-45FC-9F42-CB84D4A6B1A1}"/>
                </c:ext>
              </c:extLst>
            </c:dLbl>
            <c:dLbl>
              <c:idx val="2"/>
              <c:layout>
                <c:manualLayout>
                  <c:x val="0.20319557512938002"/>
                  <c:y val="-6.4516935383077109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D1D-45FC-9F42-CB84D4A6B1A1}"/>
                </c:ext>
              </c:extLst>
            </c:dLbl>
            <c:dLbl>
              <c:idx val="3"/>
              <c:layout>
                <c:manualLayout>
                  <c:x val="0.11863294630544063"/>
                  <c:y val="0.136576901101648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D1D-45FC-9F42-CB84D4A6B1A1}"/>
                </c:ext>
              </c:extLst>
            </c:dLbl>
            <c:dLbl>
              <c:idx val="4"/>
              <c:layout>
                <c:manualLayout>
                  <c:x val="5.6119971232409506E-2"/>
                  <c:y val="0.15093537414965985"/>
                </c:manualLayout>
              </c:layout>
              <c:numFmt formatCode="0.0%" sourceLinked="0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s-E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D1D-45FC-9F42-CB84D4A6B1A1}"/>
                </c:ext>
              </c:extLst>
            </c:dLbl>
            <c:numFmt formatCode="0.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E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Inflado</c:v>
                </c:pt>
                <c:pt idx="1">
                  <c:v>Normal</c:v>
                </c:pt>
                <c:pt idx="2">
                  <c:v>Chollo</c:v>
                </c:pt>
                <c:pt idx="3">
                  <c:v>Super-Chollo</c:v>
                </c:pt>
                <c:pt idx="4">
                  <c:v>Hiper-Chollo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26.4</c:v>
                </c:pt>
                <c:pt idx="1">
                  <c:v>32.1</c:v>
                </c:pt>
                <c:pt idx="2">
                  <c:v>24.7</c:v>
                </c:pt>
                <c:pt idx="3">
                  <c:v>9.1999999999999993</c:v>
                </c:pt>
                <c:pt idx="4">
                  <c:v>7.6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4D1D-45FC-9F42-CB84D4A6B1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ES"/>
        </a:p>
      </c:txPr>
    </c:legend>
    <c:plotVisOnly val="1"/>
    <c:dispBlanksAs val="span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s-E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5442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5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1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40.png"/><Relationship Id="rId4" Type="http://schemas.openxmlformats.org/officeDocument/2006/relationships/image" Target="../media/image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4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uqnnwjgaf3t5xesuorvizo.streamlit.app" TargetMode="External"/><Relationship Id="rId5" Type="http://schemas.openxmlformats.org/officeDocument/2006/relationships/image" Target="../media/image43.png"/><Relationship Id="rId4" Type="http://schemas.openxmlformats.org/officeDocument/2006/relationships/hyperlink" Target="https://github.com/Marjimleo3/Trabajo-Fin-de-Grad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77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GRADO · GRADO EN ESTADÍSTICA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64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Alojamientos Turísticos con Precio Real Inferior al Valor Predicho según Preferencias del Usuario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461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sistema de aprendizaje automático de extremo a extremo para identificar oportunidades reales de precio en el mercado turístico andaluz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Tutorizado por David Orellana Martín</a:t>
            </a:r>
            <a:endParaRPr lang="en-US" sz="17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Sevilla  ·  Curso 2025/2026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715000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60020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57150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65176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0" y="5715000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42316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370332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4760" y="5715000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47472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900" dirty="0"/>
          </a:p>
        </p:txBody>
      </p:sp>
      <p:sp>
        <p:nvSpPr>
          <p:cNvPr id="18" name="Shape 12"/>
          <p:cNvSpPr/>
          <p:nvPr/>
        </p:nvSpPr>
        <p:spPr>
          <a:xfrm>
            <a:off x="4754880" y="5623560"/>
            <a:ext cx="420624" cy="420624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46320" y="5715000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526280" y="608076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8363252" y="5623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github.com/Marjimleo3/Trabajo-Fin-de-Grado</a:t>
            </a:r>
            <a:endParaRPr lang="en-US" sz="10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 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uqnnwjgaf3t5xesuorvizo.streamlit.app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3624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 y objetivos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325880" y="17099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problema y alcance del trabajo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1945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213969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325880" y="24871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Recopilación, limpieza e ingeniería de características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4864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29169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325880" y="326440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modelos de regresión y su evaluación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25880" y="369417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325880" y="404164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determinista y distribución obtenida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52628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48640" y="4526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325880" y="44714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25880" y="481888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flujo de uso y despliegue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530352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48640" y="5303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325880" y="524865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trabajo futuro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1325880" y="559612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Aportaciones principales y líneas de continuación</a:t>
            </a:r>
            <a:endParaRPr lang="en-US" sz="1150" dirty="0"/>
          </a:p>
        </p:txBody>
      </p:sp>
      <p:pic>
        <p:nvPicPr>
          <p:cNvPr id="31" name="Picture 30" descr="info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Motivación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600200"/>
            <a:ext cx="6492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turismo es un pilar de la economía española y Andalucía destaca por su patrimonio y la diversidad de su oferta de alojamiento.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plataformas de reserva online (OTA) aplican precio dinámico: la tarifa fluctúa según la demanda, la estacionalidad y la antelación de la reserva.</a:t>
            </a:r>
            <a:endParaRPr lang="en-US" sz="145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complejidad dificulta saber si el precio mostrado en pantalla es realmente competitivo.</a:t>
            </a:r>
            <a:endParaRPr lang="en-US" sz="14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oportunidades de forma sistemática escapa a la búsqueda manual, pero es abordable con aprendizaje automático.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406640" y="1600200"/>
            <a:ext cx="4206240" cy="1371600"/>
          </a:xfrm>
          <a:prstGeom prst="roundRect">
            <a:avLst>
              <a:gd name="adj" fmla="val 533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7543800" y="1709928"/>
            <a:ext cx="393192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85M+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543800" y="2450592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turistas internacionales recibidos por España en 2023 (INE)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406640" y="3804248"/>
            <a:ext cx="4206240" cy="1828801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937505"/>
            <a:ext cx="457200" cy="35126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35240" y="4380206"/>
            <a:ext cx="3749040" cy="1334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b="1" i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«Chollo»: </a:t>
            </a:r>
            <a:r>
              <a:rPr lang="en-US" sz="135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un alojamiento cuyo precio se sitúa notablemente por debajo de lo esperado según sus características objetivas (ubicación, estrellas, valoraciones, servicios…).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777240" y="14173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general: </a:t>
            </a:r>
            <a:r>
              <a:rPr lang="en-US" sz="14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diseñar, implementar y evaluar un sistema integral capaz de detectar, en Andalucía, alojamientos turísticos con precio real inferior al valor predicho.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2606040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70662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34440" y="25786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Pipeline de extracción de datos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234440" y="286207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 andaluzas: precio, tipo, estrellas, valoración, servicios, coordenadas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90448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4005072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34440" y="387705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Preprocesamiento y limpieza robusta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234440" y="4160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Nulos, valores atípicos, extracción de servicios y variables derivadas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5202936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5303520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34440" y="517550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Entrenar y comparar 4 modelos de regresión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1234440" y="545896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del mejor mediante validación cruzada y conjunto de prueba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172200" y="2606040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2784" y="270662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858000" y="257860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Regla determinista de categorización</a:t>
            </a:r>
            <a:endParaRPr lang="en-US" sz="1450" dirty="0"/>
          </a:p>
        </p:txBody>
      </p:sp>
      <p:sp>
        <p:nvSpPr>
          <p:cNvPr id="25" name="Text 18"/>
          <p:cNvSpPr/>
          <p:nvPr/>
        </p:nvSpPr>
        <p:spPr>
          <a:xfrm>
            <a:off x="6858000" y="286207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del cociente entre precio real y precio predicho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172200" y="390448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72784" y="4005072"/>
            <a:ext cx="256032" cy="25603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858000" y="387705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Aplicación web interactiva end-to-end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6858000" y="4160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Preferencias del usuario → extracción → predicción → resultados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 · INTRODUCCIÓN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 y limitaciones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005443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184708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17556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822960" y="2423160"/>
            <a:ext cx="4892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provincias andaluzas: Almería, Cádiz, Córdoba, Granada, Huelva, Jaén, Málaga y Sevilla.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de 365 días de precios por alojamiento, para maximizar la cobertura del mercado.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objetivo es predecir el precio de un alojamiento en una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45352" y="1463040"/>
            <a:ext cx="5394960" cy="3447288"/>
          </a:xfrm>
          <a:prstGeom prst="roundRect">
            <a:avLst>
              <a:gd name="adj" fmla="val 16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51967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847088"/>
            <a:ext cx="283464" cy="28346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59752" y="175564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Limitaciones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6519672" y="2423160"/>
            <a:ext cx="48920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300" i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partición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fila,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alojamiento-fecha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 las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ligeramente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optimistas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0,026%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(674 de 2.603.076) con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días_restantes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-1,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prudencia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la plataforma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explícitamente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Booking.com.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sistema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17474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1347826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8410" y="2596896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90626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(Selenium + Playwright)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2390242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2614270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3144622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5206" y="2596896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687422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187038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4411066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4941418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42002" y="2596896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484218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983834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17"/>
          <p:cNvSpPr/>
          <p:nvPr/>
        </p:nvSpPr>
        <p:spPr>
          <a:xfrm>
            <a:off x="6207862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6738214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8798" y="2596896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281014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modelos + CV)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7780630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1"/>
          <p:cNvSpPr/>
          <p:nvPr/>
        </p:nvSpPr>
        <p:spPr>
          <a:xfrm>
            <a:off x="8004658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8535010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35594" y="2596896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077810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determinista</a:t>
            </a:r>
            <a:endParaRPr lang="en-US" sz="1150" dirty="0"/>
          </a:p>
        </p:txBody>
      </p:sp>
      <p:sp>
        <p:nvSpPr>
          <p:cNvPr id="32" name="Text 24"/>
          <p:cNvSpPr/>
          <p:nvPr/>
        </p:nvSpPr>
        <p:spPr>
          <a:xfrm>
            <a:off x="9577426" y="3154680"/>
            <a:ext cx="2240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25"/>
          <p:cNvSpPr/>
          <p:nvPr/>
        </p:nvSpPr>
        <p:spPr>
          <a:xfrm>
            <a:off x="9801454" y="2331720"/>
            <a:ext cx="1572768" cy="21031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26"/>
          <p:cNvSpPr/>
          <p:nvPr/>
        </p:nvSpPr>
        <p:spPr>
          <a:xfrm>
            <a:off x="10331806" y="2496312"/>
            <a:ext cx="512064" cy="512064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32390" y="2596896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874606" y="3108960"/>
            <a:ext cx="142646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(Streamlit)</a:t>
            </a:r>
            <a:endParaRPr lang="en-US" sz="1150" dirty="0"/>
          </a:p>
        </p:txBody>
      </p:sp>
      <p:sp>
        <p:nvSpPr>
          <p:cNvPr id="37" name="Text 28"/>
          <p:cNvSpPr/>
          <p:nvPr/>
        </p:nvSpPr>
        <p:spPr>
          <a:xfrm>
            <a:off x="1280160" y="47091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único sistema reproducible: los codificadores, el escalador y el modelo comparten exactamente el mismo espacio de características entre entrenamiento y producción.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Recopilación de datos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719072"/>
            <a:ext cx="475488" cy="475488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82880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44752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 — Selenium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822960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Listado general de resultados por provincia: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22960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Localización, título y URL de la ficha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Valoración media y número de valoraciones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alojamiento y categoría por estrellas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245352" y="1463040"/>
            <a:ext cx="5394960" cy="3200400"/>
          </a:xfrm>
          <a:prstGeom prst="roundRect">
            <a:avLst>
              <a:gd name="adj" fmla="val 2286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519672" y="1719072"/>
            <a:ext cx="475488" cy="47548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1828800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41464" y="1737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 — Playwright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19672" y="2331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a la API interna (GraphQL) de la plataforma: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519672" y="2651760"/>
            <a:ext cx="4892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 y coordenadas GPS del alojamiento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disponibles y tamaño de la habitación</a:t>
            </a:r>
            <a:endParaRPr lang="en-US" sz="12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precios diarios (horizonte de 365 días)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84632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6"/>
          <p:cNvSpPr/>
          <p:nvPr/>
        </p:nvSpPr>
        <p:spPr>
          <a:xfrm>
            <a:off x="804672" y="5138928"/>
            <a:ext cx="502920" cy="50292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526694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08760" y="4956048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Geocodificación de los centros urbanos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obtenidas mediante la API de Nominatim (OpenStreetMap); la distancia de cada alojamiento se calcula con la fórmula del haversine, vectorizada sobre todo el conjunto de datos.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 de valores nulos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16736" y="1508070"/>
            <a:ext cx="6591600" cy="1954274"/>
          </a:xfrm>
          <a:prstGeom prst="roundRect">
            <a:avLst>
              <a:gd name="adj" fmla="val 170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572769" y="173667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Eliminación de registros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1572768" y="2148150"/>
            <a:ext cx="6079207" cy="112588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GPS ausentes: 2,2% de los registros eliminados (imprescindibles para calcular la distancia al centro urbano).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localidad codificada como '9': error de geocodificación detectado manualmente.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752491" y="3674364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por variable (Tabla 6.1)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0266171"/>
              </p:ext>
            </p:extLst>
          </p:nvPr>
        </p:nvGraphicFramePr>
        <p:xfrm>
          <a:off x="3752491" y="4040123"/>
          <a:ext cx="6592236" cy="1954274"/>
        </p:xfrm>
        <a:graphic>
          <a:graphicData uri="http://schemas.openxmlformats.org/drawingml/2006/table">
            <a:tbl>
              <a:tblPr/>
              <a:tblGrid>
                <a:gridCol w="23781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71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918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imputado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codigo_postal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usa en el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'Otro'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 residual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 (no hotel)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n_valoraciones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Alojamiento nuevo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valoracion_clientes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outliers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918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tamaño_habitacion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Robusta ante extremos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421314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valores atípicos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143" y="608625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271016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de Tukey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(precio) y </a:t>
            </a: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umbrales fijos de dominio 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(tamaño y distancia), aplicados solo donde un valor extremo indica un error de captura o un segmento ajeno al estudio.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615224"/>
              </p:ext>
            </p:extLst>
          </p:nvPr>
        </p:nvGraphicFramePr>
        <p:xfrm>
          <a:off x="687228" y="2473154"/>
          <a:ext cx="4040613" cy="1539240"/>
        </p:xfrm>
        <a:graphic>
          <a:graphicData uri="http://schemas.openxmlformats.org/drawingml/2006/table">
            <a:tbl>
              <a:tblPr/>
              <a:tblGrid>
                <a:gridCol w="20557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42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06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 eliminados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del 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468,5€ (Tukey)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245.170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&gt; 150 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191.738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&gt; 15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eliminado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520.448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87228" y="4341165"/>
            <a:ext cx="4040612" cy="704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«Otro» (fincas, casas rurales) concentraba tamaños hasta 10.000 m². El umbral de 150 m² conserva hoteles, apartamentos y estudios con un coste de solo el 7% de registros.</a:t>
            </a:r>
            <a:endParaRPr lang="en-US" sz="1200" dirty="0"/>
          </a:p>
        </p:txBody>
      </p:sp>
      <p:pic>
        <p:nvPicPr>
          <p:cNvPr id="11" name="Image 1" descr="C:/Users/usuario/OneDrive/UNI_Mario5/TFG/TFG_Chollos/images/boxplot_prec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9559" y="1799959"/>
            <a:ext cx="2743200" cy="18680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569558" y="3600914"/>
            <a:ext cx="29572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por noche (umbral de Tukey: 468,5€)</a:t>
            </a:r>
            <a:endParaRPr lang="en-US" sz="1000" dirty="0"/>
          </a:p>
        </p:txBody>
      </p:sp>
      <p:pic>
        <p:nvPicPr>
          <p:cNvPr id="13" name="Image 2" descr="C:/Users/usuario/OneDrive/UNI_Mario5/TFG/TFG_Chollos/images/boxplot_tamaño_habit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5639" y="1799959"/>
            <a:ext cx="2743200" cy="201199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709661" y="368621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 de habitación por tipo (umbral: 150m²)</a:t>
            </a:r>
            <a:endParaRPr lang="en-US" sz="1000" dirty="0"/>
          </a:p>
        </p:txBody>
      </p:sp>
      <p:pic>
        <p:nvPicPr>
          <p:cNvPr id="15" name="Image 3" descr="C:/Users/usuario/OneDrive/UNI_Mario5/TFG/TFG_Chollos/images/boxplot_distancia_centro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9594" y="4173345"/>
            <a:ext cx="2743200" cy="182761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930795" y="5952114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antes (error de geocodificación en Guadalcanal)</a:t>
            </a:r>
            <a:endParaRPr lang="en-US" sz="950" dirty="0"/>
          </a:p>
        </p:txBody>
      </p:sp>
      <p:pic>
        <p:nvPicPr>
          <p:cNvPr id="17" name="Image 4" descr="C:/Users/usuario/OneDrive/UNI_Mario5/TFG/TFG_Chollos/images/boxplot_distancia_centro_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9880" y="4173345"/>
            <a:ext cx="2743200" cy="1827617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961687" y="5985172"/>
            <a:ext cx="2506058" cy="518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al centro — después (umbral definitivo: 15km)</a:t>
            </a:r>
            <a:endParaRPr lang="en-US" sz="950" dirty="0"/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C256E2FD-D61C-572F-AA4B-BA8AE6304A10}"/>
              </a:ext>
            </a:extLst>
          </p:cNvPr>
          <p:cNvSpPr txBox="1"/>
          <p:nvPr/>
        </p:nvSpPr>
        <p:spPr>
          <a:xfrm>
            <a:off x="8227466" y="4856320"/>
            <a:ext cx="4377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Ingeniería de características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servicios binarios extraídos por búsqueda de subcadenas en los campos de texto (API)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48640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368296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2368296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gratis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187952" y="1874520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4187952" y="187452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Gimnasio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48640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368296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2368296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187952" y="2441448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4187952" y="244144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interior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548640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Piscina infinita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2368296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2368296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Aire acondic.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187952" y="3008376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4187952" y="300837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Calefacción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548640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2368296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2368296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Terraza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187952" y="3575304"/>
            <a:ext cx="1691640" cy="457200"/>
          </a:xfrm>
          <a:prstGeom prst="roundRect">
            <a:avLst>
              <a:gd name="adj" fmla="val 50000"/>
            </a:avLst>
          </a:prstGeom>
          <a:solidFill>
            <a:srgbClr val="F6EEE8"/>
          </a:solidFill>
          <a:ln w="12700">
            <a:solidFill>
              <a:srgbClr val="E7DDD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4187952" y="357530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Baño privado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708660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temporales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7086600" y="182880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es_finde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viernes o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sábado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es_domingo</a:t>
            </a:r>
            <a:r>
              <a:rPr lang="en-US" sz="1200" b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diferenciado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dias_restantes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antelación de la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20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endParaRPr lang="en-US" sz="1200" dirty="0">
              <a:solidFill>
                <a:srgbClr val="7A6F6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28600" indent="-22860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dia_disponible</a:t>
            </a: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día del mes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1383" y="4368849"/>
            <a:ext cx="11091672" cy="1412144"/>
          </a:xfrm>
          <a:prstGeom prst="roundRect">
            <a:avLst>
              <a:gd name="adj" fmla="val 410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807415" y="4551729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 de variables categóricas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807415" y="4963209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tipo_Hotel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(one-hot binario, 1 si es hotel)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 err="1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localidad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</a:t>
            </a: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(ordinal, para no disparar la dimensionalidad).</a:t>
            </a:r>
            <a:r>
              <a:rPr lang="en-US" sz="12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Viable porque el modelo ganador es un ensemble de árboles: puede aislar cualquier localidad mediante particiones binarias sucesivas, sin depender de un orden real.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final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chemeClr val="bg1">
              <a:lumMod val="85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9" name="Text 6"/>
          <p:cNvSpPr/>
          <p:nvPr/>
        </p:nvSpPr>
        <p:spPr>
          <a:xfrm>
            <a:off x="777240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crudo — Málaga (1 provincia)</a:t>
            </a:r>
            <a:endParaRPr lang="en-US" sz="12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64008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8.871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8580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313432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359152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986784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279,7 MB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4032504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751576" y="19659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6437376" y="1463040"/>
            <a:ext cx="5202936" cy="1463040"/>
          </a:xfrm>
          <a:prstGeom prst="roundRect">
            <a:avLst>
              <a:gd name="adj" fmla="val 50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6665976" y="1591056"/>
            <a:ext cx="4745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 final — 8 provincias</a:t>
            </a:r>
            <a:endParaRPr lang="en-US" sz="12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6528816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2,60M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574536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8202168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247888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9875520" y="1965960"/>
            <a:ext cx="1673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11,2 MB</a:t>
            </a:r>
            <a:endParaRPr lang="en-US" sz="1900" dirty="0"/>
          </a:p>
        </p:txBody>
      </p:sp>
      <p:sp>
        <p:nvSpPr>
          <p:cNvPr id="24" name="Text 21"/>
          <p:cNvSpPr/>
          <p:nvPr/>
        </p:nvSpPr>
        <p:spPr>
          <a:xfrm>
            <a:off x="9921240" y="2441448"/>
            <a:ext cx="1581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disco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084168" y="3063240"/>
            <a:ext cx="4023360" cy="438912"/>
          </a:xfrm>
          <a:prstGeom prst="roundRect">
            <a:avLst>
              <a:gd name="adj" fmla="val 50000"/>
            </a:avLst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4084168" y="306324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41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25× menos peso  ·  312× más filas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1442765"/>
              </p:ext>
            </p:extLst>
          </p:nvPr>
        </p:nvGraphicFramePr>
        <p:xfrm>
          <a:off x="548640" y="4142232"/>
          <a:ext cx="6858000" cy="1600200"/>
        </p:xfrm>
        <a:graphic>
          <a:graphicData uri="http://schemas.openxmlformats.org/drawingml/2006/table">
            <a:tbl>
              <a:tblPr/>
              <a:tblGrid>
                <a:gridCol w="2523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89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66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9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(€/noche)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Valoración (0-10)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Estrellas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Tamaño habitación (m²)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centro (km)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7680960" y="4142232"/>
            <a:ext cx="3959352" cy="1737360"/>
          </a:xfrm>
          <a:prstGeom prst="roundRect">
            <a:avLst>
              <a:gd name="adj" fmla="val 3137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29" name="Text 25"/>
          <p:cNvSpPr/>
          <p:nvPr/>
        </p:nvSpPr>
        <p:spPr>
          <a:xfrm>
            <a:off x="7936992" y="4279392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por provincia</a:t>
            </a:r>
            <a:endParaRPr lang="en-US" sz="1250" dirty="0"/>
          </a:p>
        </p:txBody>
      </p:sp>
      <p:sp>
        <p:nvSpPr>
          <p:cNvPr id="30" name="Text 26"/>
          <p:cNvSpPr/>
          <p:nvPr/>
        </p:nvSpPr>
        <p:spPr>
          <a:xfrm>
            <a:off x="7936992" y="4627036"/>
            <a:ext cx="3474720" cy="111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Málaga  37,7%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Cádiz  15,8%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Sevilla  13,5%</a:t>
            </a:r>
            <a:endParaRPr lang="en-US" sz="115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Granada  12,9%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Córdoba, Almería, Jaén, Huelva  19,9%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METODOLOGÍA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 correlaciones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pic>
        <p:nvPicPr>
          <p:cNvPr id="8" name="Image 1" descr="C:/Users/usuario/OneDrive/UNI_Mario5/TFG/TFG_Chollos/images/correlacion_lin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1136719"/>
            <a:ext cx="7496355" cy="53496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987396" y="1627632"/>
            <a:ext cx="4655659" cy="1676975"/>
          </a:xfrm>
          <a:prstGeom prst="roundRect">
            <a:avLst>
              <a:gd name="adj" fmla="val 372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6"/>
          <p:cNvSpPr/>
          <p:nvPr/>
        </p:nvSpPr>
        <p:spPr>
          <a:xfrm>
            <a:off x="7150736" y="1792224"/>
            <a:ext cx="426371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variable presenta correlación lineal fuerte con el precio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150736" y="2359152"/>
            <a:ext cx="4263719" cy="768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tamaño_habitacion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distancia_centro_km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150" b="1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estrellas · Piscina 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</a:t>
            </a:r>
            <a:r>
              <a:rPr lang="en-US" sz="11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>
                <a:solidFill>
                  <a:srgbClr val="3B6E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987395" y="3880852"/>
            <a:ext cx="4655659" cy="1386092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3" name="Text 9"/>
          <p:cNvSpPr/>
          <p:nvPr/>
        </p:nvSpPr>
        <p:spPr>
          <a:xfrm>
            <a:off x="7150735" y="4063732"/>
            <a:ext cx="4263719" cy="101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relaciones son fundamentalmente no lineales.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Esto explica la gran diferencia entre la regresión lineal (R² = 0,14) y el bosque aleatorio (R² = 0,87), capaz de capturarlas.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de regresión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777240" y="1737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86537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Regresión Lineal Múltiple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822960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paramétrico base (OLS); asume una relación lineal entre variables y precio.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245352" y="15087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473952" y="1737360"/>
            <a:ext cx="502920" cy="50292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186537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114032" y="16916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Árbol de Decisión (CART)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519672" y="23774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Particiona el espacio de características de forma recursiva en regiones homogéneas.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2A4F5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" y="3922776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417320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Bosque Aleatorio (Random Forest)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822960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de árboles vía bagging y selección aleatoria de variables.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245352" y="3566160"/>
            <a:ext cx="53949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6473952" y="3794760"/>
            <a:ext cx="502920" cy="502920"/>
          </a:xfrm>
          <a:prstGeom prst="ellipse">
            <a:avLst/>
          </a:prstGeom>
          <a:solidFill>
            <a:srgbClr val="8C4029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3922776"/>
            <a:ext cx="256032" cy="2560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114032" y="3749040"/>
            <a:ext cx="4343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(Gradient Boosting)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6519672" y="4434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aditiva e iterativa: cada árbol corrige los errores del anterior.</a:t>
            </a:r>
            <a:endParaRPr lang="en-US" sz="1150" dirty="0"/>
          </a:p>
        </p:txBody>
      </p:sp>
      <p:sp>
        <p:nvSpPr>
          <p:cNvPr id="28" name="Text 21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en rejilla con validación cruzada de 3 pliegues (GridSearchCV, scoring = neg_mean_squared_error)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7A6F68"/>
                </a:solidFill>
                <a:latin typeface="Calibri"/>
              </a:rPr>
              <a:t>Detección de Alojamientos Turísticos con Precio Real Inferior — TFG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7A6F68"/>
                </a:solidFill>
                <a:latin typeface="Calibri"/>
              </a:rPr>
              <a:t>14 / 24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200">
                <a:solidFill>
                  <a:srgbClr val="7A6F68"/>
                </a:solidFill>
                <a:latin typeface="Calibri"/>
              </a:rPr>
              <a:t>MODELIZACIÓN Y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2B2320"/>
                </a:solidFill>
                <a:latin typeface="Cambria"/>
              </a:rPr>
              <a:t>Árbol de decisión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" y="1019072"/>
            <a:ext cx="9815886" cy="49250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80160" y="5944124"/>
            <a:ext cx="9601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50" b="0" i="1">
                <a:solidFill>
                  <a:srgbClr val="7A6F68"/>
                </a:solidFill>
                <a:latin typeface="Calibri"/>
              </a:rPr>
              <a:t>Uno de los cuatro modelos candidatos (Sección 4.3): el árbol de decisión particiona el espacio de características de forma recursiva. La raíz es tamaño_habitacion (≤ 75,5m²); el segundo nivel es provincia.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de los modelos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502264"/>
              </p:ext>
            </p:extLst>
          </p:nvPr>
        </p:nvGraphicFramePr>
        <p:xfrm>
          <a:off x="548640" y="1554480"/>
          <a:ext cx="6949439" cy="2468880"/>
        </p:xfrm>
        <a:graphic>
          <a:graphicData uri="http://schemas.openxmlformats.org/drawingml/2006/table">
            <a:tbl>
              <a:tblPr/>
              <a:tblGrid>
                <a:gridCol w="29511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27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Regresión lineal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0,1438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63,33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 de decisión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Bosque aleatorio 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8C40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37947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sobre el conjunto de validación (Tabla 7.3)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48640" y="4251960"/>
            <a:ext cx="6949440" cy="10515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04672" y="4434840"/>
            <a:ext cx="64258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Sobre el conjunto de </a:t>
            </a:r>
            <a:r>
              <a:rPr lang="en-US" sz="130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D99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0,8676   MAE = 19,43€   RMSE = 33,05€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754111" y="15544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7891271" y="16642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0,87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7891271" y="24332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— proporción de varianza del precio explicada</a:t>
            </a:r>
            <a:endParaRPr lang="en-US" sz="1050" dirty="0"/>
          </a:p>
        </p:txBody>
      </p:sp>
      <p:sp>
        <p:nvSpPr>
          <p:cNvPr id="8" name="Shape 11"/>
          <p:cNvSpPr/>
          <p:nvPr/>
        </p:nvSpPr>
        <p:spPr>
          <a:xfrm>
            <a:off x="7754111" y="3154680"/>
            <a:ext cx="3749040" cy="1417320"/>
          </a:xfrm>
          <a:prstGeom prst="roundRect">
            <a:avLst>
              <a:gd name="adj" fmla="val 5161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7891271" y="3264408"/>
            <a:ext cx="3474720" cy="77952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B85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19,4€</a:t>
            </a:r>
            <a:endParaRPr lang="en-US" sz="3000" dirty="0"/>
          </a:p>
        </p:txBody>
      </p:sp>
      <p:sp>
        <p:nvSpPr>
          <p:cNvPr id="17" name="Text 13"/>
          <p:cNvSpPr/>
          <p:nvPr/>
        </p:nvSpPr>
        <p:spPr>
          <a:xfrm>
            <a:off x="7891271" y="4033418"/>
            <a:ext cx="3474720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absoluto medio (MAE) por noche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7754111" y="47091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gana con amplia diferencia, sin indicios de sobreajuste entre validación y prueba (diferencia &lt; 0,001 en R²).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MODELIZACIÓN Y RESULTADOS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Interpretabilidad del bosque aleatorio</a:t>
            </a:r>
            <a:endParaRPr lang="en-US" sz="2800" dirty="0"/>
          </a:p>
        </p:txBody>
      </p:sp>
      <p:sp>
        <p:nvSpPr>
          <p:cNvPr id="10" name="Text 6"/>
          <p:cNvSpPr/>
          <p:nvPr/>
        </p:nvSpPr>
        <p:spPr>
          <a:xfrm>
            <a:off x="548640" y="1508760"/>
            <a:ext cx="1109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Importancia de variables (bosque aleatorio)</a:t>
            </a:r>
            <a:endParaRPr lang="en-US" sz="1300" dirty="0"/>
          </a:p>
        </p:txBody>
      </p:sp>
      <p:graphicFrame>
        <p:nvGraphicFramePr>
          <p:cNvPr id="11" name="Chart 0"/>
          <p:cNvGraphicFramePr/>
          <p:nvPr/>
        </p:nvGraphicFramePr>
        <p:xfrm>
          <a:off x="548640" y="1874519"/>
          <a:ext cx="1109472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Regla determinista de categorización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1732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04672" y="141732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C40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precio real / precio predicho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r &lt; 1 → potencial chollo          r &gt; 1 →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alojamiento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30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r>
              <a:rPr lang="en-US" sz="130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inflado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123150"/>
              </p:ext>
            </p:extLst>
          </p:nvPr>
        </p:nvGraphicFramePr>
        <p:xfrm>
          <a:off x="548640" y="2423159"/>
          <a:ext cx="11091672" cy="2240283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4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Etiqueta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≤ 0,75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≥25% por debajo del precio justo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0,75 &lt; r &lt; 0,85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15% y 25% por debajo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0,85 ≤ r &lt; 0,97</a:t>
                      </a:r>
                      <a:endParaRPr lang="en-US" sz="125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 3% y 15% por debajo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 ≤ r ≤ 1,03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dentro del ±3%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677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25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&gt; 1,03</a:t>
                      </a:r>
                      <a:endParaRPr lang="en-US" sz="125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Precio &gt; 3% por encima del justo</a:t>
                      </a:r>
                      <a:endParaRPr lang="en-US" sz="1100" dirty="0">
                        <a:solidFill>
                          <a:schemeClr val="tx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5068365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C40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una regla determinista y no un clasificador ML?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categoría de chollo no es una propiedad observable del alojamiento, sino una relación entre precio real y predicho: entrenar un clasificador añadiría una capa de aprendizaje redundante sobre información ya contenida en el ratio r, y restaría interpretabilidad y reproducibilidad al sistema.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DE CHOLLOS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en el conjunto de prueba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graphicFrame>
        <p:nvGraphicFramePr>
          <p:cNvPr id="8" name="Chart 0"/>
          <p:cNvGraphicFramePr/>
          <p:nvPr>
            <p:extLst>
              <p:ext uri="{D42A27DB-BD31-4B8C-83A1-F6EECF244321}">
                <p14:modId xmlns:p14="http://schemas.microsoft.com/office/powerpoint/2010/main" val="3073266338"/>
              </p:ext>
            </p:extLst>
          </p:nvPr>
        </p:nvGraphicFramePr>
        <p:xfrm>
          <a:off x="548640" y="1554480"/>
          <a:ext cx="53949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6492240" y="155448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6"/>
          <p:cNvSpPr/>
          <p:nvPr/>
        </p:nvSpPr>
        <p:spPr>
          <a:xfrm>
            <a:off x="6629400" y="1664208"/>
            <a:ext cx="4846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B6E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41,5%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6629400" y="2574950"/>
            <a:ext cx="4983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alojamientos del conjunto de </a:t>
            </a:r>
            <a:r>
              <a:rPr lang="en-US" sz="105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constituyen</a:t>
            </a:r>
            <a:r>
              <a:rPr lang="en-US" sz="10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 chollo (Chollo + Super + Hiper)</a:t>
            </a:r>
            <a:endParaRPr lang="en-US" sz="10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3429000"/>
          <a:ext cx="5120640" cy="1600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Super-chollo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35.923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Chollo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125.338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103.082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787804" y="18470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390.462 registros del conjunto de </a:t>
            </a:r>
            <a:r>
              <a:rPr lang="en-US" sz="1050" i="1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r>
              <a:rPr lang="en-US" sz="105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50" i="1" dirty="0" err="1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 la aplicación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822960" y="1810512"/>
            <a:ext cx="530352" cy="530352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1938528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principal (Home)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822960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coroplético interactivo de Andalucía (Plotly): número de alojamientos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puntos con la ubicación GPS de cada alojamiento único del histórico.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variables (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tamaño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habitación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estrellas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45352" y="155448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6519672" y="1810512"/>
            <a:ext cx="530352" cy="530352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1938528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05472" y="18288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Página de búsqueda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6519672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preferencias: destino, fechas, tipo de alojamiento, hasta 16 filtros de servicios.</a:t>
            </a:r>
            <a:endParaRPr lang="en-US" sz="1250" dirty="0"/>
          </a:p>
          <a:p>
            <a:pPr marL="342900" indent="-342900">
              <a:lnSpc>
                <a:spcPct val="118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deslizante de 3 niveles de exigencia para la categorización de chollo.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en tabla interactiva, ordenados por grado de ahorro, con gráfico de tarta.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 de trabajo de la búsqueda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813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54864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554480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00200" y="14447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preferencias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035040" y="14630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Destino, fechas, tipo, servicios y nivel de exigencia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225856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548640" y="2258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331720"/>
            <a:ext cx="310896" cy="31089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600200" y="22219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Extracción en tiempo real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6035040" y="22402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25 alojamientos por localidad seleccionada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548640" y="303580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4"/>
          <p:cNvSpPr/>
          <p:nvPr/>
        </p:nvSpPr>
        <p:spPr>
          <a:xfrm>
            <a:off x="54864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108960"/>
            <a:ext cx="310896" cy="31089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600200" y="2999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Preprocesamiento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035040" y="30175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secuencia de transformaciones que en el entrenamiento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48640" y="381304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548640" y="3813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3886200"/>
            <a:ext cx="310896" cy="31089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600200" y="37764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Codificación</a:t>
            </a:r>
            <a:endParaRPr lang="en-US" sz="1350" dirty="0"/>
          </a:p>
        </p:txBody>
      </p:sp>
      <p:sp>
        <p:nvSpPr>
          <p:cNvPr id="27" name="Text 20"/>
          <p:cNvSpPr/>
          <p:nvPr/>
        </p:nvSpPr>
        <p:spPr>
          <a:xfrm>
            <a:off x="6035040" y="37947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 serializados con joblib (mismo espacio de características)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4590288"/>
            <a:ext cx="457200" cy="45720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2"/>
          <p:cNvSpPr/>
          <p:nvPr/>
        </p:nvSpPr>
        <p:spPr>
          <a:xfrm>
            <a:off x="548640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4663440"/>
            <a:ext cx="310896" cy="310896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600200" y="45537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y categorización</a:t>
            </a:r>
            <a:endParaRPr lang="en-US" sz="1350" dirty="0"/>
          </a:p>
        </p:txBody>
      </p:sp>
      <p:sp>
        <p:nvSpPr>
          <p:cNvPr id="32" name="Text 24"/>
          <p:cNvSpPr/>
          <p:nvPr/>
        </p:nvSpPr>
        <p:spPr>
          <a:xfrm>
            <a:off x="6035040" y="45720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podado + ratio r + umbrales del nivel elegido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548640" y="5367528"/>
            <a:ext cx="457200" cy="45720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548640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3000" y="5440680"/>
            <a:ext cx="310896" cy="31089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600200" y="53309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resultados</a:t>
            </a:r>
            <a:endParaRPr lang="en-US" sz="1350" dirty="0"/>
          </a:p>
        </p:txBody>
      </p:sp>
      <p:sp>
        <p:nvSpPr>
          <p:cNvPr id="37" name="Text 28"/>
          <p:cNvSpPr/>
          <p:nvPr/>
        </p:nvSpPr>
        <p:spPr>
          <a:xfrm>
            <a:off x="6035040" y="53492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ordenada por ahorro y gráfico de categorías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Optimización de memoria para el despliegue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>
              <a:lumMod val="90000"/>
            </a:schemeClr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804672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</a:t>
            </a:r>
            <a:endParaRPr lang="en-US" sz="1550" dirty="0">
              <a:solidFill>
                <a:srgbClr val="C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804672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(100 árboles)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~1,4GB </a:t>
            </a:r>
            <a:r>
              <a:rPr lang="en-US" sz="1250" b="1" dirty="0" err="1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deserializarlo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encima del límite gratuito de Streamlit Community Cloud (~1GB), lo que provocaba el cierre de la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También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ocupaba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~1,3GB </a:t>
            </a:r>
            <a:r>
              <a:rPr lang="en-US" sz="1250" b="1" dirty="0" err="1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encima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subida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gratuito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(100MB),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lo que era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necesaria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otra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vía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cargar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la Web.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245352" y="14630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6501384" y="16276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 err="1">
                <a:solidFill>
                  <a:schemeClr val="accent6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Solución</a:t>
            </a:r>
            <a:endParaRPr lang="en-US" sz="155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6501384" y="2011680"/>
            <a:ext cx="4892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predicción del bosque es el promedio de sus árboles: se pueden descartar árboles ya entrenados </a:t>
            </a:r>
            <a:r>
              <a:rPr lang="en-US" sz="125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sin reentrenar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 conservan 20 de los 100 árboles: 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~373MB </a:t>
            </a:r>
            <a:r>
              <a:rPr lang="en-US" sz="1250" b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RAM</a:t>
            </a:r>
            <a:r>
              <a:rPr lang="en-US" sz="125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(&lt;1GB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Cloud)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250" b="1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~59MB </a:t>
            </a:r>
            <a:r>
              <a:rPr lang="en-US" sz="1250" b="1" dirty="0" err="1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comprimido</a:t>
            </a:r>
            <a:r>
              <a:rPr lang="en-US" sz="125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disco (&lt; 100MB del </a:t>
            </a:r>
            <a:r>
              <a:rPr lang="en-US" sz="1250" dirty="0" err="1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</a:t>
            </a:r>
            <a:r>
              <a:rPr lang="en-US" sz="1250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GitHub).</a:t>
            </a:r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5385388"/>
              </p:ext>
            </p:extLst>
          </p:nvPr>
        </p:nvGraphicFramePr>
        <p:xfrm>
          <a:off x="1705011" y="4535424"/>
          <a:ext cx="8477178" cy="977229"/>
        </p:xfrm>
        <a:graphic>
          <a:graphicData uri="http://schemas.openxmlformats.org/drawingml/2006/table">
            <a:tbl>
              <a:tblPr/>
              <a:tblGrid>
                <a:gridCol w="25717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3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9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44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378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Árboles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(€)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A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1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B23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7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Podado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0,8634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19,79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33,57</a:t>
                      </a:r>
                      <a:endParaRPr lang="en-US" sz="125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7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1705011" y="5631406"/>
            <a:ext cx="8477178" cy="376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 mínima de rendimiento; el modelo podado sigue superando ampliamente al 2º mejor modelo (árbol de decisión, R² = 0,59).</a:t>
            </a:r>
            <a:endParaRPr lang="en-US" sz="1200" dirty="0"/>
          </a:p>
        </p:txBody>
      </p:sp>
      <p:sp>
        <p:nvSpPr>
          <p:cNvPr id="22" name="Rounded Rectangle 21"/>
          <p:cNvSpPr/>
          <p:nvPr/>
        </p:nvSpPr>
        <p:spPr>
          <a:xfrm>
            <a:off x="6245352" y="3734946"/>
            <a:ext cx="5394960" cy="437359"/>
          </a:xfrm>
          <a:prstGeom prst="roundRect">
            <a:avLst>
              <a:gd name="adj" fmla="val 12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 dirty="0">
                <a:solidFill>
                  <a:srgbClr val="241A16"/>
                </a:solidFill>
                <a:latin typeface="Calibri"/>
              </a:rPr>
              <a:t>373MB </a:t>
            </a:r>
            <a:r>
              <a:rPr sz="1250" b="1" dirty="0" err="1">
                <a:solidFill>
                  <a:srgbClr val="241A16"/>
                </a:solidFill>
                <a:latin typeface="Calibri"/>
              </a:rPr>
              <a:t>en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RAM 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es 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1/4 del original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 y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59MB </a:t>
            </a:r>
            <a:r>
              <a:rPr sz="1250" b="1" dirty="0" err="1">
                <a:solidFill>
                  <a:srgbClr val="241A16"/>
                </a:solidFill>
                <a:latin typeface="Calibri"/>
              </a:rPr>
              <a:t>en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 disco </a:t>
            </a:r>
            <a:r>
              <a:rPr lang="es-ES" sz="1250" b="1" dirty="0">
                <a:solidFill>
                  <a:srgbClr val="241A16"/>
                </a:solidFill>
                <a:latin typeface="Calibri"/>
              </a:rPr>
              <a:t>es </a:t>
            </a:r>
            <a:r>
              <a:rPr sz="1250" b="1" dirty="0">
                <a:solidFill>
                  <a:srgbClr val="241A16"/>
                </a:solidFill>
                <a:latin typeface="Calibri"/>
              </a:rPr>
              <a:t>~1/22 del original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54480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777240" y="1792224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192938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16642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precio de un alojamiento no es aleatorio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508760" y="204825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bosque aleatorio explica el 86,8% de la varianza del precio (R² = 0,8676) con un MAE de 19,43€/noche.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2724912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0"/>
          <p:cNvSpPr/>
          <p:nvPr/>
        </p:nvSpPr>
        <p:spPr>
          <a:xfrm>
            <a:off x="777240" y="2962656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099816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508760" y="283464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 cada 10 alojamientos son un chollo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1508760" y="321868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41,5% del conjunto de prueba se clasifica en alguna categoría de chollo (r &lt; 0,97).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548640" y="3895344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4"/>
          <p:cNvSpPr/>
          <p:nvPr/>
        </p:nvSpPr>
        <p:spPr>
          <a:xfrm>
            <a:off x="777240" y="4133088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4270248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508760" y="4005072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del dato es más determinante que el algoritmo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1508760" y="43891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Recopilación en dos fases, geocodificación y gestión rigurosa de outliers, sin indicios claros de sobreajuste.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548640" y="5065776"/>
            <a:ext cx="11091672" cy="1024128"/>
          </a:xfrm>
          <a:prstGeom prst="roundRect">
            <a:avLst>
              <a:gd name="adj" fmla="val 7143"/>
            </a:avLst>
          </a:prstGeom>
          <a:solidFill>
            <a:srgbClr val="F6EEE8"/>
          </a:solidFill>
          <a:ln/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18"/>
          <p:cNvSpPr/>
          <p:nvPr/>
        </p:nvSpPr>
        <p:spPr>
          <a:xfrm>
            <a:off x="777240" y="5303520"/>
            <a:ext cx="548640" cy="548640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54406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508760" y="517550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end-to-end es el verdadero reto de ingeniería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1508760" y="5559552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Encoders, escalador y modelo comparten exactamente el mismo espacio de características gracias a un diseño modular.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Alojamientos Turísticos con Precio Real Inferior — TFG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B8563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16736" y="42062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16736" y="640080"/>
            <a:ext cx="9966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2B23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Trabajo futuro</a:t>
            </a:r>
            <a:endParaRPr lang="en-US" sz="28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356" y="564916"/>
            <a:ext cx="351495" cy="35149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1619402"/>
            <a:ext cx="281635" cy="2816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4813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a otras plataformas y territorios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1280160" y="17647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Extender la cobertura a otras comunidades autónomas u otras OTA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4231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2533802"/>
            <a:ext cx="281635" cy="2816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23957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periódica del modelo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280160" y="26791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Reentrenamiento automatizado ante la dinámica de precios de las OTA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33375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" y="3448202"/>
            <a:ext cx="281635" cy="28163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33101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Incorporación de variables de texto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1280160" y="35935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de reseñas y descripciones mediante modelos de lenguaje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42519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" y="4362602"/>
            <a:ext cx="281635" cy="28163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42245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automáticas de hiper-chollo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1280160" y="45079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Notificación proactiva sin que el usuario inicie la búsqueda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48640" y="5166360"/>
            <a:ext cx="502920" cy="502920"/>
          </a:xfrm>
          <a:prstGeom prst="ellipse">
            <a:avLst/>
          </a:prstGeom>
          <a:solidFill>
            <a:srgbClr val="3B6E77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282" y="5277002"/>
            <a:ext cx="281635" cy="28163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0160" y="5138928"/>
            <a:ext cx="10360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B23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Aprendizaje no supervisado complementario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1280160" y="5422392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6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o Local Outlier Factor para categorías con pocos datos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comentarios son bienvenidos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59359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del proyecto</a:t>
            </a:r>
            <a:endParaRPr lang="en-US" sz="1300" dirty="0"/>
          </a:p>
        </p:txBody>
      </p:sp>
      <p:sp>
        <p:nvSpPr>
          <p:cNvPr id="8" name="Text 5">
            <a:hlinkClick r:id="rId4"/>
          </p:cNvPr>
          <p:cNvSpPr/>
          <p:nvPr/>
        </p:nvSpPr>
        <p:spPr>
          <a:xfrm>
            <a:off x="1508760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github.com/Marjimleo3/Trabajo-Fin-de-Grado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45352" y="3200400"/>
            <a:ext cx="53949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6501384" y="3456432"/>
            <a:ext cx="548640" cy="548640"/>
          </a:xfrm>
          <a:prstGeom prst="ellipse">
            <a:avLst/>
          </a:prstGeom>
          <a:solidFill>
            <a:srgbClr val="D99A3D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59359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05472" y="33375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en producción</a:t>
            </a:r>
            <a:endParaRPr lang="en-US" sz="1300" dirty="0"/>
          </a:p>
        </p:txBody>
      </p:sp>
      <p:sp>
        <p:nvSpPr>
          <p:cNvPr id="13" name="Text 9">
            <a:hlinkClick r:id="rId6"/>
          </p:cNvPr>
          <p:cNvSpPr/>
          <p:nvPr/>
        </p:nvSpPr>
        <p:spPr>
          <a:xfrm>
            <a:off x="7205472" y="3639312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u="sng" dirty="0"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uqnnwjgaf3t5xesuorvizo.streamlit.app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48640" y="6217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8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Mario Jiménez León  ·  Universidad de Sevilla  ·  Grado en Estadística  ·  2025/2026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2678</Words>
  <Application>Microsoft Office PowerPoint</Application>
  <PresentationFormat>Panorámica</PresentationFormat>
  <Paragraphs>483</Paragraphs>
  <Slides>24</Slides>
  <Notes>23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8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Detección de Alojamientos Turísticos con Precio Real Inferior al Valor Predicho según Preferencias del Usuario</dc:title>
  <dc:subject>PptxGenJS Presentation</dc:subject>
  <dc:creator>Mario Jiménez León</dc:creator>
  <cp:lastModifiedBy>Mario Jimenez</cp:lastModifiedBy>
  <cp:revision>52</cp:revision>
  <dcterms:created xsi:type="dcterms:W3CDTF">2026-07-10T11:49:07Z</dcterms:created>
  <dcterms:modified xsi:type="dcterms:W3CDTF">2026-07-15T12:07:52Z</dcterms:modified>
</cp:coreProperties>
</file>