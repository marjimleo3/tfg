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9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3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3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4859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2631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0403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8176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5948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16736" y="53721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pic>
        <p:nvPicPr>
          <p:cNvPr id="31" name="Picture 30" descr="info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44" name="Shape 5"/>
          <p:cNvSpPr/>
          <p:nvPr/>
        </p:nvSpPr>
        <p:spPr>
          <a:xfrm>
            <a:off x="777240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Shape 6"/>
          <p:cNvSpPr/>
          <p:nvPr/>
        </p:nvSpPr>
        <p:spPr>
          <a:xfrm>
            <a:off x="1307592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76" y="2930393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50392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50008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574036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104388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972" y="2930393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47188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46804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370832" y="2665217"/>
            <a:ext cx="1572768" cy="2119165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4901184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2930393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43984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43600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167628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697980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8564" y="2930393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40780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40396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7964424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8494776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2930393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37576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37192" y="3488177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761220" y="2665217"/>
            <a:ext cx="1572768" cy="212173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6"/>
          <p:cNvSpPr/>
          <p:nvPr/>
        </p:nvSpPr>
        <p:spPr>
          <a:xfrm>
            <a:off x="10291572" y="2829809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2156" y="2930393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34372" y="3442457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512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  <p:sp>
        <p:nvSpPr>
          <p:cNvPr id="38" name="TextBox 37"/>
          <p:cNvSpPr txBox="1"/>
          <p:nvPr/>
        </p:nvSpPr>
        <p:spPr>
          <a:xfrm>
            <a:off x="850392" y="4228841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>
                <a:solidFill>
                  <a:srgbClr val="7A6F68"/>
                </a:solidFill>
                <a:latin typeface="Calibri"/>
              </a:rPr>
              <a:t>8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provincias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: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precio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tipo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estrellas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servicios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,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coordenadas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47188" y="4235742"/>
            <a:ext cx="1426464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Nulos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valores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atípicos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443984" y="4235742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Extracción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de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servicios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variables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derivadas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240780" y="4238315"/>
            <a:ext cx="1426464" cy="438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ES" sz="950" dirty="0">
                <a:solidFill>
                  <a:srgbClr val="7A6F68"/>
                </a:solidFill>
                <a:latin typeface="Calibri"/>
              </a:rPr>
              <a:t>Selección del mejor modelo por v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alidación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cruzada</a:t>
            </a:r>
            <a:r>
              <a:rPr sz="950" dirty="0">
                <a:solidFill>
                  <a:srgbClr val="7A6F68"/>
                </a:solidFill>
                <a:latin typeface="Calibri"/>
              </a:rPr>
              <a:t> y conjunto de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prueba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037576" y="4238315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Cociente</a:t>
            </a:r>
            <a:r>
              <a:rPr sz="950" dirty="0">
                <a:solidFill>
                  <a:srgbClr val="7A6F68"/>
                </a:solidFill>
                <a:latin typeface="Calibri"/>
              </a:rPr>
              <a:t> entre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precio</a:t>
            </a:r>
            <a:r>
              <a:rPr sz="950" dirty="0">
                <a:solidFill>
                  <a:srgbClr val="7A6F68"/>
                </a:solidFill>
                <a:latin typeface="Calibri"/>
              </a:rPr>
              <a:t> real y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predicho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816998" y="4228841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dirty="0" err="1">
                <a:solidFill>
                  <a:srgbClr val="7A6F68"/>
                </a:solidFill>
                <a:latin typeface="Calibri"/>
              </a:rPr>
              <a:t>Preferencias</a:t>
            </a:r>
            <a:r>
              <a:rPr sz="950" dirty="0">
                <a:solidFill>
                  <a:srgbClr val="7A6F68"/>
                </a:solidFill>
                <a:latin typeface="Calibri"/>
              </a:rPr>
              <a:t> →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predicción</a:t>
            </a:r>
            <a:r>
              <a:rPr sz="950" dirty="0">
                <a:solidFill>
                  <a:srgbClr val="7A6F68"/>
                </a:solidFill>
                <a:latin typeface="Calibri"/>
              </a:rPr>
              <a:t> → </a:t>
            </a:r>
            <a:r>
              <a:rPr sz="950" dirty="0" err="1">
                <a:solidFill>
                  <a:srgbClr val="7A6F68"/>
                </a:solidFill>
                <a:latin typeface="Calibri"/>
              </a:rPr>
              <a:t>resultados</a:t>
            </a:r>
            <a:endParaRPr sz="950" dirty="0">
              <a:solidFill>
                <a:srgbClr val="7A6F6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695814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través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300" dirty="0">
              <a:solidFill>
                <a:srgbClr val="2B232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</a:t>
            </a:r>
            <a:r>
              <a:rPr lang="en-US" sz="1300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dimensionalidad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256E2FD-D61C-572F-AA4B-BA8AE6304A10}"/>
              </a:ext>
            </a:extLst>
          </p:cNvPr>
          <p:cNvSpPr txBox="1"/>
          <p:nvPr/>
        </p:nvSpPr>
        <p:spPr>
          <a:xfrm>
            <a:off x="8227466" y="4856320"/>
            <a:ext cx="437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136719"/>
            <a:ext cx="7496355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367975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6F68"/>
                </a:solidFill>
                <a:latin typeface="Calibri"/>
              </a:rPr>
              <a:t>Detección de Alojamientos Turísticos con Precio Real Inferior — TFG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7A6F68"/>
                </a:solidFill>
                <a:latin typeface="Calibri"/>
              </a:rPr>
              <a:t>13 / 23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200">
                <a:solidFill>
                  <a:srgbClr val="7A6F68"/>
                </a:solidFill>
                <a:latin typeface="Calibri"/>
              </a:rPr>
              <a:t>MODELIZACIÓN Y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640080"/>
            <a:ext cx="996696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>
                <a:solidFill>
                  <a:srgbClr val="2B2320"/>
                </a:solidFill>
                <a:latin typeface="Cambria"/>
              </a:rPr>
              <a:t>Árbol de </a:t>
            </a:r>
            <a:r>
              <a:rPr lang="es-ES" sz="2800" b="1" i="0" dirty="0">
                <a:solidFill>
                  <a:srgbClr val="2B2320"/>
                </a:solidFill>
                <a:latin typeface="Cambria"/>
              </a:rPr>
              <a:t>regresión</a:t>
            </a:r>
            <a:endParaRPr sz="2800" b="1" i="0" dirty="0">
              <a:solidFill>
                <a:srgbClr val="2B2320"/>
              </a:solidFill>
              <a:latin typeface="Cambria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070966"/>
            <a:ext cx="9815886" cy="48731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5944124"/>
            <a:ext cx="9601200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1" dirty="0">
                <a:solidFill>
                  <a:srgbClr val="7A6F68"/>
                </a:solidFill>
                <a:latin typeface="Calibri"/>
              </a:rPr>
              <a:t>Uno de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los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cuatro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modelos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candidatos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(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Sección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4.3): el árbol de </a:t>
            </a:r>
            <a:r>
              <a:rPr lang="es-ES" sz="1150" b="0" i="1" dirty="0">
                <a:solidFill>
                  <a:srgbClr val="7A6F68"/>
                </a:solidFill>
                <a:latin typeface="Calibri"/>
              </a:rPr>
              <a:t>regresión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particiona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el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espacio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de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características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de forma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recursiva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. La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raíz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es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tamaño_habitacion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(≤ 75,5m²); el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segundo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nivel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 es </a:t>
            </a:r>
            <a:r>
              <a:rPr sz="1150" b="0" i="1" dirty="0" err="1">
                <a:solidFill>
                  <a:srgbClr val="7A6F68"/>
                </a:solidFill>
                <a:latin typeface="Calibri"/>
              </a:rPr>
              <a:t>provincia</a:t>
            </a:r>
            <a:r>
              <a:rPr sz="1150" b="0" i="1" dirty="0">
                <a:solidFill>
                  <a:srgbClr val="7A6F6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5569378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</a:t>
                      </a:r>
                      <a:r>
                        <a:rPr lang="en-US" sz="1300" dirty="0" err="1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888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bosque aleatorio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48640" y="1508760"/>
            <a:ext cx="1109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1874519"/>
          <a:ext cx="110947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23150"/>
              </p:ext>
            </p:extLst>
          </p:nvPr>
        </p:nvGraphicFramePr>
        <p:xfrm>
          <a:off x="548640" y="2423159"/>
          <a:ext cx="11091672" cy="224028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4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068365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80000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6629400" y="1706880"/>
            <a:ext cx="484632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603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30175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390.462 registros del conjunto de prueba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</a:t>
            </a:r>
            <a:r>
              <a:rPr lang="en-US" sz="2800" b="1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DE033A3F-F28A-8445-EE73-3FE5D95C9782}"/>
              </a:ext>
            </a:extLst>
          </p:cNvPr>
          <p:cNvSpPr/>
          <p:nvPr/>
        </p:nvSpPr>
        <p:spPr>
          <a:xfrm>
            <a:off x="545092" y="459486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r>
              <a:rPr lang="es-ES" sz="1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5</a:t>
            </a:r>
            <a:endParaRPr sz="1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385388"/>
              </p:ext>
            </p:extLst>
          </p:nvPr>
        </p:nvGraphicFramePr>
        <p:xfrm>
          <a:off x="1705011" y="4535424"/>
          <a:ext cx="8477178" cy="977229"/>
        </p:xfrm>
        <a:graphic>
          <a:graphicData uri="http://schemas.openxmlformats.org/drawingml/2006/table">
            <a:tbl>
              <a:tblPr/>
              <a:tblGrid>
                <a:gridCol w="2571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37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705011" y="5631406"/>
            <a:ext cx="8477178" cy="37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734946"/>
            <a:ext cx="5394960" cy="437359"/>
          </a:xfrm>
          <a:prstGeom prst="roundRect">
            <a:avLst>
              <a:gd name="adj" fmla="val 12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1/4 del original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59MB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disco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~1/22 del original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predictivos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2768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2387498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2494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25328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548640" y="31912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3301898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1638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34472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41056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4216298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40782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43616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5130698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992624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527608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1350454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1461096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1323022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50" b="1" i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450" b="1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provincial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“one-hot-encoding”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1606486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Que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el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modelo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no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pueda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aprender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patrones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a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través</a:t>
            </a:r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del </a:t>
            </a:r>
            <a:r>
              <a:rPr lang="en-US" sz="11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orden</a:t>
            </a:r>
            <a:endParaRPr lang="en-US"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</TotalTime>
  <Words>2571</Words>
  <Application>Microsoft Office PowerPoint</Application>
  <PresentationFormat>Panorámica</PresentationFormat>
  <Paragraphs>471</Paragraphs>
  <Slides>23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72</cp:revision>
  <dcterms:created xsi:type="dcterms:W3CDTF">2026-07-10T11:49:07Z</dcterms:created>
  <dcterms:modified xsi:type="dcterms:W3CDTF">2026-07-21T18:52:28Z</dcterms:modified>
</cp:coreProperties>
</file>