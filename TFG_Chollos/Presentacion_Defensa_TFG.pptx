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3B6E77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B232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valoracion_clientes</c:v>
                </c:pt>
                <c:pt idx="1">
                  <c:v>dias_restantes</c:v>
                </c:pt>
                <c:pt idx="2">
                  <c:v>localidad</c:v>
                </c:pt>
                <c:pt idx="3">
                  <c:v>n_valoraciones</c:v>
                </c:pt>
                <c:pt idx="4">
                  <c:v>tamaño_habitacion</c:v>
                </c:pt>
                <c:pt idx="5">
                  <c:v>distancia_centro_km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8.4000000000000005E-2</c:v>
                </c:pt>
                <c:pt idx="1">
                  <c:v>9.0999999999999998E-2</c:v>
                </c:pt>
                <c:pt idx="2">
                  <c:v>0.113</c:v>
                </c:pt>
                <c:pt idx="3">
                  <c:v>0.11899999999999999</c:v>
                </c:pt>
                <c:pt idx="4">
                  <c:v>0.155</c:v>
                </c:pt>
                <c:pt idx="5">
                  <c:v>0.155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8-40FB-8D55-342BF721F8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8"/>
          <c:min val="0"/>
        </c:scaling>
        <c:delete val="0"/>
        <c:axPos val="b"/>
        <c:majorGridlines>
          <c:spPr>
            <a:ln w="6350" cap="flat">
              <a:solidFill>
                <a:srgbClr val="E7DD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Categorías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D1D-45FC-9F42-CB84D4A6B1A1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1D-45FC-9F42-CB84D4A6B1A1}"/>
              </c:ext>
            </c:extLst>
          </c:dPt>
          <c:dPt>
            <c:idx val="2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1D-45FC-9F42-CB84D4A6B1A1}"/>
              </c:ext>
            </c:extLst>
          </c:dPt>
          <c:dPt>
            <c:idx val="3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1D-45FC-9F42-CB84D4A6B1A1}"/>
              </c:ext>
            </c:extLst>
          </c:dPt>
          <c:dPt>
            <c:idx val="4"/>
            <c:bubble3D val="0"/>
            <c:spPr>
              <a:solidFill>
                <a:schemeClr val="accent6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D1D-45FC-9F42-CB84D4A6B1A1}"/>
              </c:ext>
            </c:extLst>
          </c:dPt>
          <c:dLbls>
            <c:dLbl>
              <c:idx val="0"/>
              <c:layout>
                <c:manualLayout>
                  <c:x val="-0.16372929549060605"/>
                  <c:y val="0.12350978449122431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1D-45FC-9F42-CB84D4A6B1A1}"/>
                </c:ext>
              </c:extLst>
            </c:dLbl>
            <c:dLbl>
              <c:idx val="1"/>
              <c:layout>
                <c:manualLayout>
                  <c:x val="-0.12574069131189111"/>
                  <c:y val="-0.21527085899976789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1D-45FC-9F42-CB84D4A6B1A1}"/>
                </c:ext>
              </c:extLst>
            </c:dLbl>
            <c:dLbl>
              <c:idx val="2"/>
              <c:layout>
                <c:manualLayout>
                  <c:x val="0.20319557512938002"/>
                  <c:y val="-6.4516935383077109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1D-45FC-9F42-CB84D4A6B1A1}"/>
                </c:ext>
              </c:extLst>
            </c:dLbl>
            <c:dLbl>
              <c:idx val="3"/>
              <c:layout>
                <c:manualLayout>
                  <c:x val="0.11863294630544063"/>
                  <c:y val="0.136576901101648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1D-45FC-9F42-CB84D4A6B1A1}"/>
                </c:ext>
              </c:extLst>
            </c:dLbl>
            <c:dLbl>
              <c:idx val="4"/>
              <c:layout>
                <c:manualLayout>
                  <c:x val="5.6119971232409506E-2"/>
                  <c:y val="0.15093537414965985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1D-45FC-9F42-CB84D4A6B1A1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Inflado</c:v>
                </c:pt>
                <c:pt idx="1">
                  <c:v>Normal</c:v>
                </c:pt>
                <c:pt idx="2">
                  <c:v>Chollo</c:v>
                </c:pt>
                <c:pt idx="3">
                  <c:v>Super-Chollo</c:v>
                </c:pt>
                <c:pt idx="4">
                  <c:v>Hiper-Chollo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26.4</c:v>
                </c:pt>
                <c:pt idx="1">
                  <c:v>32.1</c:v>
                </c:pt>
                <c:pt idx="2">
                  <c:v>24.7</c:v>
                </c:pt>
                <c:pt idx="3">
                  <c:v>9.1999999999999993</c:v>
                </c:pt>
                <c:pt idx="4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D1D-45FC-9F42-CB84D4A6B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4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0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1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qnnwjgaf3t5xesuorvizo.streamlit.app" TargetMode="External"/><Relationship Id="rId5" Type="http://schemas.openxmlformats.org/officeDocument/2006/relationships/image" Target="../media/image44.png"/><Relationship Id="rId4" Type="http://schemas.openxmlformats.org/officeDocument/2006/relationships/hyperlink" Target="https://github.com/Marjimleo3/Trabajo-Fin-de-Grad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· GRADO EN ESTADÍSTICA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Alojamientos Turísticos con Precio Real Inferior al Valor Predicho según Preferencias del Usuario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aprendizaje automático de extremo a extremo para identificar oportunidades reales de precio en el mercado turístico andaluz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Tutorizado por David Orellana Martín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 ·  Curso 2025/2026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715000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0020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7150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65176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57150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42316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70332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571500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47472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75488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5715000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52628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8363252" y="5623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github.com/Marjimleo3/Trabajo-Fin-de-Grado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uqnnwjgaf3t5xesuorvizo.streamlit.app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3624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25880" y="1709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 y alcance del trabajo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13969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25880" y="24871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Recopilación, limpieza e ingeniería de características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2916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25880" y="32644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modelos de regresión y su evaluación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6941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25880" y="404164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determinista y distribución obtenida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44714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25880" y="4818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flujo de uso y despliegue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52486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325880" y="55961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Aportaciones principales y líneas de continuación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002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turismo es un pilar de la economía española y Andalucía destaca por su patrimonio y la diversidad de su oferta de alojamiento.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 reserva online (OTA) aplican precio dinámico: la tarifa fluctúa según la demanda, la estacionalidad y la antelación de la reserva.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complejidad dificulta saber si el precio mostrado en pantalla es realmente competitivo.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oportunidades de forma sistemática escapa a la búsqueda manual, pero es abordable con aprendizaje automático.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543800" y="1709928"/>
            <a:ext cx="39319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85M+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43800" y="245059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turistas internacionales recibidos por España en 2023 (INE)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3804248"/>
            <a:ext cx="4206240" cy="1828801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937505"/>
            <a:ext cx="457200" cy="3512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35240" y="4380206"/>
            <a:ext cx="3749040" cy="133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i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«Chollo»: </a:t>
            </a:r>
            <a:r>
              <a:rPr lang="en-US" sz="13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 alojamiento cuyo precio se sitúa notablemente por debajo de lo esperado según sus características objetivas (ubicación, estrellas, valoraciones, servicios…).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</a:t>
            </a: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sistema integral capaz de detectar, en Andalucía, alojamientos turísticos con precio real inferior al valor predicho.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70662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Pipeline de extracción de datos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3444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precio, tipo, estrellas, valoración, servicios, coordenadas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00507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Preprocesamiento y limpieza robusta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3444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Nulos, valores atípicos, extracción de servicios y variables derivadas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30352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51755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Entrenar y comparar 4 modelos de regresión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34440" y="54589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mejor mediante validación cruzada y conjunto de prueba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17220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2784" y="27066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85800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Regla determinista de categorización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85800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del cociente entre precio real y precio predicho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17220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2784" y="4005072"/>
            <a:ext cx="256032" cy="2560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85800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Aplicación web interactiva end-to-end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685800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del usuario → extracción → predicción → resultados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limitaciones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005443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8470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755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22960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Almería, Cádiz, Córdoba, Granada, Huelva, Jaén, Málaga y Sevilla.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365 días de precios por alojamiento, para maximizar la cobertura del mercado.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predecir el precio de un alojamiento en una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45352" y="1463040"/>
            <a:ext cx="5394960" cy="3447288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1967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4708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9752" y="1755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519672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fila,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alojamiento-fecha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las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0,026%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(674 de 2.603.076)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días_restantes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-1,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plataforma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Booking.com.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747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34782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410" y="25968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9062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(Selenium + Playwright)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390242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614270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144622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5206" y="259689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87422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87038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411066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941418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002" y="259689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84218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983834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207862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738214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798" y="259689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81014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modelos + CV)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780630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1"/>
          <p:cNvSpPr/>
          <p:nvPr/>
        </p:nvSpPr>
        <p:spPr>
          <a:xfrm>
            <a:off x="8004658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35010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5594" y="2596896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077810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77426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980145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1033180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2390" y="2596896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7460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(Streamlit)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1280160" y="47091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sistema reproducible: los codificadores, el escalador y el modelo comparten exactamente el mismo espacio de características entre entrenamiento y producción.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Recopilación de datos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719072"/>
            <a:ext cx="475488" cy="475488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288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44752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Selenium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general de resultados por provincia: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Localización, título y URL de la ficha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media y número de valoraciones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alojamiento y categoría por estrellas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45352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19672" y="1719072"/>
            <a:ext cx="475488" cy="475488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41464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Playwright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19672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la API interna (GraphQL) de la plataforma: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19672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coordenadas GPS del alojamiento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disponibles y tamaño de la habitación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precios diarios (horizonte de 365 días)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4672" y="5138928"/>
            <a:ext cx="502920" cy="502920"/>
          </a:xfrm>
          <a:prstGeom prst="ellipse">
            <a:avLst/>
          </a:prstGeom>
          <a:solidFill>
            <a:srgbClr val="D99A3D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526694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95604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 de los centros urbanos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obtenidas mediante la API de Nominatim (OpenStreetMap); la distancia de cada alojamiento se calcula con la fórmula del haversine, vectorizada sobre todo el conjunto de datos.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de valores nulos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16736" y="1508070"/>
            <a:ext cx="6591600" cy="1954274"/>
          </a:xfrm>
          <a:prstGeom prst="roundRect">
            <a:avLst>
              <a:gd name="adj" fmla="val 170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572769" y="173667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Eliminación de registros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72768" y="2148150"/>
            <a:ext cx="6079207" cy="11258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GPS ausentes: 2,2% de los registros eliminados (imprescindibles para calcular la distancia al centro urbano).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localidad codificada como '9': error de geocodificación detectado manualmente.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752491" y="367436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variable (Tabla 6.1)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66171"/>
              </p:ext>
            </p:extLst>
          </p:nvPr>
        </p:nvGraphicFramePr>
        <p:xfrm>
          <a:off x="3752491" y="4040123"/>
          <a:ext cx="6592236" cy="1954274"/>
        </p:xfrm>
        <a:graphic>
          <a:graphicData uri="http://schemas.openxmlformats.org/drawingml/2006/table">
            <a:tbl>
              <a:tblPr/>
              <a:tblGrid>
                <a:gridCol w="2378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7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1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imputado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codigo_postal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usa en 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'Otro'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(no hotel)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n_valoraciones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Alojamiento nuevo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valoracion_clientes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outliers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tamaño_habitacion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ante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4213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3" y="608625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71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Tukey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(precio) y </a:t>
            </a: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fijos de dominio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(tamaño y distancia), aplicados solo donde un valor extremo indica un error de captura o un segmento ajeno al estudio.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15224"/>
              </p:ext>
            </p:extLst>
          </p:nvPr>
        </p:nvGraphicFramePr>
        <p:xfrm>
          <a:off x="687228" y="2473154"/>
          <a:ext cx="4040613" cy="1539240"/>
        </p:xfrm>
        <a:graphic>
          <a:graphicData uri="http://schemas.openxmlformats.org/drawingml/2006/table">
            <a:tbl>
              <a:tblPr/>
              <a:tblGrid>
                <a:gridCol w="205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eliminados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468,5€ (Tukey)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245.170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&gt; 150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&gt; 15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eliminado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520.448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7228" y="4341165"/>
            <a:ext cx="4040612" cy="70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«Otro» (fincas, casas rurales) concentraba tamaños hasta 10.000 m². El umbral de 150 m² conserva hoteles, apartamentos y estudios con un coste de solo el 7% de registros.</a:t>
            </a:r>
            <a:endParaRPr lang="en-US" sz="1200" dirty="0"/>
          </a:p>
        </p:txBody>
      </p:sp>
      <p:pic>
        <p:nvPicPr>
          <p:cNvPr id="11" name="Image 1" descr="C:/Users/usuario/OneDrive/UNI_Mario5/TFG/TFG_Chollos/images/boxplot_pre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9559" y="1799959"/>
            <a:ext cx="2743200" cy="18680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69558" y="3600914"/>
            <a:ext cx="29572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noche (umbral de Tukey: 468,5€)</a:t>
            </a:r>
            <a:endParaRPr lang="en-US" sz="1000" dirty="0"/>
          </a:p>
        </p:txBody>
      </p:sp>
      <p:pic>
        <p:nvPicPr>
          <p:cNvPr id="13" name="Image 2" descr="C:/Users/usuario/OneDrive/UNI_Mario5/TFG/TFG_Chollos/images/boxplot_tamaño_habit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5639" y="1799959"/>
            <a:ext cx="2743200" cy="20119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09661" y="3686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 habitación por tipo (umbral: 150m²)</a:t>
            </a:r>
            <a:endParaRPr lang="en-US" sz="1000" dirty="0"/>
          </a:p>
        </p:txBody>
      </p:sp>
      <p:pic>
        <p:nvPicPr>
          <p:cNvPr id="15" name="Image 3" descr="C:/Users/usuario/OneDrive/UNI_Mario5/TFG/TFG_Chollos/images/boxplot_distancia_centro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9594" y="4173345"/>
            <a:ext cx="2743200" cy="18276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930795" y="595211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antes (error de geocodificación en Guadalcanal)</a:t>
            </a:r>
            <a:endParaRPr lang="en-US" sz="950" dirty="0"/>
          </a:p>
        </p:txBody>
      </p:sp>
      <p:pic>
        <p:nvPicPr>
          <p:cNvPr id="17" name="Image 4" descr="C:/Users/usuario/OneDrive/UNI_Mario5/TFG/TFG_Chollos/images/boxplot_distancia_centro_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9880" y="4173345"/>
            <a:ext cx="2743200" cy="18276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61687" y="5985172"/>
            <a:ext cx="2506058" cy="51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después (umbral definitivo: 15km)</a:t>
            </a:r>
            <a:endParaRPr lang="en-US" sz="950" dirty="0"/>
          </a:p>
        </p:txBody>
      </p:sp>
      <p:pic>
        <p:nvPicPr>
          <p:cNvPr id="20" name="Gráfico 19" descr="Flechas de cheurón con relleno sólido">
            <a:extLst>
              <a:ext uri="{FF2B5EF4-FFF2-40B4-BE49-F238E27FC236}">
                <a16:creationId xmlns:a16="http://schemas.microsoft.com/office/drawing/2014/main" id="{67C9516D-B195-8BDC-2581-2DC136E05B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78697" y="4919513"/>
            <a:ext cx="33528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de características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 extraídos por búsqueda de subcadenas en los campos de texto (API)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68296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368296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gratis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87952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87952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368296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368296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87952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87952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interior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infinita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68296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368296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acondic.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87952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87952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Calefacción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368296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368296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87952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87952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 privado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temporales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7086600" y="18288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viernes o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es_domingo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antelación de la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día del mes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1383" y="4368849"/>
            <a:ext cx="11091672" cy="1412144"/>
          </a:xfrm>
          <a:prstGeom prst="roundRect">
            <a:avLst>
              <a:gd name="adj" fmla="val 410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807415" y="455172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variables categóricas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07415" y="4963209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tipo_Hotel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(one-hot binario, 1 si es hotel)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(ordinal, para no disparar la dimensionalidad).</a:t>
            </a:r>
            <a:r>
              <a:rPr lang="en-US" sz="12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porque el modelo ganador es un ensemble de árboles: puede aislar cualquier localidad mediante particiones binarias sucesivas, sin depender de un orden real.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final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9" name="Text 6"/>
          <p:cNvSpPr/>
          <p:nvPr/>
        </p:nvSpPr>
        <p:spPr>
          <a:xfrm>
            <a:off x="777240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crudo — Málaga (1 provincia)</a:t>
            </a:r>
            <a:endParaRPr lang="en-US" sz="12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8.871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8580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313432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359152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86784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279,7 MB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032504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51576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37376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665976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final — 8 provincias</a:t>
            </a:r>
            <a:endParaRPr lang="en-US" sz="12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528816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2,60M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574536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02168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247888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11,2 MB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992124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084168" y="3063240"/>
            <a:ext cx="4023360" cy="438912"/>
          </a:xfrm>
          <a:prstGeom prst="roundRect">
            <a:avLst>
              <a:gd name="adj" fmla="val 50000"/>
            </a:avLst>
          </a:prstGeom>
          <a:solidFill>
            <a:srgbClr val="D99A3D"/>
          </a:solidFill>
          <a:ln/>
        </p:spPr>
      </p:sp>
      <p:sp>
        <p:nvSpPr>
          <p:cNvPr id="26" name="Text 23"/>
          <p:cNvSpPr/>
          <p:nvPr/>
        </p:nvSpPr>
        <p:spPr>
          <a:xfrm>
            <a:off x="4084168" y="3063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menos peso  ·  312× más filas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442765"/>
              </p:ext>
            </p:extLst>
          </p:nvPr>
        </p:nvGraphicFramePr>
        <p:xfrm>
          <a:off x="548640" y="4142232"/>
          <a:ext cx="6858000" cy="1600200"/>
        </p:xfrm>
        <a:graphic>
          <a:graphicData uri="http://schemas.openxmlformats.org/drawingml/2006/table">
            <a:tbl>
              <a:tblPr/>
              <a:tblGrid>
                <a:gridCol w="2523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9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(€/noche)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 (0-10)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habitación (m²)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centro (km)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680960" y="4142232"/>
            <a:ext cx="3959352" cy="1737360"/>
          </a:xfrm>
          <a:prstGeom prst="roundRect">
            <a:avLst>
              <a:gd name="adj" fmla="val 3137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9" name="Text 25"/>
          <p:cNvSpPr/>
          <p:nvPr/>
        </p:nvSpPr>
        <p:spPr>
          <a:xfrm>
            <a:off x="7936992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por provincia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7936992" y="4627036"/>
            <a:ext cx="3474720" cy="111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Málaga  37,7%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Cádiz  15,8%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  13,5%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Granada  12,9%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Córdoba, Almería, Jaén, Huelva  19,9%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correlaciones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correlacion_lin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65" y="1136719"/>
            <a:ext cx="6654856" cy="53496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987396" y="1627632"/>
            <a:ext cx="4655659" cy="1676975"/>
          </a:xfrm>
          <a:prstGeom prst="roundRect">
            <a:avLst>
              <a:gd name="adj" fmla="val 37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50736" y="1792224"/>
            <a:ext cx="42637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presenta correlación lineal fuerte con el precio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50736" y="2359152"/>
            <a:ext cx="4263719" cy="76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estrellas · Piscina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987395" y="3880852"/>
            <a:ext cx="4655659" cy="1386092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3" name="Text 9"/>
          <p:cNvSpPr/>
          <p:nvPr/>
        </p:nvSpPr>
        <p:spPr>
          <a:xfrm>
            <a:off x="7150735" y="4063732"/>
            <a:ext cx="4263719" cy="101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relaciones son fundamentalmente no lineales.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Esto explica la gran diferencia entre la regresión lineal (R² = 0,14) y el bosque aleatorio (R² = 0,87), capaz de capturarlas.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regresión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Múltiple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paramétrico base (OLS); asume una relación lineal entre variables y precio.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45352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7395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86537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14032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 (CART)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519672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 el espacio de características de forma recursiva en regiones homogéneas.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A4F55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9227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Bosque Aleatorio (Random Forest)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árboles vía bagging y selección aleatoria de variables.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245352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73952" y="3794760"/>
            <a:ext cx="502920" cy="502920"/>
          </a:xfrm>
          <a:prstGeom prst="ellipse">
            <a:avLst/>
          </a:prstGeom>
          <a:solidFill>
            <a:srgbClr val="8C4029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9227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14032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(Gradient Boosting)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519672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aditiva e iterativa: cada árbol corrige los errores del anterior.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rejilla con validación cruzada de 3 pliegues (GridSearchCV, scoring = neg_mean_squared_error)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los modelos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02264"/>
              </p:ext>
            </p:extLst>
          </p:nvPr>
        </p:nvGraphicFramePr>
        <p:xfrm>
          <a:off x="548640" y="1554480"/>
          <a:ext cx="6949439" cy="2468880"/>
        </p:xfrm>
        <a:graphic>
          <a:graphicData uri="http://schemas.openxmlformats.org/drawingml/2006/table">
            <a:tbl>
              <a:tblPr/>
              <a:tblGrid>
                <a:gridCol w="2951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Bosque aleatorio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sobre el conjunto de validación (Tabla 7.3)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4251960"/>
            <a:ext cx="6949440" cy="1051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04672" y="4434840"/>
            <a:ext cx="64258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Sobre el conjunto de prueba (nunca usado en el entrenamiento):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0,8676   MAE = 19,43€   RMSE = 33,05€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754111" y="15544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891271" y="16642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891271" y="24332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proporción de varianza del precio explicada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7754111" y="31546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91271" y="32644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19,4€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91271" y="40334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(MAE) por noche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754111" y="47091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gana con amplia diferencia, sin indicios de sobreajuste entre validación y prueba (diferencia &lt; 0,001 en R²).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Interpretabilidad del modelo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arbol_dec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08760"/>
            <a:ext cx="6172200" cy="31057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687669"/>
            <a:ext cx="6172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 — primeros 4 niveles. La raíz es tamaño_habitacion (≤ 75,5m²); el segundo nivel, provincia.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086600" y="1508760"/>
            <a:ext cx="4556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de variables (bosque aleatorio)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7086600" y="1874520"/>
          <a:ext cx="4556455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determinista de categorización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4672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precio real / precio predicho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 &lt; 1 → potencial chollo          r &gt; 1 → alojamiento inflado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73364"/>
              </p:ext>
            </p:extLst>
          </p:nvPr>
        </p:nvGraphicFramePr>
        <p:xfrm>
          <a:off x="548640" y="2423160"/>
          <a:ext cx="11091672" cy="1676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9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9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≤ 0,75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9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≥25% por debajo del precio justo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9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 &lt; r &lt; 0,85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15% y 25%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7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7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 ≤ r &lt; 0,97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7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3% y 15%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7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CF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CF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≤ r ≤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CF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dentro del ±3%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CF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&gt;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3% por encima del justo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532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regla determinista y no un clasificador ML?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de chollo no es una propiedad observable del alojamiento, sino una relación entre precio real y predicho: entrenar un clasificador añadiría una capa de aprendizaje redundante sobre información ya contenida en el ratio r, y restaría interpretabilidad y reproducibilidad al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en el conjunto de prueba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073266338"/>
              </p:ext>
            </p:extLst>
          </p:nvPr>
        </p:nvGraphicFramePr>
        <p:xfrm>
          <a:off x="548640" y="1554480"/>
          <a:ext cx="5394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55448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629400" y="1664208"/>
            <a:ext cx="4846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629400" y="2574950"/>
            <a:ext cx="4983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alojamientos del conjunto de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constituyen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chollo (Chollo + Super + Hiper)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429000"/>
          <a:ext cx="512064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125.338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787804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390.462 registros del conjunto de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810512"/>
            <a:ext cx="530352" cy="530352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38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principal (Home)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interactivo de Andalucía (Plotly): número de alojamientos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puntos con la ubicación GPS de cada alojamiento único del histórico.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(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estrellas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19672" y="1810512"/>
            <a:ext cx="530352" cy="530352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9385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05472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búsqueda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519672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preferencias: destino, fechas, tipo de alojamiento, hasta 16 filtros de servicios.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deslizante de 3 niveles de exigencia para la categorización de chollo.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tabla interactiva, ordenados por grado de ahorro, con gráfico de tarta.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trabajo de la búsqueda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544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1444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350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Destino, fechas, tipo, servicios y nivel de exigencia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4" name="Text 10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3172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221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en tiempo real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35040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25 alojamientos por localidad seleccionada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9" name="Text 14"/>
          <p:cNvSpPr/>
          <p:nvPr/>
        </p:nvSpPr>
        <p:spPr>
          <a:xfrm>
            <a:off x="548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0896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035040" y="3017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secuencia de transformaciones que en el entrenamiento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4" name="Text 18"/>
          <p:cNvSpPr/>
          <p:nvPr/>
        </p:nvSpPr>
        <p:spPr>
          <a:xfrm>
            <a:off x="54864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886200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776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035040" y="3794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 serializados con joblib (mismo espacio de características)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4590288"/>
            <a:ext cx="457200" cy="457200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29" name="Text 22"/>
          <p:cNvSpPr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663440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categorización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4572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podado + ratio r + umbrales del nivel elegido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34" name="Text 26"/>
          <p:cNvSpPr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5440680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00200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6035040" y="5349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ordenada por ahorro y gráfico de categorías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memoria para el despliegue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>
              <a:lumMod val="90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4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D99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04672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(100 árboles)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~1,4GB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deserializarlo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encima del límite gratuito de Streamlit Community Cloud (~1GB), lo que provocaba el cierre de la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También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ocupaba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~1,3GB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disco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encima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(100MB),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lo que era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necesaria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otra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Web.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1384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del bosque es el promedio de sus árboles: se pueden descartar árboles ya entrenados </a:t>
            </a: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reentrenar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conservan 20 de los 100 árboles: </a:t>
            </a: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~373MB en RAM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~59MB comprimido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disco (&lt; 100MB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GitHub).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8138160" cy="83058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Podado (producción)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0,8634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548640" y="553212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mínima de rendimiento; el modelo podado sigue superando ampliamente al 2º mejor modelo (árbol de decisión, R² = 0,59).</a:t>
            </a:r>
            <a:endParaRPr lang="en-US" sz="1200" dirty="0"/>
          </a:p>
        </p:txBody>
      </p:sp>
      <p:sp>
        <p:nvSpPr>
          <p:cNvPr id="22" name="Rounded Rectangle 21"/>
          <p:cNvSpPr/>
          <p:nvPr/>
        </p:nvSpPr>
        <p:spPr>
          <a:xfrm>
            <a:off x="6245352" y="3840480"/>
            <a:ext cx="5394960" cy="566928"/>
          </a:xfrm>
          <a:prstGeom prst="roundRect">
            <a:avLst>
              <a:gd name="adj" fmla="val 12000"/>
            </a:avLst>
          </a:prstGeom>
          <a:solidFill>
            <a:srgbClr val="D9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241A16"/>
                </a:solidFill>
                <a:latin typeface="Calibri"/>
              </a:rPr>
              <a:t>373MB en RAM (1/4 del original) → ya cabe en el límite gratuito de Streamlit Cloud (~1GB)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1792224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938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664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un alojamiento no es aleatorio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508760" y="2048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explica el 86,8% de la varianza del precio (R² = 0,8676) con un MAE de 19,43€/noche.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962656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99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834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cada 10 alojamientos son un chollo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50876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41,5% del conjunto de prueba se clasifica en alguna categoría de chollo (r &lt; 0,97).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95344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0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dato es más determinante que el algoritmo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50876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 en dos fases, geocodificación y gestión rigurosa de outliers, sin indicios claros de sobreajuste.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48640" y="5065776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end-to-end es el verdadero reto de ingeniería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1508760" y="55595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Encoders, escalador y modelo comparten exactamente el mismo espacio de características gracias a un diseño modular.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161940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4813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a otras plataformas y territorios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80160" y="17647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cobertura a otras comunidades autónomas u otras OTA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253380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3957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periódica del modelo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80160" y="26791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automatizado ante la dinámica de precios de las OTA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3448202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101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variables de texto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80160" y="35935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de reseñas y descripciones mediante modelos de lenguaje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362602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2245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hiper-chollo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280160" y="45079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proactiva sin que el usuario inicie la búsqueda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5166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5277002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51389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supervisado complementario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1280160" y="54223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o Local Outlier Factor para categorías con pocos datos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41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 son bienvenidos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5935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300" dirty="0"/>
          </a:p>
        </p:txBody>
      </p:sp>
      <p:sp>
        <p:nvSpPr>
          <p:cNvPr id="8" name="Text 5">
            <a:hlinkClick r:id="rId4"/>
          </p:cNvPr>
          <p:cNvSpPr/>
          <p:nvPr/>
        </p:nvSpPr>
        <p:spPr>
          <a:xfrm>
            <a:off x="1508760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github.com/Marjimleo3/Trabajo-Fin-de-Grado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5352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</p:sp>
      <p:sp>
        <p:nvSpPr>
          <p:cNvPr id="10" name="Shape 7"/>
          <p:cNvSpPr/>
          <p:nvPr/>
        </p:nvSpPr>
        <p:spPr>
          <a:xfrm>
            <a:off x="6501384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5935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producción</a:t>
            </a:r>
            <a:endParaRPr lang="en-US" sz="1300" dirty="0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7205472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uqnnwjgaf3t5xesuorvizo.streamlit.app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  ·  Universidad de Sevilla  ·  Grado en Estadística  ·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2652</Words>
  <Application>Microsoft Office PowerPoint</Application>
  <PresentationFormat>Panorámica</PresentationFormat>
  <Paragraphs>481</Paragraphs>
  <Slides>23</Slides>
  <Notes>23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Alojamientos Turísticos con Precio Real Inferior al Valor Predicho según Preferencias del Usuario</dc:title>
  <dc:subject>PptxGenJS Presentation</dc:subject>
  <dc:creator>Mario Jiménez León</dc:creator>
  <cp:lastModifiedBy>Mario Jimenez</cp:lastModifiedBy>
  <cp:revision>31</cp:revision>
  <dcterms:created xsi:type="dcterms:W3CDTF">2026-07-10T11:49:07Z</dcterms:created>
  <dcterms:modified xsi:type="dcterms:W3CDTF">2026-07-10T16:31:22Z</dcterms:modified>
</cp:coreProperties>
</file>