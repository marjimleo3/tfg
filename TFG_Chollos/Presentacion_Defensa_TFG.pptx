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9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0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1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4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715000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0020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7150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65176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57150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42316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70332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571500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47472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75488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5715000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52628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3624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25880" y="1709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 y alcance del trabajo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13969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4871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Recopilación, limpieza e ingeniería de características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2916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25880" y="32644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 de regresión y su evaluación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6941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25880" y="404164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determinista y distribución obtenida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4714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25880" y="4818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flujo de uso y despliegue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52486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325880" y="55961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Aportaciones principales y líneas de continuación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0662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Pipeline de extracción de datos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3444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precio, tipo, estrellas, valoración, servicios, coordenadas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00507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Preprocesamiento y limpieza robusta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3444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Nulos, valores atípicos, extracción de servicios y variables derivadas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3035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51755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Entrenar y comparar 4 modelos de regresión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34440" y="54589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mejor mediante validación cruzada y conjunto de prueba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7220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784" y="27066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85800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Regla determinista de categorización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85800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del cociente entre precio real y precio predicho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17220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4005072"/>
            <a:ext cx="256032" cy="2560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85800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Aplicación web interactiva end-to-end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685800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del usuario → extracción → predicción → resultados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447288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plataforma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747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134782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410" y="25968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9062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90242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614270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3144622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5206" y="259689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87422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87038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411066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4941418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002" y="259689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84218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83834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207862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738214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798" y="259689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81014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80630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8004658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8535010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5594" y="259689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77810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77426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80145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26"/>
          <p:cNvSpPr/>
          <p:nvPr/>
        </p:nvSpPr>
        <p:spPr>
          <a:xfrm>
            <a:off x="1033180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2390" y="259689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7460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47091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pic>
        <p:nvPicPr>
          <p:cNvPr id="20" name="Gráfico 19" descr="Flechas de cheurón con relleno sólido">
            <a:extLst>
              <a:ext uri="{FF2B5EF4-FFF2-40B4-BE49-F238E27FC236}">
                <a16:creationId xmlns:a16="http://schemas.microsoft.com/office/drawing/2014/main" id="{67C9516D-B195-8BDC-2581-2DC136E05B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78697" y="4919513"/>
            <a:ext cx="33528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65" y="1136719"/>
            <a:ext cx="6654856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263719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6F68"/>
                </a:solidFill>
                <a:latin typeface="Calibri"/>
              </a:rPr>
              <a:t>Detección de Alojamientos Turísticos con Precio Real Inferior — TFG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7A6F68"/>
                </a:solidFill>
                <a:latin typeface="Calibri"/>
              </a:rPr>
              <a:t>14 / 24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200">
                <a:solidFill>
                  <a:srgbClr val="7A6F68"/>
                </a:solidFill>
                <a:latin typeface="Calibri"/>
              </a:rPr>
              <a:t>MODELIZACIÓN Y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2B2320"/>
                </a:solidFill>
                <a:latin typeface="Cambria"/>
              </a:rPr>
              <a:t>Árbol de decisión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019072"/>
            <a:ext cx="9815886" cy="4925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5944124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1">
                <a:solidFill>
                  <a:srgbClr val="7A6F68"/>
                </a:solidFill>
                <a:latin typeface="Calibri"/>
              </a:rPr>
              <a:t>Uno de los cuatro modelos candidatos (Sección 4.3): el árbol de decisión particiona el espacio de características de forma recursiva. La raíz es tamaño_habitacion (≤ 75,5m²); el segundo nivel es provincia.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02264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prueba (nunca usado en el entrenamiento):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bosque aleatorio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48640" y="1508760"/>
            <a:ext cx="1109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48640" y="1874519"/>
          <a:ext cx="110947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alojamiento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23150"/>
              </p:ext>
            </p:extLst>
          </p:nvPr>
        </p:nvGraphicFramePr>
        <p:xfrm>
          <a:off x="548640" y="2423159"/>
          <a:ext cx="11091672" cy="2240283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4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068365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6629400" y="1664208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74950"/>
            <a:ext cx="4983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alojamientos del conjunto de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constituyen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390.462 registros del conjunto de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búsqueda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4590288"/>
            <a:ext cx="457200" cy="45720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(&lt;1GB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comprimido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249065"/>
              </p:ext>
            </p:extLst>
          </p:nvPr>
        </p:nvGraphicFramePr>
        <p:xfrm>
          <a:off x="1705011" y="4535424"/>
          <a:ext cx="8477178" cy="977229"/>
        </p:xfrm>
        <a:graphic>
          <a:graphicData uri="http://schemas.openxmlformats.org/drawingml/2006/table">
            <a:tbl>
              <a:tblPr/>
              <a:tblGrid>
                <a:gridCol w="2571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37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 (producción)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1705011" y="5631406"/>
            <a:ext cx="8477178" cy="37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decisión,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734946"/>
            <a:ext cx="5394960" cy="437359"/>
          </a:xfrm>
          <a:prstGeom prst="roundRect">
            <a:avLst>
              <a:gd name="adj" fmla="val 12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dirty="0">
                <a:solidFill>
                  <a:srgbClr val="241A16"/>
                </a:solidFill>
                <a:latin typeface="Calibri"/>
              </a:rPr>
              <a:t>373MB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RAM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1/4 del original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 y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59MB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disco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~1/22 del original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un alojamiento no es aleatorio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161940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4813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17647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25338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3957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26791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344820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101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35935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3626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2245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45079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52770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51389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 complementario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54223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o Local Outlier Factor para categorías con pocos datos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41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3427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B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2690</Words>
  <Application>Microsoft Office PowerPoint</Application>
  <PresentationFormat>Panorámica</PresentationFormat>
  <Paragraphs>487</Paragraphs>
  <Slides>24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42</cp:revision>
  <dcterms:created xsi:type="dcterms:W3CDTF">2026-07-10T11:49:07Z</dcterms:created>
  <dcterms:modified xsi:type="dcterms:W3CDTF">2026-07-10T18:02:28Z</dcterms:modified>
</cp:coreProperties>
</file>