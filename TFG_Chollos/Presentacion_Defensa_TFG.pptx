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2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EE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Importancia</c:v>
                </c:pt>
              </c:strCache>
            </c:strRef>
          </c:tx>
          <c:spPr>
            <a:solidFill>
              <a:srgbClr val="3B6E77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B2320"/>
                    </a:solidFill>
                    <a:latin typeface="Arial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valoracion_clientes</c:v>
                </c:pt>
                <c:pt idx="1">
                  <c:v>dias_restantes</c:v>
                </c:pt>
                <c:pt idx="2">
                  <c:v>localidad</c:v>
                </c:pt>
                <c:pt idx="3">
                  <c:v>n_valoraciones</c:v>
                </c:pt>
                <c:pt idx="4">
                  <c:v>tamaño_habitacion</c:v>
                </c:pt>
                <c:pt idx="5">
                  <c:v>distancia_centro_km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8.4000000000000005E-2</c:v>
                </c:pt>
                <c:pt idx="1">
                  <c:v>9.0999999999999998E-2</c:v>
                </c:pt>
                <c:pt idx="2">
                  <c:v>0.113</c:v>
                </c:pt>
                <c:pt idx="3">
                  <c:v>0.11899999999999999</c:v>
                </c:pt>
                <c:pt idx="4">
                  <c:v>0.155</c:v>
                </c:pt>
                <c:pt idx="5">
                  <c:v>0.155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A88-40FB-8D55-342BF721F89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F68"/>
                </a:solidFill>
                <a:latin typeface="Arial"/>
              </a:defRPr>
            </a:pPr>
            <a:endParaRPr lang="es-E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18"/>
          <c:min val="0"/>
        </c:scaling>
        <c:delete val="0"/>
        <c:axPos val="b"/>
        <c:majorGridlines>
          <c:spPr>
            <a:ln w="6350" cap="flat">
              <a:solidFill>
                <a:srgbClr val="E7DDD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A6F68"/>
                </a:solidFill>
                <a:latin typeface="Arial"/>
              </a:defRPr>
            </a:pPr>
            <a:endParaRPr lang="es-E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Categorías</c:v>
                </c:pt>
              </c:strCache>
            </c:strRef>
          </c:tx>
          <c:dPt>
            <c:idx val="0"/>
            <c:bubble3D val="0"/>
            <c:spPr>
              <a:solidFill>
                <a:srgbClr val="C0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D1D-45FC-9F42-CB84D4A6B1A1}"/>
              </c:ext>
            </c:extLst>
          </c:dPt>
          <c:dPt>
            <c:idx val="1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D1D-45FC-9F42-CB84D4A6B1A1}"/>
              </c:ext>
            </c:extLst>
          </c:dPt>
          <c:dPt>
            <c:idx val="2"/>
            <c:bubble3D val="0"/>
            <c:spPr>
              <a:solidFill>
                <a:schemeClr val="accent6">
                  <a:lumMod val="60000"/>
                  <a:lumOff val="4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D1D-45FC-9F42-CB84D4A6B1A1}"/>
              </c:ext>
            </c:extLst>
          </c:dPt>
          <c:dPt>
            <c:idx val="3"/>
            <c:bubble3D val="0"/>
            <c:spPr>
              <a:solidFill>
                <a:schemeClr val="accent6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4D1D-45FC-9F42-CB84D4A6B1A1}"/>
              </c:ext>
            </c:extLst>
          </c:dPt>
          <c:dPt>
            <c:idx val="4"/>
            <c:bubble3D val="0"/>
            <c:spPr>
              <a:solidFill>
                <a:schemeClr val="accent6">
                  <a:lumMod val="5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4D1D-45FC-9F42-CB84D4A6B1A1}"/>
              </c:ext>
            </c:extLst>
          </c:dPt>
          <c:dLbls>
            <c:dLbl>
              <c:idx val="0"/>
              <c:layout>
                <c:manualLayout>
                  <c:x val="-0.16372929549060605"/>
                  <c:y val="0.12350978449122431"/>
                </c:manualLayout>
              </c:layout>
              <c:numFmt formatCode="0.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s-E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D1D-45FC-9F42-CB84D4A6B1A1}"/>
                </c:ext>
              </c:extLst>
            </c:dLbl>
            <c:dLbl>
              <c:idx val="1"/>
              <c:layout>
                <c:manualLayout>
                  <c:x val="-0.12574069131189111"/>
                  <c:y val="-0.21527085899976789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D1D-45FC-9F42-CB84D4A6B1A1}"/>
                </c:ext>
              </c:extLst>
            </c:dLbl>
            <c:dLbl>
              <c:idx val="2"/>
              <c:layout>
                <c:manualLayout>
                  <c:x val="0.20319557512938002"/>
                  <c:y val="-6.4516935383077109E-2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4D1D-45FC-9F42-CB84D4A6B1A1}"/>
                </c:ext>
              </c:extLst>
            </c:dLbl>
            <c:dLbl>
              <c:idx val="3"/>
              <c:layout>
                <c:manualLayout>
                  <c:x val="0.11863294630544063"/>
                  <c:y val="0.136576901101648"/>
                </c:manualLayout>
              </c:layout>
              <c:numFmt formatCode="0.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s-E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4D1D-45FC-9F42-CB84D4A6B1A1}"/>
                </c:ext>
              </c:extLst>
            </c:dLbl>
            <c:dLbl>
              <c:idx val="4"/>
              <c:layout>
                <c:manualLayout>
                  <c:x val="5.6119971232409506E-2"/>
                  <c:y val="0.15093537414965985"/>
                </c:manualLayout>
              </c:layout>
              <c:numFmt formatCode="0.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s-E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4D1D-45FC-9F42-CB84D4A6B1A1}"/>
                </c:ext>
              </c:extLst>
            </c:dLbl>
            <c:numFmt formatCode="0.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E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Sheet1!$A$2:$A$6</c:f>
              <c:strCache>
                <c:ptCount val="5"/>
                <c:pt idx="0">
                  <c:v>Inflado</c:v>
                </c:pt>
                <c:pt idx="1">
                  <c:v>Normal</c:v>
                </c:pt>
                <c:pt idx="2">
                  <c:v>Chollo</c:v>
                </c:pt>
                <c:pt idx="3">
                  <c:v>Super-Chollo</c:v>
                </c:pt>
                <c:pt idx="4">
                  <c:v>Hiper-Chollo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26.4</c:v>
                </c:pt>
                <c:pt idx="1">
                  <c:v>32.1</c:v>
                </c:pt>
                <c:pt idx="2">
                  <c:v>24.7</c:v>
                </c:pt>
                <c:pt idx="3">
                  <c:v>9.1999999999999993</c:v>
                </c:pt>
                <c:pt idx="4">
                  <c:v>7.6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D1D-45FC-9F42-CB84D4A6B1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ES"/>
        </a:p>
      </c:txPr>
    </c:legend>
    <c:plotVisOnly val="1"/>
    <c:dispBlanksAs val="span"/>
    <c:showDLblsOverMax val="1"/>
  </c:chart>
  <c:spPr>
    <a:noFill/>
    <a:ln>
      <a:noFill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5442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4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0.png"/><Relationship Id="rId4" Type="http://schemas.openxmlformats.org/officeDocument/2006/relationships/image" Target="../media/image1.png"/><Relationship Id="rId9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openxmlformats.org/officeDocument/2006/relationships/image" Target="../media/image23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.xml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41.png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42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uqnnwjgaf3t5xesuorvizo.streamlit.app" TargetMode="External"/><Relationship Id="rId5" Type="http://schemas.openxmlformats.org/officeDocument/2006/relationships/image" Target="../media/image44.png"/><Relationship Id="rId4" Type="http://schemas.openxmlformats.org/officeDocument/2006/relationships/hyperlink" Target="https://github.com/Marjimleo3/Trabajo-Fin-de-Grad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772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 DE GRADO · GRADO EN ESTADÍSTICA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64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Detección de Alojamientos Turísticos con Precio Real Inferior al Valor Predicho según Preferencias del Usuario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2461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sistema de aprendizaje automático de extremo a extremo para identificar oportunidades reales de precio en el mercado turístico andaluz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160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Mario Jiménez León</a:t>
            </a:r>
            <a:endParaRPr lang="en-US" sz="17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Tutorizado por David Orellana Martín</a:t>
            </a:r>
            <a:endParaRPr lang="en-US" sz="17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Sevilla  ·  Curso 2025/2026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5623560"/>
            <a:ext cx="420624" cy="420624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715000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608076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600200" y="5623560"/>
            <a:ext cx="420624" cy="420624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1640" y="5715000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608076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2651760" y="5623560"/>
            <a:ext cx="420624" cy="420624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0" y="5715000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423160" y="608076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3703320" y="5623560"/>
            <a:ext cx="420624" cy="420624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4760" y="5715000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474720" y="608076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900" dirty="0"/>
          </a:p>
        </p:txBody>
      </p:sp>
      <p:sp>
        <p:nvSpPr>
          <p:cNvPr id="18" name="Shape 12"/>
          <p:cNvSpPr/>
          <p:nvPr/>
        </p:nvSpPr>
        <p:spPr>
          <a:xfrm>
            <a:off x="4754880" y="5623560"/>
            <a:ext cx="420624" cy="420624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6320" y="5715000"/>
            <a:ext cx="237744" cy="23774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526280" y="608076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8363252" y="56235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 </a:t>
            </a: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github.com/Marjimleo3/Trabajo-Fin-de-Grado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  </a:t>
            </a: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uqnnwjgaf3t5xesuorvizo.streamlit.app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Índice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5880" y="136245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Motivación y objetivos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325880" y="1709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problema y alcance del trabajo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1945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25880" y="213969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325880" y="24871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Recopilación, limpieza e ingeniería de características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97180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25880" y="291693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 y resultados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325880" y="326440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modelos de regresión y su evaluación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74904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749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25880" y="369417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 de chollos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325880" y="404164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determinista y distribución obtenida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4526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325880" y="447141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325880" y="481888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Arquitectura, flujo de uso y despliegue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530352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5303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325880" y="524865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y trabajo futuro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325880" y="55961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Aportaciones principales y líneas de continuación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 · INTRODUCCIÓN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Motivación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600200"/>
            <a:ext cx="64922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turismo es un pilar de la economía española y Andalucía destaca por su patrimonio y la diversidad de su oferta de alojamiento.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plataformas de reserva online (OTA) aplican precio dinámico: la tarifa fluctúa según la demanda, la estacionalidad y la antelación de la reserva.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complejidad dificulta saber si el precio mostrado en pantalla es realmente competitivo.</a:t>
            </a:r>
            <a:endParaRPr lang="en-US" sz="14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 oportunidades de forma sistemática escapa a la búsqueda manual, pero es abordable con aprendizaje automático.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7406640" y="1600200"/>
            <a:ext cx="4206240" cy="1371600"/>
          </a:xfrm>
          <a:prstGeom prst="roundRect">
            <a:avLst>
              <a:gd name="adj" fmla="val 533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543800" y="1709928"/>
            <a:ext cx="393192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B85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85M+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543800" y="2450592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turistas internacionales recibidos por España en 2023 (INE)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406640" y="3804248"/>
            <a:ext cx="4206240" cy="1828801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3937505"/>
            <a:ext cx="457200" cy="35126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635240" y="4380206"/>
            <a:ext cx="3749040" cy="1334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b="1" i="1" dirty="0">
                <a:solidFill>
                  <a:srgbClr val="D9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«Chollo»: </a:t>
            </a:r>
            <a:r>
              <a:rPr lang="en-US" sz="135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un alojamiento cuyo precio se sitúa notablemente por debajo de lo esperado según sus características objetivas (ubicación, estrellas, valoraciones, servicios…).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 · INTRODUCCIÓN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1732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141732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general: </a:t>
            </a: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diseñar, implementar y evaluar un sistema integral capaz de detectar, en Andalucía, alojamientos turísticos con precio real inferior al valor predicho.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548640" y="2606040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2706624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34440" y="2578608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Pipeline de extracción de datos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1234440" y="286207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provincias andaluzas: precio, tipo, estrellas, valoración, servicios, coordenadas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390448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" y="4005072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34440" y="3877056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Preprocesamiento y limpieza robusta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1234440" y="41605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Nulos, valores atípicos, extracción de servicios y variables derivadas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5202936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" y="5303520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234440" y="517550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Entrenar y comparar 4 modelos de regresión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1234440" y="545896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del mejor mediante validación cruzada y conjunto de prueba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6172200" y="2606040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72784" y="2706624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858000" y="2578608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Regla determinista de categorización</a:t>
            </a:r>
            <a:endParaRPr lang="en-US" sz="1450" dirty="0"/>
          </a:p>
        </p:txBody>
      </p:sp>
      <p:sp>
        <p:nvSpPr>
          <p:cNvPr id="25" name="Text 18"/>
          <p:cNvSpPr/>
          <p:nvPr/>
        </p:nvSpPr>
        <p:spPr>
          <a:xfrm>
            <a:off x="6858000" y="286207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del cociente entre precio real y precio predicho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6172200" y="390448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72784" y="4005072"/>
            <a:ext cx="256032" cy="256032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858000" y="3877056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Aplicación web interactiva end-to-end</a:t>
            </a:r>
            <a:endParaRPr lang="en-US" sz="1450" dirty="0"/>
          </a:p>
        </p:txBody>
      </p:sp>
      <p:sp>
        <p:nvSpPr>
          <p:cNvPr id="29" name="Text 21"/>
          <p:cNvSpPr/>
          <p:nvPr/>
        </p:nvSpPr>
        <p:spPr>
          <a:xfrm>
            <a:off x="6858000" y="41605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Preferencias del usuario → extracción → predicción → resultados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 · INTRODUCCIÓN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 y limitaciones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63040"/>
            <a:ext cx="5394960" cy="3005443"/>
          </a:xfrm>
          <a:prstGeom prst="roundRect">
            <a:avLst>
              <a:gd name="adj" fmla="val 1600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1847088"/>
            <a:ext cx="283464" cy="2834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17556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822960" y="2423160"/>
            <a:ext cx="48920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provincias andaluzas: Almería, Cádiz, Córdoba, Granada, Huelva, Jaén, Málaga y Sevilla.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Horizonte de 365 días de precios por alojamiento, para maximizar la cobertura del mercado.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objetivo es predecir el precio de un alojamiento en una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245352" y="1463040"/>
            <a:ext cx="5394960" cy="3447288"/>
          </a:xfrm>
          <a:prstGeom prst="roundRect">
            <a:avLst>
              <a:gd name="adj" fmla="val 1600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519672" y="1737360"/>
            <a:ext cx="502920" cy="502920"/>
          </a:xfrm>
          <a:prstGeom prst="ellipse">
            <a:avLst/>
          </a:prstGeom>
          <a:solidFill>
            <a:srgbClr val="B8563A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847088"/>
            <a:ext cx="283464" cy="28346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59752" y="175564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Limitaciones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6519672" y="2423160"/>
            <a:ext cx="48920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alojamiento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aparecer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300" i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300" i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partición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fila,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alojamiento-fecha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): las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resultar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ligeramente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optimistas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0,026% de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(674 de 2.603.076) con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días_restantes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-1,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documentado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prudencia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la plataforma de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se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explícitamente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Se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Booking.com.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del sistema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7474" y="2331720"/>
            <a:ext cx="1572768" cy="2103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347826" y="2496312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8410" y="2596896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90626" y="3108960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(Selenium + Playwright)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2390242" y="3154680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2614270" y="2331720"/>
            <a:ext cx="1572768" cy="2103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144622" y="2496312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5206" y="2596896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687422" y="3108960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Preprocesamiento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4187038" y="3154680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4411066" y="2331720"/>
            <a:ext cx="1572768" cy="2103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941418" y="2496312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2002" y="2596896"/>
            <a:ext cx="310896" cy="31089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484218" y="3108960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5983834" y="3154680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17"/>
          <p:cNvSpPr/>
          <p:nvPr/>
        </p:nvSpPr>
        <p:spPr>
          <a:xfrm>
            <a:off x="6207862" y="2331720"/>
            <a:ext cx="1572768" cy="2103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738214" y="2496312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38798" y="2596896"/>
            <a:ext cx="310896" cy="31089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6281014" y="3108960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 modelos + CV)</a:t>
            </a:r>
            <a:endParaRPr lang="en-US" sz="1150" dirty="0"/>
          </a:p>
        </p:txBody>
      </p:sp>
      <p:sp>
        <p:nvSpPr>
          <p:cNvPr id="27" name="Text 20"/>
          <p:cNvSpPr/>
          <p:nvPr/>
        </p:nvSpPr>
        <p:spPr>
          <a:xfrm>
            <a:off x="7780630" y="3154680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1"/>
          <p:cNvSpPr/>
          <p:nvPr/>
        </p:nvSpPr>
        <p:spPr>
          <a:xfrm>
            <a:off x="8004658" y="2331720"/>
            <a:ext cx="1572768" cy="2103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8535010" y="2496312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35594" y="2596896"/>
            <a:ext cx="310896" cy="310896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8077810" y="3108960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determinista</a:t>
            </a:r>
            <a:endParaRPr lang="en-US" sz="1150" dirty="0"/>
          </a:p>
        </p:txBody>
      </p:sp>
      <p:sp>
        <p:nvSpPr>
          <p:cNvPr id="32" name="Text 24"/>
          <p:cNvSpPr/>
          <p:nvPr/>
        </p:nvSpPr>
        <p:spPr>
          <a:xfrm>
            <a:off x="9577426" y="3154680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3" name="Shape 25"/>
          <p:cNvSpPr/>
          <p:nvPr/>
        </p:nvSpPr>
        <p:spPr>
          <a:xfrm>
            <a:off x="9801454" y="2331720"/>
            <a:ext cx="1572768" cy="2103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10331806" y="2496312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2390" y="2596896"/>
            <a:ext cx="310896" cy="310896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9874606" y="3108960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(Streamlit)</a:t>
            </a:r>
            <a:endParaRPr lang="en-US" sz="1150" dirty="0"/>
          </a:p>
        </p:txBody>
      </p:sp>
      <p:sp>
        <p:nvSpPr>
          <p:cNvPr id="37" name="Text 28"/>
          <p:cNvSpPr/>
          <p:nvPr/>
        </p:nvSpPr>
        <p:spPr>
          <a:xfrm>
            <a:off x="1280160" y="470916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único sistema reproducible: los codificadores, el escalador y el modelo comparten exactamente el mismo espacio de características entre entrenamiento y producción.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Recopilación de datos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6304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1719072"/>
            <a:ext cx="475488" cy="475488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1828800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44752" y="1737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1 — Selenium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822960" y="2331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general de resultados por provincia: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822960" y="2651760"/>
            <a:ext cx="4892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Localización, título y URL de la ficha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Valoración media y número de valoraciones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alojamiento y categoría por estrellas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245352" y="146304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19672" y="1719072"/>
            <a:ext cx="475488" cy="475488"/>
          </a:xfrm>
          <a:prstGeom prst="ellipse">
            <a:avLst/>
          </a:prstGeom>
          <a:solidFill>
            <a:srgbClr val="B8563A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1828800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141464" y="1737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2 — Playwright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519672" y="2331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 la API interna (GraphQL) de la plataforma: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519672" y="2651760"/>
            <a:ext cx="4892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 y coordenadas GPS del alojamiento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disponibles y tamaño de la habitación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de precios diarios (horizonte de 365 días)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548640" y="484632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04672" y="5138928"/>
            <a:ext cx="502920" cy="502920"/>
          </a:xfrm>
          <a:prstGeom prst="ellipse">
            <a:avLst/>
          </a:prstGeom>
          <a:solidFill>
            <a:srgbClr val="D99A3D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5266944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508760" y="4956048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D9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Geocodificación de los centros urbanos</a:t>
            </a:r>
            <a:r>
              <a:rPr lang="en-US" sz="12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coordenadas obtenidas mediante la API de Nominatim (OpenStreetMap); la distancia de cada alojamiento se calcula con la fórmula del haversine, vectorizada sobre todo el conjunto de datos.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Tratamiento de valores nulos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316736" y="1508070"/>
            <a:ext cx="6591600" cy="1954274"/>
          </a:xfrm>
          <a:prstGeom prst="roundRect">
            <a:avLst>
              <a:gd name="adj" fmla="val 1702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1572769" y="173667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8C4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Eliminación de registros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1572768" y="2148150"/>
            <a:ext cx="6079207" cy="11258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Coordenadas GPS ausentes: 2,2% de los registros eliminados (imprescindibles para calcular la distancia al centro urbano).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con localidad codificada como '9': error de geocodificación detectado manualmente.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3752491" y="3674364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Imputación por variable (Tabla 6.1)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0266171"/>
              </p:ext>
            </p:extLst>
          </p:nvPr>
        </p:nvGraphicFramePr>
        <p:xfrm>
          <a:off x="3752491" y="4040123"/>
          <a:ext cx="6592236" cy="1954274"/>
        </p:xfrm>
        <a:graphic>
          <a:graphicData uri="http://schemas.openxmlformats.org/drawingml/2006/table">
            <a:tbl>
              <a:tblPr/>
              <a:tblGrid>
                <a:gridCol w="23781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871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918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imputado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Justificación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codigo_postal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 usa en el 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'Otro'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Categoría residual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estrellas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 (no hotel)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n_valoraciones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Alojamiento nuevo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valoracion_clientes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outliers extremos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tamaño_habitacion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Robusta ante extremos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42131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Detección de valores atípicos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143" y="608625"/>
            <a:ext cx="351495" cy="35149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271016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de Tukey 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(precio) y </a:t>
            </a: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umbrales fijos de dominio 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(tamaño y distancia), aplicados solo donde un valor extremo indica un error de captura o un segmento ajeno al estudio.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615224"/>
              </p:ext>
            </p:extLst>
          </p:nvPr>
        </p:nvGraphicFramePr>
        <p:xfrm>
          <a:off x="687228" y="2473154"/>
          <a:ext cx="4040613" cy="1539240"/>
        </p:xfrm>
        <a:graphic>
          <a:graphicData uri="http://schemas.openxmlformats.org/drawingml/2006/table">
            <a:tbl>
              <a:tblPr/>
              <a:tblGrid>
                <a:gridCol w="20557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42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06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Registros eliminados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del total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&gt; 468,5€ (Tukey)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245.170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Tamaño &gt; 150 m²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191.738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Distancia &gt; 15 km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eliminado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520.448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87228" y="4341165"/>
            <a:ext cx="4040612" cy="704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categoría «Otro» (fincas, casas rurales) concentraba tamaños hasta 10.000 m². El umbral de 150 m² conserva hoteles, apartamentos y estudios con un coste de solo el 7% de registros.</a:t>
            </a:r>
            <a:endParaRPr lang="en-US" sz="1200" dirty="0"/>
          </a:p>
        </p:txBody>
      </p:sp>
      <p:pic>
        <p:nvPicPr>
          <p:cNvPr id="11" name="Image 1" descr="C:/Users/usuario/OneDrive/UNI_Mario5/TFG/TFG_Chollos/images/boxplot_prec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9559" y="1799959"/>
            <a:ext cx="2743200" cy="1868011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569558" y="3600914"/>
            <a:ext cx="29572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por noche (umbral de Tukey: 468,5€)</a:t>
            </a:r>
            <a:endParaRPr lang="en-US" sz="1000" dirty="0"/>
          </a:p>
        </p:txBody>
      </p:sp>
      <p:pic>
        <p:nvPicPr>
          <p:cNvPr id="13" name="Image 2" descr="C:/Users/usuario/OneDrive/UNI_Mario5/TFG/TFG_Chollos/images/boxplot_tamaño_habitac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5639" y="1799959"/>
            <a:ext cx="2743200" cy="201199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709661" y="368621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 de habitación por tipo (umbral: 150m²)</a:t>
            </a:r>
            <a:endParaRPr lang="en-US" sz="1000" dirty="0"/>
          </a:p>
        </p:txBody>
      </p:sp>
      <p:pic>
        <p:nvPicPr>
          <p:cNvPr id="15" name="Image 3" descr="C:/Users/usuario/OneDrive/UNI_Mario5/TFG/TFG_Chollos/images/boxplot_distancia_centro_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9594" y="4173345"/>
            <a:ext cx="2743200" cy="1827617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5930795" y="5952114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 al centro — antes (error de geocodificación en Guadalcanal)</a:t>
            </a:r>
            <a:endParaRPr lang="en-US" sz="950" dirty="0"/>
          </a:p>
        </p:txBody>
      </p:sp>
      <p:pic>
        <p:nvPicPr>
          <p:cNvPr id="17" name="Image 4" descr="C:/Users/usuario/OneDrive/UNI_Mario5/TFG/TFG_Chollos/images/boxplot_distancia_centro_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29880" y="4173345"/>
            <a:ext cx="2743200" cy="1827617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8961687" y="5985172"/>
            <a:ext cx="2506058" cy="518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 al centro — después (umbral definitivo: 15km)</a:t>
            </a:r>
            <a:endParaRPr lang="en-US" sz="950" dirty="0"/>
          </a:p>
        </p:txBody>
      </p:sp>
      <p:pic>
        <p:nvPicPr>
          <p:cNvPr id="20" name="Gráfico 19" descr="Flechas de cheurón con relleno sólido">
            <a:extLst>
              <a:ext uri="{FF2B5EF4-FFF2-40B4-BE49-F238E27FC236}">
                <a16:creationId xmlns:a16="http://schemas.microsoft.com/office/drawing/2014/main" id="{67C9516D-B195-8BDC-2581-2DC136E05BB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278697" y="4919513"/>
            <a:ext cx="335280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Ingeniería de características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servicios binarios extraídos por búsqueda de subcadenas en los campos de texto (API)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187452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368296" y="187452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368296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 gratis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187952" y="187452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187952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Gimnasio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244144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244144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2368296" y="244144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368296" y="244144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Piscina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187952" y="244144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187952" y="244144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Piscina interior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008376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48640" y="300837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Piscina infinita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2368296" y="3008376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368296" y="300837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Aire acondic.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187952" y="3008376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187952" y="300837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Calefacción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48640" y="3575304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8640" y="357530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Vistas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2368296" y="3575304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2368296" y="357530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Terraza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187952" y="3575304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187952" y="357530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Baño privado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7086600" y="1417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temporales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7086600" y="1828800"/>
            <a:ext cx="4297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es_finde</a:t>
            </a:r>
            <a:r>
              <a:rPr lang="en-US" sz="1200" b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viernes o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sábado</a:t>
            </a:r>
            <a:endParaRPr lang="en-US" sz="1200" dirty="0">
              <a:solidFill>
                <a:srgbClr val="7A6F6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es_domingo</a:t>
            </a:r>
            <a:r>
              <a:rPr lang="en-US" sz="1200" b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comportamiento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diferenciado</a:t>
            </a:r>
            <a:endParaRPr lang="en-US" sz="1200" dirty="0">
              <a:solidFill>
                <a:srgbClr val="7A6F6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dias_restantes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antelación de la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200" dirty="0">
              <a:solidFill>
                <a:srgbClr val="7A6F6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mes_disponible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</a:t>
            </a:r>
            <a:endParaRPr lang="en-US" sz="1200" dirty="0">
              <a:solidFill>
                <a:srgbClr val="7A6F6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dia_disponible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día del mes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551383" y="4368849"/>
            <a:ext cx="11091672" cy="1412144"/>
          </a:xfrm>
          <a:prstGeom prst="roundRect">
            <a:avLst>
              <a:gd name="adj" fmla="val 410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807415" y="4551729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Codificación de variables categóricas</a:t>
            </a:r>
            <a:endParaRPr lang="en-US" sz="1350" dirty="0"/>
          </a:p>
        </p:txBody>
      </p:sp>
      <p:sp>
        <p:nvSpPr>
          <p:cNvPr id="37" name="Text 34"/>
          <p:cNvSpPr/>
          <p:nvPr/>
        </p:nvSpPr>
        <p:spPr>
          <a:xfrm>
            <a:off x="807415" y="4963209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tipo_Hotel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(one-hot binario, 1 si es hotel)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b="1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localidad</a:t>
            </a: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</a:t>
            </a: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(ordinal, para no disparar la dimensionalidad).</a:t>
            </a:r>
            <a:r>
              <a:rPr lang="en-US" sz="125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Viable porque el modelo ganador es un ensemble de árboles: puede aislar cualquier localidad mediante particiones binarias sucesivas, sin depender de un orden real.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final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63040"/>
            <a:ext cx="5202936" cy="1463040"/>
          </a:xfrm>
          <a:prstGeom prst="roundRect">
            <a:avLst>
              <a:gd name="adj" fmla="val 5000"/>
            </a:avLst>
          </a:prstGeom>
          <a:solidFill>
            <a:schemeClr val="bg1">
              <a:lumMod val="85000"/>
            </a:schemeClr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9" name="Text 6"/>
          <p:cNvSpPr/>
          <p:nvPr/>
        </p:nvSpPr>
        <p:spPr>
          <a:xfrm>
            <a:off x="777240" y="1591056"/>
            <a:ext cx="4745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crudo — Málaga (1 provincia)</a:t>
            </a:r>
            <a:endParaRPr lang="en-US" sz="1250" dirty="0">
              <a:solidFill>
                <a:srgbClr val="C00000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640080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8.871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685800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313432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2359152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3986784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279,7 MB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4032504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disco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751576" y="19659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6437376" y="1463040"/>
            <a:ext cx="5202936" cy="1463040"/>
          </a:xfrm>
          <a:prstGeom prst="roundRect">
            <a:avLst>
              <a:gd name="adj" fmla="val 5000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665976" y="1591056"/>
            <a:ext cx="4745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Parquet final — 8 provincias</a:t>
            </a:r>
            <a:endParaRPr lang="en-US" sz="125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9" name="Text 16"/>
          <p:cNvSpPr/>
          <p:nvPr/>
        </p:nvSpPr>
        <p:spPr>
          <a:xfrm>
            <a:off x="6528816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2,60M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6574536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8202168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8247888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9875520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11,2 MB</a:t>
            </a:r>
            <a:endParaRPr lang="en-US" sz="1900" dirty="0"/>
          </a:p>
        </p:txBody>
      </p:sp>
      <p:sp>
        <p:nvSpPr>
          <p:cNvPr id="24" name="Text 21"/>
          <p:cNvSpPr/>
          <p:nvPr/>
        </p:nvSpPr>
        <p:spPr>
          <a:xfrm>
            <a:off x="9921240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disco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084168" y="3063240"/>
            <a:ext cx="4023360" cy="438912"/>
          </a:xfrm>
          <a:prstGeom prst="roundRect">
            <a:avLst>
              <a:gd name="adj" fmla="val 50000"/>
            </a:avLst>
          </a:prstGeom>
          <a:solidFill>
            <a:srgbClr val="D99A3D"/>
          </a:solidFill>
          <a:ln/>
        </p:spPr>
      </p:sp>
      <p:sp>
        <p:nvSpPr>
          <p:cNvPr id="26" name="Text 23"/>
          <p:cNvSpPr/>
          <p:nvPr/>
        </p:nvSpPr>
        <p:spPr>
          <a:xfrm>
            <a:off x="4084168" y="3063240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1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25× menos peso  ·  312× más filas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1442765"/>
              </p:ext>
            </p:extLst>
          </p:nvPr>
        </p:nvGraphicFramePr>
        <p:xfrm>
          <a:off x="548640" y="4142232"/>
          <a:ext cx="6858000" cy="1600200"/>
        </p:xfrm>
        <a:graphic>
          <a:graphicData uri="http://schemas.openxmlformats.org/drawingml/2006/table">
            <a:tbl>
              <a:tblPr/>
              <a:tblGrid>
                <a:gridCol w="25237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8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89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66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95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(€/noche)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167,6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468,0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Valoración (0-10)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Estrellas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Tamaño habitación (m²)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Distancia centro (km)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" name="Shape 24"/>
          <p:cNvSpPr/>
          <p:nvPr/>
        </p:nvSpPr>
        <p:spPr>
          <a:xfrm>
            <a:off x="7680960" y="4142232"/>
            <a:ext cx="3959352" cy="1737360"/>
          </a:xfrm>
          <a:prstGeom prst="roundRect">
            <a:avLst>
              <a:gd name="adj" fmla="val 3137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29" name="Text 25"/>
          <p:cNvSpPr/>
          <p:nvPr/>
        </p:nvSpPr>
        <p:spPr>
          <a:xfrm>
            <a:off x="7936992" y="427939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 por provincia</a:t>
            </a:r>
            <a:endParaRPr lang="en-US" sz="1250" dirty="0"/>
          </a:p>
        </p:txBody>
      </p:sp>
      <p:sp>
        <p:nvSpPr>
          <p:cNvPr id="30" name="Text 26"/>
          <p:cNvSpPr/>
          <p:nvPr/>
        </p:nvSpPr>
        <p:spPr>
          <a:xfrm>
            <a:off x="7936992" y="4627036"/>
            <a:ext cx="3474720" cy="1115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Málaga  37,7%</a:t>
            </a:r>
            <a:endParaRPr lang="en-US" sz="11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Cádiz  15,8%</a:t>
            </a:r>
            <a:endParaRPr lang="en-US" sz="11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Sevilla  13,5%</a:t>
            </a:r>
            <a:endParaRPr lang="en-US" sz="11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Granada  12,9%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Córdoba, Almería, Jaén, Huelva  19,9%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de correlaciones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pic>
        <p:nvPicPr>
          <p:cNvPr id="8" name="Image 1" descr="C:/Users/usuario/OneDrive/UNI_Mario5/TFG/TFG_Chollos/images/correlacion_lin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265" y="1136719"/>
            <a:ext cx="6654856" cy="534965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987396" y="1627632"/>
            <a:ext cx="4655659" cy="1676975"/>
          </a:xfrm>
          <a:prstGeom prst="roundRect">
            <a:avLst>
              <a:gd name="adj" fmla="val 3721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7150736" y="1792224"/>
            <a:ext cx="426371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variable presenta correlación lineal fuerte con el precio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7150736" y="2359152"/>
            <a:ext cx="4263719" cy="768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tamaño_habitacion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3B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0,27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1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distancia_centro_km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3B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1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estrellas · Piscina 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3B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0,15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987395" y="3880852"/>
            <a:ext cx="4655659" cy="1386092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13" name="Text 9"/>
          <p:cNvSpPr/>
          <p:nvPr/>
        </p:nvSpPr>
        <p:spPr>
          <a:xfrm>
            <a:off x="7150735" y="4063732"/>
            <a:ext cx="4263719" cy="1018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D9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relaciones son fundamentalmente no lineales.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Esto explica la gran diferencia entre la regresión lineal (R² = 0,14) y el bosque aleatorio (R² = 0,87), capaz de capturarlas.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 Y RESULTADOS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Modelos de regresión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50876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17373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1865376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1691640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Lineal Múltiple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822960" y="23774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paramétrico base (OLS); asume una relación lineal entre variables y precio.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245352" y="150876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73952" y="1737360"/>
            <a:ext cx="502920" cy="502920"/>
          </a:xfrm>
          <a:prstGeom prst="ellipse">
            <a:avLst/>
          </a:prstGeom>
          <a:solidFill>
            <a:srgbClr val="B8563A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1968" y="1865376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14032" y="1691640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Árbol de Decisión (CART)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6519672" y="23774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Particiona el espacio de características de forma recursiva en regiones homogéneas.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356616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77240" y="3794760"/>
            <a:ext cx="502920" cy="502920"/>
          </a:xfrm>
          <a:prstGeom prst="ellipse">
            <a:avLst/>
          </a:prstGeom>
          <a:solidFill>
            <a:srgbClr val="2A4F55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" y="3922776"/>
            <a:ext cx="256032" cy="25603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17320" y="3749040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Bosque Aleatorio (Random Forest)</a:t>
            </a:r>
            <a:endParaRPr lang="en-US" sz="1450" dirty="0"/>
          </a:p>
        </p:txBody>
      </p:sp>
      <p:sp>
        <p:nvSpPr>
          <p:cNvPr id="22" name="Text 16"/>
          <p:cNvSpPr/>
          <p:nvPr/>
        </p:nvSpPr>
        <p:spPr>
          <a:xfrm>
            <a:off x="822960" y="44348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de árboles vía bagging y selección aleatoria de variables.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6245352" y="356616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473952" y="3794760"/>
            <a:ext cx="502920" cy="502920"/>
          </a:xfrm>
          <a:prstGeom prst="ellipse">
            <a:avLst/>
          </a:prstGeom>
          <a:solidFill>
            <a:srgbClr val="8C4029"/>
          </a:solidFill>
          <a:ln/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1968" y="3922776"/>
            <a:ext cx="256032" cy="25603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114032" y="3749040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(Gradient Boosting)</a:t>
            </a:r>
            <a:endParaRPr lang="en-US" sz="1450" dirty="0"/>
          </a:p>
        </p:txBody>
      </p:sp>
      <p:sp>
        <p:nvSpPr>
          <p:cNvPr id="27" name="Text 20"/>
          <p:cNvSpPr/>
          <p:nvPr/>
        </p:nvSpPr>
        <p:spPr>
          <a:xfrm>
            <a:off x="6519672" y="44348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 aditiva e iterativa: cada árbol corrige los errores del anterior.</a:t>
            </a:r>
            <a:endParaRPr lang="en-US" sz="1150" dirty="0"/>
          </a:p>
        </p:txBody>
      </p:sp>
      <p:sp>
        <p:nvSpPr>
          <p:cNvPr id="28" name="Text 21"/>
          <p:cNvSpPr/>
          <p:nvPr/>
        </p:nvSpPr>
        <p:spPr>
          <a:xfrm>
            <a:off x="548640" y="5943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en rejilla con validación cruzada de 3 pliegues (GridSearchCV, scoring = neg_mean_squared_error)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 Y RESULTADOS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de los modelos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6502264"/>
              </p:ext>
            </p:extLst>
          </p:nvPr>
        </p:nvGraphicFramePr>
        <p:xfrm>
          <a:off x="548640" y="1554480"/>
          <a:ext cx="6949439" cy="2468880"/>
        </p:xfrm>
        <a:graphic>
          <a:graphicData uri="http://schemas.openxmlformats.org/drawingml/2006/table">
            <a:tbl>
              <a:tblPr/>
              <a:tblGrid>
                <a:gridCol w="29511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27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2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27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(€)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(€)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Regresión lineal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0,1438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63,33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84,04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63,82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Árbol de decisión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8C40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Bosque aleatorio  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C40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C40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C40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37947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sobre el conjunto de validación (Tabla 7.3)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548640" y="4251960"/>
            <a:ext cx="6949440" cy="10515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04672" y="4434840"/>
            <a:ext cx="642585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Sobre el conjunto de prueba (nunca usado en el entrenamiento): 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D9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0,8676   MAE = 19,43€   RMSE = 33,05€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754111" y="1554480"/>
            <a:ext cx="3749040" cy="1417320"/>
          </a:xfrm>
          <a:prstGeom prst="roundRect">
            <a:avLst>
              <a:gd name="adj" fmla="val 5161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7891271" y="1664208"/>
            <a:ext cx="347472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B6E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0,87</a:t>
            </a:r>
            <a:endParaRPr lang="en-US" sz="3000" dirty="0"/>
          </a:p>
        </p:txBody>
      </p:sp>
      <p:sp>
        <p:nvSpPr>
          <p:cNvPr id="14" name="Text 10"/>
          <p:cNvSpPr/>
          <p:nvPr/>
        </p:nvSpPr>
        <p:spPr>
          <a:xfrm>
            <a:off x="7891271" y="2433218"/>
            <a:ext cx="3474720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— proporción de varianza del precio explicada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7754111" y="3154680"/>
            <a:ext cx="3749040" cy="1417320"/>
          </a:xfrm>
          <a:prstGeom prst="roundRect">
            <a:avLst>
              <a:gd name="adj" fmla="val 5161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891271" y="3264408"/>
            <a:ext cx="347472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B85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19,4€</a:t>
            </a:r>
            <a:endParaRPr lang="en-US" sz="3000" dirty="0"/>
          </a:p>
        </p:txBody>
      </p:sp>
      <p:sp>
        <p:nvSpPr>
          <p:cNvPr id="17" name="Text 13"/>
          <p:cNvSpPr/>
          <p:nvPr/>
        </p:nvSpPr>
        <p:spPr>
          <a:xfrm>
            <a:off x="7891271" y="4033418"/>
            <a:ext cx="3474720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absoluto medio (MAE) por noche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7754111" y="470916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bosque aleatorio gana con amplia diferencia, sin indicios de sobreajuste entre validación y prueba (diferencia &lt; 0,001 en R²).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 Y RESULTADOS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Interpretabilidad del modelo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pic>
        <p:nvPicPr>
          <p:cNvPr id="8" name="Image 1" descr="C:/Users/usuario/OneDrive/UNI_Mario5/TFG/TFG_Chollos/images/arbol_decis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508760"/>
            <a:ext cx="6172200" cy="310575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" y="4687669"/>
            <a:ext cx="6172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Árbol de decisión — primeros 4 niveles. La raíz es tamaño_habitacion (≤ 75,5m²); el segundo nivel, provincia.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7086600" y="1508760"/>
            <a:ext cx="45564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Importancia de variables (bosque aleatorio)</a:t>
            </a:r>
            <a:endParaRPr lang="en-US" sz="1300" dirty="0"/>
          </a:p>
        </p:txBody>
      </p:sp>
      <p:graphicFrame>
        <p:nvGraphicFramePr>
          <p:cNvPr id="11" name="Chart 0"/>
          <p:cNvGraphicFramePr/>
          <p:nvPr/>
        </p:nvGraphicFramePr>
        <p:xfrm>
          <a:off x="7086600" y="1874520"/>
          <a:ext cx="4556455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 DE CHOLLOS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Regla determinista de categorización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17320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04672" y="141732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C4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precio real / precio predicho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r &lt; 1 → potencial chollo          r &gt; 1 → alojamiento inflado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0664776"/>
              </p:ext>
            </p:extLst>
          </p:nvPr>
        </p:nvGraphicFramePr>
        <p:xfrm>
          <a:off x="548640" y="2423160"/>
          <a:ext cx="11091672" cy="1676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94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Etiqueta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Interpretación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Hiper-chollo</a:t>
                      </a:r>
                      <a:endParaRPr lang="en-US" sz="125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≤ 0,75</a:t>
                      </a:r>
                      <a:endParaRPr lang="en-US" sz="125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≥25% por debajo del precio justo</a:t>
                      </a:r>
                      <a:endParaRPr lang="en-US" sz="11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Super-chollo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0,75 &lt; r &lt; 0,85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 15% y 25% por debajo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Chollo</a:t>
                      </a:r>
                      <a:endParaRPr lang="en-US" sz="125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0,85 ≤ r &lt; 0,97</a:t>
                      </a:r>
                      <a:endParaRPr lang="en-US" sz="125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 3% y 15% por debajo</a:t>
                      </a:r>
                      <a:endParaRPr lang="en-US" sz="11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0,97 ≤ r ≤ 1,03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dentro del ±3%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Inflado</a:t>
                      </a:r>
                      <a:endParaRPr lang="en-US" sz="125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&gt; 1,03</a:t>
                      </a:r>
                      <a:endParaRPr lang="en-US" sz="125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&gt; 3% por encima del justo</a:t>
                      </a: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48640" y="55321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una regla determinista y no un clasificador ML?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categoría de chollo no es una propiedad observable del alojamiento, sino una relación entre precio real y predicho: entrenar un clasificador añadiría una capa de aprendizaje redundante sobre información ya contenida en el ratio r, y restaría interpretabilidad y reproducibilidad al sistema.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 DE CHOLLOS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Distribución en el conjunto de prueba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graphicFrame>
        <p:nvGraphicFramePr>
          <p:cNvPr id="8" name="Chart 0"/>
          <p:cNvGraphicFramePr/>
          <p:nvPr>
            <p:extLst>
              <p:ext uri="{D42A27DB-BD31-4B8C-83A1-F6EECF244321}">
                <p14:modId xmlns:p14="http://schemas.microsoft.com/office/powerpoint/2010/main" val="3073266338"/>
              </p:ext>
            </p:extLst>
          </p:nvPr>
        </p:nvGraphicFramePr>
        <p:xfrm>
          <a:off x="548640" y="1554480"/>
          <a:ext cx="539496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Shape 5"/>
          <p:cNvSpPr/>
          <p:nvPr/>
        </p:nvSpPr>
        <p:spPr>
          <a:xfrm>
            <a:off x="6492240" y="155448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6629400" y="1664208"/>
            <a:ext cx="484632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B6E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41,5%</a:t>
            </a:r>
            <a:endParaRPr lang="en-US" sz="3000" dirty="0"/>
          </a:p>
        </p:txBody>
      </p:sp>
      <p:sp>
        <p:nvSpPr>
          <p:cNvPr id="11" name="Text 7"/>
          <p:cNvSpPr/>
          <p:nvPr/>
        </p:nvSpPr>
        <p:spPr>
          <a:xfrm>
            <a:off x="6629400" y="2574950"/>
            <a:ext cx="4983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alojamientos del conjunto de </a:t>
            </a:r>
            <a:r>
              <a:rPr lang="en-US" sz="105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</a:t>
            </a: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constituyen</a:t>
            </a: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 chollo (Chollo + Super + Hiper)</a:t>
            </a:r>
            <a:endParaRPr lang="en-US" sz="10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3429000"/>
          <a:ext cx="5120640" cy="16002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Categoría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Hiper-chollo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Super-chollo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35.923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Chollo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96.444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125.338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103.082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Text 8"/>
          <p:cNvSpPr/>
          <p:nvPr/>
        </p:nvSpPr>
        <p:spPr>
          <a:xfrm>
            <a:off x="6787804" y="184708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390.462 registros del conjunto de </a:t>
            </a:r>
            <a:r>
              <a:rPr lang="en-US" sz="1050" i="1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</a:t>
            </a:r>
            <a:r>
              <a:rPr lang="en-US" sz="105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50" i="1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de la aplicación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55448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1810512"/>
            <a:ext cx="530352" cy="530352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193852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1828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Página principal (Home)</a:t>
            </a:r>
            <a:endParaRPr lang="en-US" sz="1650" dirty="0"/>
          </a:p>
        </p:txBody>
      </p:sp>
      <p:sp>
        <p:nvSpPr>
          <p:cNvPr id="12" name="Text 8"/>
          <p:cNvSpPr/>
          <p:nvPr/>
        </p:nvSpPr>
        <p:spPr>
          <a:xfrm>
            <a:off x="822960" y="2514600"/>
            <a:ext cx="4892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coroplético interactivo de Andalucía (Plotly): número de alojamientos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puntos con la ubicación GPS de cada alojamiento único del histórico.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Gráficas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algunas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variables (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habitación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estrellas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45352" y="155448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519672" y="1810512"/>
            <a:ext cx="530352" cy="530352"/>
          </a:xfrm>
          <a:prstGeom prst="ellipse">
            <a:avLst/>
          </a:prstGeom>
          <a:solidFill>
            <a:srgbClr val="B8563A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7688" y="193852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205472" y="1828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Página de búsqueda</a:t>
            </a:r>
            <a:endParaRPr lang="en-US" sz="1650" dirty="0"/>
          </a:p>
        </p:txBody>
      </p:sp>
      <p:sp>
        <p:nvSpPr>
          <p:cNvPr id="17" name="Text 12"/>
          <p:cNvSpPr/>
          <p:nvPr/>
        </p:nvSpPr>
        <p:spPr>
          <a:xfrm>
            <a:off x="6519672" y="2514600"/>
            <a:ext cx="4892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de preferencias: destino, fechas, tipo de alojamiento, hasta 16 filtros de servicios.</a:t>
            </a:r>
            <a:endParaRPr lang="en-US" sz="1250" dirty="0"/>
          </a:p>
          <a:p>
            <a:pPr marL="342900" indent="-3429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deslizante de 3 niveles de exigencia para la categorización de chollo.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en tabla interactiva, ordenados por grado de ahorro, con gráfico de tarta.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Flujo de trabajo de la búsqueda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8132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1554480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00200" y="144475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de preferencias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035040" y="146304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Destino, fechas, tipo, servicios y nivel de exigencia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225856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</p:sp>
      <p:sp>
        <p:nvSpPr>
          <p:cNvPr id="14" name="Text 10"/>
          <p:cNvSpPr/>
          <p:nvPr/>
        </p:nvSpPr>
        <p:spPr>
          <a:xfrm>
            <a:off x="548640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2331720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00200" y="22219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 en tiempo real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6035040" y="224028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25 alojamientos por localidad seleccionada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" y="303580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</p:sp>
      <p:sp>
        <p:nvSpPr>
          <p:cNvPr id="19" name="Text 14"/>
          <p:cNvSpPr/>
          <p:nvPr/>
        </p:nvSpPr>
        <p:spPr>
          <a:xfrm>
            <a:off x="54864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3108960"/>
            <a:ext cx="310896" cy="31089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600200" y="29992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Preprocesamiento</a:t>
            </a:r>
            <a:endParaRPr lang="en-US" sz="1350" dirty="0"/>
          </a:p>
        </p:txBody>
      </p:sp>
      <p:sp>
        <p:nvSpPr>
          <p:cNvPr id="22" name="Text 16"/>
          <p:cNvSpPr/>
          <p:nvPr/>
        </p:nvSpPr>
        <p:spPr>
          <a:xfrm>
            <a:off x="6035040" y="301752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secuencia de transformaciones que en el entrenamiento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48640" y="381304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</p:sp>
      <p:sp>
        <p:nvSpPr>
          <p:cNvPr id="24" name="Text 18"/>
          <p:cNvSpPr/>
          <p:nvPr/>
        </p:nvSpPr>
        <p:spPr>
          <a:xfrm>
            <a:off x="548640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3886200"/>
            <a:ext cx="310896" cy="31089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600200" y="37764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Codificación</a:t>
            </a:r>
            <a:endParaRPr lang="en-US" sz="1350" dirty="0"/>
          </a:p>
        </p:txBody>
      </p:sp>
      <p:sp>
        <p:nvSpPr>
          <p:cNvPr id="27" name="Text 20"/>
          <p:cNvSpPr/>
          <p:nvPr/>
        </p:nvSpPr>
        <p:spPr>
          <a:xfrm>
            <a:off x="6035040" y="379476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Encoders serializados con joblib (mismo espacio de características)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548640" y="4590288"/>
            <a:ext cx="457200" cy="457200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29" name="Text 22"/>
          <p:cNvSpPr/>
          <p:nvPr/>
        </p:nvSpPr>
        <p:spPr>
          <a:xfrm>
            <a:off x="548640" y="4590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3000" y="4663440"/>
            <a:ext cx="310896" cy="310896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600200" y="45537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y categorización</a:t>
            </a:r>
            <a:endParaRPr lang="en-US" sz="1350" dirty="0"/>
          </a:p>
        </p:txBody>
      </p:sp>
      <p:sp>
        <p:nvSpPr>
          <p:cNvPr id="32" name="Text 24"/>
          <p:cNvSpPr/>
          <p:nvPr/>
        </p:nvSpPr>
        <p:spPr>
          <a:xfrm>
            <a:off x="6035040" y="457200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podado + ratio r + umbrales del nivel elegido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548640" y="536752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</p:sp>
      <p:sp>
        <p:nvSpPr>
          <p:cNvPr id="34" name="Text 26"/>
          <p:cNvSpPr/>
          <p:nvPr/>
        </p:nvSpPr>
        <p:spPr>
          <a:xfrm>
            <a:off x="548640" y="5367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3000" y="5440680"/>
            <a:ext cx="310896" cy="310896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1600200" y="533095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de resultados</a:t>
            </a:r>
            <a:endParaRPr lang="en-US" sz="1350" dirty="0"/>
          </a:p>
        </p:txBody>
      </p:sp>
      <p:sp>
        <p:nvSpPr>
          <p:cNvPr id="37" name="Text 28"/>
          <p:cNvSpPr/>
          <p:nvPr/>
        </p:nvSpPr>
        <p:spPr>
          <a:xfrm>
            <a:off x="6035040" y="534924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ordenada por ahorro y gráfico de categorías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Optimización de memoria para el despliegue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63040"/>
            <a:ext cx="5394960" cy="2286000"/>
          </a:xfrm>
          <a:prstGeom prst="roundRect">
            <a:avLst>
              <a:gd name="adj" fmla="val 3200"/>
            </a:avLst>
          </a:prstGeom>
          <a:solidFill>
            <a:schemeClr val="bg2">
              <a:lumMod val="90000"/>
            </a:schemeClr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04672" y="162763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 err="1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</a:t>
            </a:r>
            <a:endParaRPr lang="en-US" sz="1550" dirty="0">
              <a:solidFill>
                <a:srgbClr val="C00000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804672" y="2011680"/>
            <a:ext cx="4892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El bosque aleatorio (100 árboles)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ocupa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~1,4GB </a:t>
            </a:r>
            <a:r>
              <a:rPr lang="en-US" sz="12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RAM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al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deserializarlo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encima del límite gratuito de Streamlit Community Cloud (~1GB), lo que provocaba el cierre de la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También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ocupaba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~1,3GB </a:t>
            </a:r>
            <a:r>
              <a:rPr lang="en-US" sz="12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disco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encima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límite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subida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gratuito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(100MB),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lo que era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necesaria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otra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vía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para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cargar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la Web.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45352" y="146304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01384" y="162763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 err="1">
                <a:solidFill>
                  <a:schemeClr val="accent6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Solución</a:t>
            </a:r>
            <a:endParaRPr lang="en-US" sz="155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3" name="Text 10"/>
          <p:cNvSpPr/>
          <p:nvPr/>
        </p:nvSpPr>
        <p:spPr>
          <a:xfrm>
            <a:off x="6501384" y="2011680"/>
            <a:ext cx="4892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predicción del bosque es el promedio de sus árboles: se pueden descartar árboles ya entrenados </a:t>
            </a:r>
            <a:r>
              <a:rPr lang="en-US" sz="12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sin reentrenar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Se conservan 20 de los 100 árboles: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b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~373MB </a:t>
            </a:r>
            <a:r>
              <a:rPr lang="en-US" sz="1250" b="1" dirty="0" err="1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b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RAM</a:t>
            </a:r>
            <a:r>
              <a:rPr lang="en-US" sz="1250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(&lt;1GB del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Cloud)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~59MB comprimido</a:t>
            </a:r>
            <a:r>
              <a:rPr lang="en-US" sz="1250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disco (&lt; 100MB del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GitHub).</a:t>
            </a:r>
            <a:endParaRPr lang="en-US" sz="12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355414"/>
              </p:ext>
            </p:extLst>
          </p:nvPr>
        </p:nvGraphicFramePr>
        <p:xfrm>
          <a:off x="548640" y="4526280"/>
          <a:ext cx="8138160" cy="83058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Árboles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(€)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(€)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0,8676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19,43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Podado (producción)</a:t>
                      </a:r>
                      <a:endParaRPr lang="en-US" sz="125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0,8634</a:t>
                      </a:r>
                      <a:endParaRPr lang="en-US" sz="125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19,79</a:t>
                      </a:r>
                      <a:endParaRPr lang="en-US" sz="125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33,57</a:t>
                      </a:r>
                      <a:endParaRPr lang="en-US" sz="125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Text 11"/>
          <p:cNvSpPr/>
          <p:nvPr/>
        </p:nvSpPr>
        <p:spPr>
          <a:xfrm>
            <a:off x="548640" y="553212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 mínima de rendimiento; el modelo podado sigue superando ampliamente al 2º mejor modelo (árbol de decisión, R² = 0,59).</a:t>
            </a:r>
            <a:endParaRPr lang="en-US" sz="1200" dirty="0"/>
          </a:p>
        </p:txBody>
      </p:sp>
      <p:sp>
        <p:nvSpPr>
          <p:cNvPr id="22" name="Rounded Rectangle 21"/>
          <p:cNvSpPr/>
          <p:nvPr/>
        </p:nvSpPr>
        <p:spPr>
          <a:xfrm>
            <a:off x="6245352" y="3840480"/>
            <a:ext cx="5394960" cy="566928"/>
          </a:xfrm>
          <a:prstGeom prst="roundRect">
            <a:avLst>
              <a:gd name="adj" fmla="val 12000"/>
            </a:avLst>
          </a:prstGeom>
          <a:solidFill>
            <a:srgbClr val="D9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 dirty="0">
                <a:solidFill>
                  <a:srgbClr val="241A16"/>
                </a:solidFill>
                <a:latin typeface="Calibri"/>
              </a:rPr>
              <a:t>373MB </a:t>
            </a:r>
            <a:r>
              <a:rPr sz="1250" b="1" dirty="0" err="1">
                <a:solidFill>
                  <a:srgbClr val="241A16"/>
                </a:solidFill>
                <a:latin typeface="Calibri"/>
              </a:rPr>
              <a:t>en</a:t>
            </a:r>
            <a:r>
              <a:rPr sz="1250" b="1" dirty="0">
                <a:solidFill>
                  <a:srgbClr val="241A16"/>
                </a:solidFill>
                <a:latin typeface="Calibri"/>
              </a:rPr>
              <a:t> RAM (1/4 del original)</a:t>
            </a:r>
            <a:r>
              <a:rPr lang="es-ES" sz="1250" b="1" dirty="0">
                <a:solidFill>
                  <a:srgbClr val="241A16"/>
                </a:solidFill>
                <a:latin typeface="Calibri"/>
              </a:rPr>
              <a:t> y 59MB en disco</a:t>
            </a:r>
            <a:endParaRPr sz="1250" b="1" dirty="0">
              <a:solidFill>
                <a:srgbClr val="241A1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554480"/>
            <a:ext cx="11091672" cy="1024128"/>
          </a:xfrm>
          <a:prstGeom prst="roundRect">
            <a:avLst>
              <a:gd name="adj" fmla="val 714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1792224"/>
            <a:ext cx="548640" cy="548640"/>
          </a:xfrm>
          <a:prstGeom prst="ellipse">
            <a:avLst/>
          </a:prstGeom>
          <a:solidFill>
            <a:srgbClr val="B8563A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92938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166420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precio de un alojamiento no es aleatorio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1508760" y="204825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bosque aleatorio explica el 86,8% de la varianza del precio (R² = 0,8676) con un MAE de 19,43€/noche.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2724912"/>
            <a:ext cx="11091672" cy="1024128"/>
          </a:xfrm>
          <a:prstGeom prst="roundRect">
            <a:avLst>
              <a:gd name="adj" fmla="val 714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77240" y="2962656"/>
            <a:ext cx="548640" cy="548640"/>
          </a:xfrm>
          <a:prstGeom prst="ellipse">
            <a:avLst/>
          </a:prstGeom>
          <a:solidFill>
            <a:srgbClr val="B8563A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09981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508760" y="283464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de cada 10 alojamientos son un chollo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1508760" y="321868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41,5% del conjunto de prueba se clasifica en alguna categoría de chollo (r &lt; 0,97).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3895344"/>
            <a:ext cx="11091672" cy="1024128"/>
          </a:xfrm>
          <a:prstGeom prst="roundRect">
            <a:avLst>
              <a:gd name="adj" fmla="val 714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77240" y="4133088"/>
            <a:ext cx="548640" cy="548640"/>
          </a:xfrm>
          <a:prstGeom prst="ellipse">
            <a:avLst/>
          </a:prstGeom>
          <a:solidFill>
            <a:srgbClr val="B8563A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4270248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508760" y="4005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calidad del dato es más determinante que el algoritmo</a:t>
            </a:r>
            <a:endParaRPr lang="en-US" sz="1450" dirty="0"/>
          </a:p>
        </p:txBody>
      </p:sp>
      <p:sp>
        <p:nvSpPr>
          <p:cNvPr id="22" name="Text 16"/>
          <p:cNvSpPr/>
          <p:nvPr/>
        </p:nvSpPr>
        <p:spPr>
          <a:xfrm>
            <a:off x="1508760" y="43891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Recopilación en dos fases, geocodificación y gestión rigurosa de outliers, sin indicios claros de sobreajuste.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48640" y="5065776"/>
            <a:ext cx="11091672" cy="1024128"/>
          </a:xfrm>
          <a:prstGeom prst="roundRect">
            <a:avLst>
              <a:gd name="adj" fmla="val 714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777240" y="5303520"/>
            <a:ext cx="548640" cy="548640"/>
          </a:xfrm>
          <a:prstGeom prst="ellipse">
            <a:avLst/>
          </a:prstGeom>
          <a:solidFill>
            <a:srgbClr val="B8563A"/>
          </a:solidFill>
          <a:ln/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544068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508760" y="517550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arquitectura end-to-end es el verdadero reto de ingeniería</a:t>
            </a:r>
            <a:endParaRPr lang="en-US" sz="1450" dirty="0"/>
          </a:p>
        </p:txBody>
      </p:sp>
      <p:sp>
        <p:nvSpPr>
          <p:cNvPr id="27" name="Text 20"/>
          <p:cNvSpPr/>
          <p:nvPr/>
        </p:nvSpPr>
        <p:spPr>
          <a:xfrm>
            <a:off x="1508760" y="555955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Encoders, escalador y modelo comparten exactamente el mismo espacio de características gracias a un diseño modular.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Trabajo futuro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5087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82" y="161940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1481328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Ampliación a otras plataformas y territorios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1280160" y="1764792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Extender la cobertura a otras comunidades autónomas u otras OTA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48640" y="24231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" y="253380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80160" y="2395728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periódica del modelo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1280160" y="2679192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Reentrenamiento automatizado ante la dinámica de precios de las OTA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48640" y="33375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282" y="3448202"/>
            <a:ext cx="281635" cy="28163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80160" y="3310128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Incorporación de variables de texto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1280160" y="3593592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de reseñas y descripciones mediante modelos de lenguaje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48640" y="42519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282" y="4362602"/>
            <a:ext cx="281635" cy="281635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280160" y="4224528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automáticas de hiper-chollo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1280160" y="4507992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Notificación proactiva sin que el usuario inicie la búsqueda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548640" y="51663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9282" y="5277002"/>
            <a:ext cx="281635" cy="281635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280160" y="5138928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Aprendizaje no supervisado complementario</a:t>
            </a:r>
            <a:endParaRPr lang="en-US" sz="1450" dirty="0"/>
          </a:p>
        </p:txBody>
      </p:sp>
      <p:sp>
        <p:nvSpPr>
          <p:cNvPr id="27" name="Text 19"/>
          <p:cNvSpPr/>
          <p:nvPr/>
        </p:nvSpPr>
        <p:spPr>
          <a:xfrm>
            <a:off x="1280160" y="5422392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o Local Outlier Factor para categorías con pocos datos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41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D8CC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y comentarios son bienvenidos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342722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3456432"/>
            <a:ext cx="548640" cy="548640"/>
          </a:xfrm>
          <a:prstGeom prst="ellipse">
            <a:avLst/>
          </a:prstGeom>
          <a:solidFill>
            <a:srgbClr val="D99A3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3593592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33375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7B9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del proyecto</a:t>
            </a:r>
            <a:endParaRPr lang="en-US" sz="1300" dirty="0"/>
          </a:p>
        </p:txBody>
      </p:sp>
      <p:sp>
        <p:nvSpPr>
          <p:cNvPr id="8" name="Text 5">
            <a:hlinkClick r:id="rId4"/>
          </p:cNvPr>
          <p:cNvSpPr/>
          <p:nvPr/>
        </p:nvSpPr>
        <p:spPr>
          <a:xfrm>
            <a:off x="1508760" y="3639312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github.com/Marjimleo3/Trabajo-Fin-de-Grado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45352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342722"/>
          </a:solidFill>
          <a:ln/>
        </p:spPr>
      </p:sp>
      <p:sp>
        <p:nvSpPr>
          <p:cNvPr id="10" name="Shape 7"/>
          <p:cNvSpPr/>
          <p:nvPr/>
        </p:nvSpPr>
        <p:spPr>
          <a:xfrm>
            <a:off x="6501384" y="3456432"/>
            <a:ext cx="548640" cy="548640"/>
          </a:xfrm>
          <a:prstGeom prst="ellipse">
            <a:avLst/>
          </a:prstGeom>
          <a:solidFill>
            <a:srgbClr val="D99A3D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544" y="3593592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05472" y="33375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7B9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 en producción</a:t>
            </a:r>
            <a:endParaRPr lang="en-US" sz="1300" dirty="0"/>
          </a:p>
        </p:txBody>
      </p:sp>
      <p:sp>
        <p:nvSpPr>
          <p:cNvPr id="13" name="Text 9">
            <a:hlinkClick r:id="rId6"/>
          </p:cNvPr>
          <p:cNvSpPr/>
          <p:nvPr/>
        </p:nvSpPr>
        <p:spPr>
          <a:xfrm>
            <a:off x="7205472" y="3639312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uqnnwjgaf3t5xesuorvizo.streamlit.app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48640" y="6217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A8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Mario Jiménez León  ·  Universidad de Sevilla  ·  Grado en Estadística  ·  2025/2026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2646</Words>
  <Application>Microsoft Office PowerPoint</Application>
  <PresentationFormat>Panorámica</PresentationFormat>
  <Paragraphs>478</Paragraphs>
  <Slides>23</Slides>
  <Notes>23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23</vt:i4>
      </vt:variant>
    </vt:vector>
  </HeadingPairs>
  <TitlesOfParts>
    <vt:vector size="27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Detección de Alojamientos Turísticos con Precio Real Inferior al Valor Predicho según Preferencias del Usuario</dc:title>
  <dc:subject>PptxGenJS Presentation</dc:subject>
  <dc:creator>Mario Jiménez León</dc:creator>
  <cp:lastModifiedBy>Mario Jimenez</cp:lastModifiedBy>
  <cp:revision>39</cp:revision>
  <dcterms:created xsi:type="dcterms:W3CDTF">2026-07-10T11:49:07Z</dcterms:created>
  <dcterms:modified xsi:type="dcterms:W3CDTF">2026-07-10T16:52:49Z</dcterms:modified>
</cp:coreProperties>
</file>