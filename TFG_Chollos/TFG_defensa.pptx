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73152"/>
            <a:ext cx="1371600" cy="49971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0" y="73152"/>
            <a:ext cx="731520" cy="4997196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0000"/>
            <a:ext cx="82296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Detección de Alojamientos Turísticos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0000"/>
            <a:ext cx="82296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0C060"/>
                </a:solidFill>
                <a:latin typeface="Calibri"/>
              </a:rPr>
              <a:t>con Precio Real Inferior al Valor Predicho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20000"/>
            <a:ext cx="82296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0C060"/>
                </a:solidFill>
                <a:latin typeface="Calibri"/>
              </a:rPr>
              <a:t>según Preferencias del Usuario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6126480" cy="36576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0000"/>
            <a:ext cx="713232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4F8FC"/>
                </a:solidFill>
                <a:latin typeface="Calibri"/>
              </a:rPr>
              <a:t>Detección de anomalías negativas en precios mediante ML supervisado (regresión)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50000"/>
            <a:ext cx="713232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4F8FC"/>
                </a:solidFill>
                <a:latin typeface="Calibri"/>
              </a:rPr>
              <a:t>y categorización automática de chollos · App web Streamlit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0000"/>
            <a:ext cx="4572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4A843"/>
                </a:solidFill>
                <a:latin typeface="Calibri"/>
              </a:rPr>
              <a:t>Mario Jiménez León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00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Trabajo de Fin de Grado en Estadística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30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Tutor: David Orellana Martín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60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Universidad de Sevilla · 2025-2026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00000"/>
            <a:ext cx="1080000" cy="25603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00000"/>
            <a:ext cx="108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0C060"/>
                </a:solidFill>
                <a:latin typeface="Calibri"/>
              </a:rPr>
              <a:t>Python 3.12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7200" y="4400000"/>
            <a:ext cx="1080000" cy="25603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77200" y="4400000"/>
            <a:ext cx="108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0C060"/>
                </a:solidFill>
                <a:latin typeface="Calibri"/>
              </a:rPr>
              <a:t>Selenium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200" y="4400000"/>
            <a:ext cx="1080000" cy="25603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200" y="4400000"/>
            <a:ext cx="108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0C060"/>
                </a:solidFill>
                <a:latin typeface="Calibri"/>
              </a:rPr>
              <a:t>Playwright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7200" y="4400000"/>
            <a:ext cx="1080000" cy="25603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7200" y="4400000"/>
            <a:ext cx="108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0C060"/>
                </a:solidFill>
                <a:latin typeface="Calibri"/>
              </a:rPr>
              <a:t>scikit-learn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200" y="4400000"/>
            <a:ext cx="1080000" cy="25603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200" y="4400000"/>
            <a:ext cx="108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0C060"/>
                </a:solidFill>
                <a:latin typeface="Calibri"/>
              </a:rPr>
              <a:t>XGBoost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7200" y="4400000"/>
            <a:ext cx="1080000" cy="25603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7200" y="4400000"/>
            <a:ext cx="108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0C060"/>
                </a:solidFill>
                <a:latin typeface="Calibri"/>
              </a:rPr>
              <a:t>Streamlit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7200" y="4400000"/>
            <a:ext cx="1080000" cy="25603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7200" y="4400000"/>
            <a:ext cx="1080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0C060"/>
                </a:solidFill>
                <a:latin typeface="Calibri"/>
              </a:rPr>
              <a:t>Hugging 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Estructura de la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00000"/>
            <a:ext cx="8229600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7200" y="1100000"/>
            <a:ext cx="5000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A508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7200" y="1100000"/>
            <a:ext cx="74296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Contexto, motivación y objetivos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90000"/>
            <a:ext cx="8229600" cy="39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7200" y="1490000"/>
            <a:ext cx="5000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A5080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7200" y="1490000"/>
            <a:ext cx="74296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Estado del arte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80000"/>
            <a:ext cx="8229600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7200" y="1880000"/>
            <a:ext cx="5000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A5080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7200" y="1880000"/>
            <a:ext cx="74296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Fundamentos estadísticos y modelos de regresión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70000"/>
            <a:ext cx="8229600" cy="39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200" y="2270000"/>
            <a:ext cx="5000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A5080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7200" y="2270000"/>
            <a:ext cx="74296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Validación y diseño experimental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60000"/>
            <a:ext cx="8229600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200" y="2660000"/>
            <a:ext cx="5000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A5080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7200" y="2660000"/>
            <a:ext cx="74296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Sistema de extracción y preprocesamiento de datos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50000"/>
            <a:ext cx="8229600" cy="39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200" y="3050000"/>
            <a:ext cx="5000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A5080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7200" y="3050000"/>
            <a:ext cx="74296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Resultados de los modelos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40000"/>
            <a:ext cx="8229600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200" y="3440000"/>
            <a:ext cx="5000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A5080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7200" y="3440000"/>
            <a:ext cx="74296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Categorización determinista de chollos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30000"/>
            <a:ext cx="8229600" cy="39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7200" y="3830000"/>
            <a:ext cx="5000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A5080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7200" y="3830000"/>
            <a:ext cx="74296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Aplicación web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20000"/>
            <a:ext cx="8229600" cy="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7200" y="4220000"/>
            <a:ext cx="5000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A5080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7200" y="4220000"/>
            <a:ext cx="7429600" cy="3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Conclusiones y trabajo futuro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Contexto y Motivación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¿Por qué este proyecto?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920240" cy="8229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85M+ turistas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4F8FC"/>
                </a:solidFill>
                <a:latin typeface="Calibri"/>
              </a:rPr>
              <a:t>España · INE 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9232" y="1143000"/>
            <a:ext cx="1920240" cy="8229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9232" y="118872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8 provincias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9232" y="15361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4F8FC"/>
                </a:solidFill>
                <a:latin typeface="Calibri"/>
              </a:rPr>
              <a:t>Toda Andalucía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1264" y="1143000"/>
            <a:ext cx="1920240" cy="8229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1264" y="118872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Precio dinámico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1264" y="15361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4F8FC"/>
                </a:solidFill>
                <a:latin typeface="Calibri"/>
              </a:rPr>
              <a:t>Booking · Expedia · Airbnb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3296" y="1143000"/>
            <a:ext cx="1920240" cy="8229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3296" y="118872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ML supervisado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3296" y="15361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4F8FC"/>
                </a:solidFill>
                <a:latin typeface="Calibri"/>
              </a:rPr>
              <a:t>Precio justo → etiqueta chollo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21408"/>
            <a:ext cx="4023360" cy="1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121408"/>
            <a:ext cx="64008" cy="115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194560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El problema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450592"/>
            <a:ext cx="3823360" cy="7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Las plataformas OTA aplican precio dinámico según demanda, estacionalidad y antelación. El viajero solo ve el precio en un instante, sin saber si es justo o está inflado: información asimétrica frente al proveedor.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121408"/>
            <a:ext cx="4023360" cy="1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2121408"/>
            <a:ext cx="64008" cy="11500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2194560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8862E"/>
                </a:solidFill>
                <a:latin typeface="Calibri"/>
              </a:rPr>
              <a:t>La solución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2450592"/>
            <a:ext cx="3823360" cy="7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Entrenar un modelo de regresión que estime el precio justo de mercado, comparar con el precio real y categorizar automáticamente el alojamiento (de inflado a hiper-chollo) mediante una app web personalizable.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50000"/>
            <a:ext cx="82296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E293B"/>
                </a:solidFill>
                <a:latin typeface="Calibri"/>
              </a:rPr>
              <a:t>Motivación académica: un problema de regresión + categorización con estructura matemática bien definida, especialmente adecuado para un TFG en Estadística: tratamiento riguroso de datos, modelos estadísticos/ML y evaluación cuidadosa de resultados.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Objetivo general: detectar chollos en Andalucía a partir de datos extraídos automáticamente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20000"/>
            <a:ext cx="560000" cy="70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20000"/>
            <a:ext cx="56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D4A843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7200" y="1120000"/>
            <a:ext cx="7669600" cy="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7200" y="1170000"/>
            <a:ext cx="747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A5080"/>
                </a:solidFill>
                <a:latin typeface="Calibri"/>
              </a:rPr>
              <a:t>Extracción de datos (web scraping)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7200" y="1440000"/>
            <a:ext cx="74796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Listados y fichas detalladas (precio, tipo, estrellas, valoración, servicios, GPS) de las 8 provincias andaluzas.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0000"/>
            <a:ext cx="560000" cy="70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40000"/>
            <a:ext cx="56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D4A843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7200" y="1840000"/>
            <a:ext cx="7669600" cy="70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7200" y="1890000"/>
            <a:ext cx="747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A5080"/>
                </a:solidFill>
                <a:latin typeface="Calibri"/>
              </a:rPr>
              <a:t>Preprocesamiento y limpieza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7200" y="2160000"/>
            <a:ext cx="74796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Tratamiento de nulos, detección robusta de outliers, variables binarias desde texto libre, distancia al centro e indicadores temporales.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60000"/>
            <a:ext cx="560000" cy="70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60000"/>
            <a:ext cx="56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D4A843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7200" y="2560000"/>
            <a:ext cx="7669600" cy="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7200" y="2610000"/>
            <a:ext cx="747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A5080"/>
                </a:solidFill>
                <a:latin typeface="Calibri"/>
              </a:rPr>
              <a:t>Entrenar y comparar 4 modelos de regresión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200" y="2880000"/>
            <a:ext cx="74796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Regresión lineal, árbol de decisión, bosque aleatorio y gradient boosting; selección por validación cruzada y test.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80000"/>
            <a:ext cx="560000" cy="70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80000"/>
            <a:ext cx="56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D4A843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7200" y="3280000"/>
            <a:ext cx="7669600" cy="70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7200" y="3330000"/>
            <a:ext cx="747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A5080"/>
                </a:solidFill>
                <a:latin typeface="Calibri"/>
              </a:rPr>
              <a:t>Regla determinista de categorización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7200" y="3600000"/>
            <a:ext cx="74796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A partir del ratio precio real / precio predicho, sin entrenar un clasificador ML redundante.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00000"/>
            <a:ext cx="560000" cy="70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00000"/>
            <a:ext cx="56000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D4A843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7200" y="4000000"/>
            <a:ext cx="7669600" cy="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7200" y="4050000"/>
            <a:ext cx="747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A5080"/>
                </a:solidFill>
                <a:latin typeface="Calibri"/>
              </a:rPr>
              <a:t>Aplicación web interactiva end-to-end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7200" y="4320000"/>
            <a:ext cx="74796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alibri"/>
              </a:rPr>
              <a:t>El usuario define preferencias → scraping en tiempo real → predicción → chollos ordenados por ahorro.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Alcance y Limitaciones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00000"/>
            <a:ext cx="2645000" cy="2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00000"/>
            <a:ext cx="64008" cy="24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73152"/>
            <a:ext cx="2445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Delimitación geográfica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29184"/>
            <a:ext cx="2445000" cy="2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Las 8 provincias de Andalucía: Almería, Cádiz, Córdoba, Granada, Huelva, Jaén, Málaga y Sevilla.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9500" y="1300000"/>
            <a:ext cx="2645000" cy="2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9500" y="1300000"/>
            <a:ext cx="64008" cy="24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4092" y="1373152"/>
            <a:ext cx="2445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Ventana temporal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4092" y="1629184"/>
            <a:ext cx="2445000" cy="2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Los precios OTA son muy dinámicos: los datos capturan el estado del mercado en un intervalo concreto de extracción.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41800" y="1300000"/>
            <a:ext cx="2645000" cy="2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41800" y="1300000"/>
            <a:ext cx="64008" cy="24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6392" y="1373152"/>
            <a:ext cx="2445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Uso académico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6392" y="1629184"/>
            <a:ext cx="2445000" cy="2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Extracción sujeta a los términos de servicio de la plataforma; datos usados exclusivamente con fines de investigación.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A6080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4A60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Estado del 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Predicción de precios hoteleros y detección de anomalías mediante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8229600" cy="28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150000"/>
            <a:ext cx="202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Autor(es)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2064" y="1150000"/>
            <a:ext cx="232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Datos / plataforma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2064" y="1150000"/>
            <a:ext cx="36496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Aportación principal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30000"/>
            <a:ext cx="822960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430000"/>
            <a:ext cx="20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Günter &amp; Önder (2019)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2064" y="1430000"/>
            <a:ext cx="23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Booking.com, Viena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2064" y="1430000"/>
            <a:ext cx="36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Determinantes del precio mediante regresión hedónica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70000"/>
            <a:ext cx="8229600" cy="34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770000"/>
            <a:ext cx="20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Chen et al. (2017) · Masiero et al. (2019)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64" y="1770000"/>
            <a:ext cx="23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Hoteles: Taiwán / Suiza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2064" y="1770000"/>
            <a:ext cx="36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Bosque aleatorio y redes neuronales superan a la regresión lineal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10000"/>
            <a:ext cx="822960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110000"/>
            <a:ext cx="20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Li et al. (2019)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2064" y="2110000"/>
            <a:ext cx="23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Airbnb, Nueva York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2064" y="2110000"/>
            <a:ext cx="36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Gradient boosting + NLP sobre reseñas mejora la predicción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50000"/>
            <a:ext cx="8229600" cy="34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450000"/>
            <a:ext cx="20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Soler et al. (2019)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12064" y="2450000"/>
            <a:ext cx="23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Apartamentos P2P, Barcelona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2064" y="2450000"/>
            <a:ext cx="36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Localización y puntuación: factores más influyentes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90000"/>
            <a:ext cx="822960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2790000"/>
            <a:ext cx="20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Voltes-Dorta et al. (2021)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2064" y="2790000"/>
            <a:ext cx="23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Airbnb, ciudades europeas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2064" y="2790000"/>
            <a:ext cx="36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Impacto de la COVID-19 en precios de corta estancia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60000"/>
            <a:ext cx="8229600" cy="95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7200" y="3320000"/>
            <a:ext cx="79296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Posicionamiento de este trabajo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200" y="3580000"/>
            <a:ext cx="79296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4F8FC"/>
                </a:solidFill>
                <a:latin typeface="Calibri"/>
              </a:rPr>
              <a:t>Integra scraping + preprocesamiento + predicción + app en un único sistema end-to-end, sobre el mercado andaluz (no estudiado previamente a nivel de listado individual), con búsqueda personalizable por el usuario.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Fundamentos Estadísticos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Herramientas matemáticas del preprocesamiento y la modelización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4023360" cy="1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50000"/>
            <a:ext cx="64008" cy="14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23152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Método de Tukey (outliers)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479184"/>
            <a:ext cx="3823360" cy="1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L = Q1 - 1,5·IQR ,  Q3 + 1,5·IQR . Robusto: no asume normalidad. En este trabajo se combina con umbrales absolutos cuando el criterio estadístico no se ajusta al dominio (p. ej. tamaño de habitación).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50000"/>
            <a:ext cx="4023360" cy="1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150000"/>
            <a:ext cx="64008" cy="14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223152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Correlación de Pearson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1479184"/>
            <a:ext cx="3823360" cy="1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ρ ∈ [-1,1] mide asociación LINEAL. Ninguna variable supera 0,27 de correlación con el precio → relación predominantemente NO lineal con el precio.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0000"/>
            <a:ext cx="4023360" cy="1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50000"/>
            <a:ext cx="64008" cy="14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23152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Estandarización z-score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979184"/>
            <a:ext cx="3823360" cy="1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x' = (x - x̄) / s. Necesaria solo para la regresión lineal (aprendida en train, aplicada a val/test). Los modelos de árboles son invariantes a la escala.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650000"/>
            <a:ext cx="4023360" cy="1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2650000"/>
            <a:ext cx="64008" cy="14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2723152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Codificación categórica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2979184"/>
            <a:ext cx="3823360" cy="1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One-hot para "tipo" (2 categorías). Label/ordinal para "localidad" y "provincia" (alta cardinalidad): válido porque el modelo ganador es un ensemble de árboles.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Modelos de Regresión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Cuatro algoritmos comparados para predecir el precio justo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50000"/>
            <a:ext cx="1940000" cy="2900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8832"/>
            <a:ext cx="1940000" cy="201168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48832"/>
            <a:ext cx="184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0C060"/>
                </a:solidFill>
                <a:latin typeface="Consolas"/>
              </a:rPr>
              <a:t>Regresión Lineal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377432"/>
            <a:ext cx="1840000" cy="28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y = Xβ + ε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β̂ = (XᵀX)⁻¹Xᵀy  (OLS)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Supone linealidad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F0C060"/>
                </a:solidFill>
                <a:latin typeface="Consolas"/>
              </a:rPr>
              <a:t>R² = 0,14 (test)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93200" y="1350000"/>
            <a:ext cx="1940000" cy="2900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93200" y="1148832"/>
            <a:ext cx="1940000" cy="201168"/>
          </a:xfrm>
          <a:prstGeom prst="rect">
            <a:avLst/>
          </a:prstGeom>
          <a:solidFill>
            <a:srgbClr val="1B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8064" y="1148832"/>
            <a:ext cx="184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0C060"/>
                </a:solidFill>
                <a:latin typeface="Consolas"/>
              </a:rPr>
              <a:t>Árbol de Decisión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8064" y="1377432"/>
            <a:ext cx="1840000" cy="28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CART: divisiones binarias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impureza(R) = Var(y en R)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max_depth ∈ {3,5,10,15}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(GridSearchCV)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F0C060"/>
                </a:solidFill>
                <a:latin typeface="Consolas"/>
              </a:rPr>
              <a:t>R² = 0,59 (val)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9200" y="1350000"/>
            <a:ext cx="1940000" cy="2900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9200" y="1148832"/>
            <a:ext cx="1940000" cy="201168"/>
          </a:xfrm>
          <a:prstGeom prst="rect">
            <a:avLst/>
          </a:prstGeom>
          <a:solidFill>
            <a:srgbClr val="1F5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4064" y="1148832"/>
            <a:ext cx="184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0C060"/>
                </a:solidFill>
                <a:latin typeface="Consolas"/>
              </a:rPr>
              <a:t>Bosque Aleatorio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4064" y="1377432"/>
            <a:ext cx="1840000" cy="28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f = (1/B) Σ Tb(x)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bootstrap + m features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por división (bagging)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Reduce varianza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F0C060"/>
                </a:solidFill>
                <a:latin typeface="Consolas"/>
              </a:rPr>
              <a:t>R² = 0,87 ← GANADOR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5200" y="1350000"/>
            <a:ext cx="1940000" cy="2900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65200" y="1148832"/>
            <a:ext cx="1940000" cy="201168"/>
          </a:xfrm>
          <a:prstGeom prst="rect">
            <a:avLst/>
          </a:prstGeom>
          <a:solidFill>
            <a:srgbClr val="5C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064" y="1148832"/>
            <a:ext cx="184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0C060"/>
                </a:solidFill>
                <a:latin typeface="Consolas"/>
              </a:rP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064" y="1377432"/>
            <a:ext cx="1840000" cy="28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Fm = Fm-1 + η·hm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(gradient boosting)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Regularización L1/L2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árboles secuenciales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F0C060"/>
                </a:solidFill>
                <a:latin typeface="Consolas"/>
              </a:rPr>
              <a:t>R² = 0,51 (val)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0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Métricas: R² (varianza explicada), MAE y RMSE (error medio en €) — evaluadas sobre validación y test.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Validación y Diseño Experimental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2.603.076 registros · partición 70/15/15 · GridSearchCV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2560000" cy="75000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50000"/>
            <a:ext cx="256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Entrenamiento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1.822.153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70 %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7200" y="1150000"/>
            <a:ext cx="2560000" cy="75000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7200" y="1150000"/>
            <a:ext cx="256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Validación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390.462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15 %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7200" y="1150000"/>
            <a:ext cx="2560000" cy="75000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7200" y="1150000"/>
            <a:ext cx="256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Prueba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390.461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15 %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0000"/>
            <a:ext cx="82296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B"/>
                </a:solidFill>
                <a:latin typeface="Calibri"/>
              </a:rPr>
              <a:t>Partición en dos pasos: 70/30 (train / temporal) y luego 50/50 del temporal (val / test). El conjunto de prueba no se toca hasta la evaluación final, una única vez.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50000"/>
            <a:ext cx="8229600" cy="28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750000"/>
            <a:ext cx="202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64" y="2750000"/>
            <a:ext cx="232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Hiperparámetro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2064" y="2750000"/>
            <a:ext cx="36496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Valores candidatos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30000"/>
            <a:ext cx="822960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3030000"/>
            <a:ext cx="20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Regresión lineal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2064" y="3030000"/>
            <a:ext cx="23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2064" y="3030000"/>
            <a:ext cx="36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(sin hiperparámetros)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70000"/>
            <a:ext cx="8229600" cy="34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370000"/>
            <a:ext cx="20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Árbol de 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2064" y="3370000"/>
            <a:ext cx="23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max_depth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2064" y="3370000"/>
            <a:ext cx="36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3, 5, 10, 15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10000"/>
            <a:ext cx="822960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3710000"/>
            <a:ext cx="20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Bosque aleatorio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2064" y="3710000"/>
            <a:ext cx="23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n_estimators · max_depth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2064" y="3710000"/>
            <a:ext cx="36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{50,100} · {10,20}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050000"/>
            <a:ext cx="8229600" cy="34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" y="4050000"/>
            <a:ext cx="20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XGBoost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12064" y="4050000"/>
            <a:ext cx="23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n_estimators · learning_rate · max_depth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2064" y="4050000"/>
            <a:ext cx="36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{100,300,500} · {0.01,0.05,0.10} · {3,5}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5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onsolas"/>
              </a:rPr>
              <a:t>Validación cruzada k=3 · scoring = neg_mean_squared_error · n_jobs=-1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Web Scraping · 2 Fases Diferenciadas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Scrp_estancias_provincias.py + Scrp_caracteristicas_estancias.py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0000"/>
            <a:ext cx="4023360" cy="2400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8832"/>
            <a:ext cx="4023360" cy="201168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348832"/>
            <a:ext cx="3923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0C060"/>
                </a:solidFill>
                <a:latin typeface="Consolas"/>
              </a:rPr>
              <a:t>FASE 1 — Selenium (listados)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77432"/>
            <a:ext cx="3923360" cy="2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# Anti-detección + bloqueo de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# imágenes/fuentes (rendimiento)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options.add_argument(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  "--disable-blink-features=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   AutomationControlled")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# Límite de 800 resultados: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# subdivisión recursiva por precio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def scrape_con_subdivision(...):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  if total &lt;= 750: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    return extraer_alojamientos()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  mid = (precio_min+precio_max)//2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  return subdivision(...,mid) +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550000"/>
            <a:ext cx="3931920" cy="2400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348832"/>
            <a:ext cx="3931920" cy="201168"/>
          </a:xfrm>
          <a:prstGeom prst="rect">
            <a:avLst/>
          </a:prstGeom>
          <a:solidFill>
            <a:srgbClr val="1F5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1348832"/>
            <a:ext cx="3831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0C060"/>
                </a:solidFill>
                <a:latin typeface="Consolas"/>
              </a:rPr>
              <a:t>FASE 2 — Playwright + GraphQL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1577432"/>
            <a:ext cx="3831920" cy="2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# BookingSession: resuelve el WAF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# una sola vez, reutiliza cookies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class BookingSession: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  def _init_session(self):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    with sync_playwright() as pw: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>      cookies = page.context.cookies()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# API GraphQL interna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# FACILITIES_QUERY → servicios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# CALENDAR_QUERY   → 365 días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# patch_room_size.py: tamaño real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# habitación (ThreadPoolExecutor,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4748B"/>
                </a:solidFill>
                <a:latin typeface="Consolas"/>
              </a:rPr>
              <a:t># 5 workers, reanudable)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50000"/>
            <a:ext cx="82296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E293B"/>
                </a:solidFill>
                <a:latin typeface="Calibri"/>
              </a:rPr>
              <a:t>Campos Fase 1: lugar, título, url, valoración, nº reseñas, tipo, estrellas.  ·  Campos Fase 2: hotel_id, GPS, servicios, calendario 365 días de precios.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Preprocesamiento · Valores Nulos y Outliers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Limpieza previa al entrenamiento de los modelos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8229600" cy="28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150000"/>
            <a:ext cx="312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Filtro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2064" y="1150000"/>
            <a:ext cx="242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Registros eliminados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2064" y="1150000"/>
            <a:ext cx="24496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% del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30000"/>
            <a:ext cx="822960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430000"/>
            <a:ext cx="31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Precio &gt; 468,5 € (Tukey)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064" y="1430000"/>
            <a:ext cx="24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245.170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2064" y="1430000"/>
            <a:ext cx="24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8 %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70000"/>
            <a:ext cx="8229600" cy="34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770000"/>
            <a:ext cx="31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Tamaño &gt; 150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064" y="1770000"/>
            <a:ext cx="24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191.738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2064" y="1770000"/>
            <a:ext cx="24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7 %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10000"/>
            <a:ext cx="822960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110000"/>
            <a:ext cx="31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Distancia &gt; 15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064" y="2110000"/>
            <a:ext cx="24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83.540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2064" y="2110000"/>
            <a:ext cx="24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3 %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50000"/>
            <a:ext cx="8229600" cy="34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450000"/>
            <a:ext cx="31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D4A843"/>
                </a:solidFill>
                <a:latin typeface="Calibri"/>
              </a:rPr>
              <a:t>Total eliminado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2064" y="2450000"/>
            <a:ext cx="24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nsolas"/>
              </a:rPr>
              <a:t>520.448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2064" y="2450000"/>
            <a:ext cx="24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onsolas"/>
              </a:rPr>
              <a:t>17 %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50000"/>
            <a:ext cx="8229600" cy="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650000"/>
            <a:ext cx="64008" cy="9000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2723152"/>
            <a:ext cx="80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8862E"/>
                </a:solidFill>
                <a:latin typeface="Calibri"/>
              </a:rPr>
              <a:t>Por qué 150 m² y no restringir a hoteles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979184"/>
            <a:ext cx="80296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Por encima de 150 m² predominan casas rurales y fincas, con dinámica de precio distinta (la distancia al centro deja de penalizar el precio). Restringir a hoteles habría resuelto la heterogeneidad, pero los hoteles son solo el 8 % de los registros; el umbral de 150 m² conserva hoteles, apartamentos y estudios con un coste de solo el 7 % de registros eliminados.</a:t>
            </a:r>
          </a:p>
        </p:txBody>
      </p:sp>
      <p:pic>
        <p:nvPicPr>
          <p:cNvPr id="30" name="Picture 29" descr="boxplot_tamaño_habi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201" y="3650000"/>
            <a:ext cx="1431597" cy="105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Ingeniería de Características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12 servicios binarios + indicadores temporales + codificación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4023360" cy="17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50000"/>
            <a:ext cx="64008" cy="175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23152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Servicios binarios (int8)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479184"/>
            <a:ext cx="3823360" cy="13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Parking, Parking_gratis, Gimnasio, Restaurante, Piscina, Piscina_interior, Piscina_infinita, Aire, Calefaccion, Vistas, Terraza, Bano_privado.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Extraídos por búsqueda de subcadenas sobre el texto de servicios de la API GraphQL.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50000"/>
            <a:ext cx="4023360" cy="17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150000"/>
            <a:ext cx="64008" cy="17500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223152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8862E"/>
                </a:solidFill>
                <a:latin typeface="Calibri"/>
              </a:rPr>
              <a:t>Variables temporales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1479184"/>
            <a:ext cx="3823360" cy="13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es_finde (viernes/sábado), es_domingo, dias_restantes (antelación de la reserva), mes_disponible y dia_disponible (estacionalidad). Derivadas del calendario de 365 días de precios de cada alojamiento.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50000"/>
            <a:ext cx="8229600" cy="1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50000"/>
            <a:ext cx="64008" cy="1300000"/>
          </a:xfrm>
          <a:prstGeom prst="rect">
            <a:avLst/>
          </a:prstGeom>
          <a:solidFill>
            <a:srgbClr val="1F5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123152"/>
            <a:ext cx="80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Codificación de variables categóricas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379184"/>
            <a:ext cx="8029600" cy="9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"tipo" (Hotel/Otro) → one-hot → variable binaria tipo_Hotel. "localidad" (cientos de categorías) y "provincia" (8) → label/ordinal encoding: evita cientos de columnas dispersas. Válido porque el modelo ganador (bosque aleatorio) es invariante al orden artificial que introduce esta codificación. Encoders serializados con joblib para reutilizarlos en la app.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Dataset Final · Estadísticas Descriptivas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De los CSV en bruto al Parquet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1920240" cy="8229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9572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2.603.076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431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4F8FC"/>
                </a:solidFill>
                <a:latin typeface="Calibri"/>
              </a:rPr>
              <a:t>Registros finales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9232" y="1150000"/>
            <a:ext cx="1920240" cy="8229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9232" y="119572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9232" y="15431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4F8FC"/>
                </a:solidFill>
                <a:latin typeface="Calibri"/>
              </a:rPr>
              <a:t>Columnas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1264" y="1150000"/>
            <a:ext cx="1920240" cy="8229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1264" y="119572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25× menos peso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1264" y="15431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4F8FC"/>
                </a:solidFill>
                <a:latin typeface="Calibri"/>
              </a:rPr>
              <a:t>CSV → Parquet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3296" y="1150000"/>
            <a:ext cx="1920240" cy="8229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3296" y="119572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312× más filas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3296" y="15431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4F8FC"/>
                </a:solidFill>
                <a:latin typeface="Calibri"/>
              </a:rPr>
              <a:t>1 provincia → 8 + calendario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50000"/>
            <a:ext cx="8229600" cy="26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150000"/>
            <a:ext cx="252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Variable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2064" y="2150000"/>
            <a:ext cx="132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2064" y="2150000"/>
            <a:ext cx="132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Mediana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2064" y="2150000"/>
            <a:ext cx="132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Desv. típica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2064" y="2150000"/>
            <a:ext cx="13496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Q1 / Q3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10000"/>
            <a:ext cx="8229600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2410000"/>
            <a:ext cx="25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Precio (€/noche)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2064" y="2410000"/>
            <a:ext cx="13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167,6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2064" y="2410000"/>
            <a:ext cx="13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147,0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2064" y="2410000"/>
            <a:ext cx="13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90,8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2064" y="2410000"/>
            <a:ext cx="13496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102,0 / 213,0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20000"/>
            <a:ext cx="8229600" cy="31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2720000"/>
            <a:ext cx="25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Valoración (0-10)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12064" y="2720000"/>
            <a:ext cx="13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8,6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2064" y="2720000"/>
            <a:ext cx="13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8,7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2064" y="2720000"/>
            <a:ext cx="13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1,0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2064" y="2720000"/>
            <a:ext cx="13496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8,2 / 9,2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030000"/>
            <a:ext cx="8229600" cy="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3030000"/>
            <a:ext cx="25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Tamaño habitación (m²)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12064" y="3030000"/>
            <a:ext cx="13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64,3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2064" y="3030000"/>
            <a:ext cx="13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60,0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12064" y="3030000"/>
            <a:ext cx="13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30,4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2064" y="3030000"/>
            <a:ext cx="13496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42,0 / 80,0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340000"/>
            <a:ext cx="8229600" cy="31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" y="3340000"/>
            <a:ext cx="25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Distancia centro (km)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12064" y="3340000"/>
            <a:ext cx="13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2,6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12064" y="3340000"/>
            <a:ext cx="13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1,1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2064" y="3340000"/>
            <a:ext cx="13200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3,0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2064" y="3340000"/>
            <a:ext cx="1349600" cy="3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0,4 / 4,4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850000"/>
            <a:ext cx="82296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E293B"/>
                </a:solidFill>
                <a:latin typeface="Calibri"/>
              </a:rPr>
              <a:t>Distribución por provincia: Málaga 37,7 % · Cádiz 15,8 % · Sevilla 13,5 % · Granada 12,9 % · Córdoba 7,1 % · Almería 6,5 % · Jaén 3,3 % · Huelva 3,1 %.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Análisis de Correlaciones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Matriz de Pearson sobre el dataset codificado (26 variables) · R 4.x + corrplot</a:t>
            </a:r>
          </a:p>
        </p:txBody>
      </p:sp>
      <p:pic>
        <p:nvPicPr>
          <p:cNvPr id="6" name="Picture 5" descr="correlacion_lin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50" y="1080000"/>
            <a:ext cx="3712500" cy="33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46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1E293B"/>
                </a:solidFill>
                <a:latin typeface="Calibri"/>
              </a:rPr>
              <a:t>Ninguna variable tiene correlación lineal fuerte con el precio: la más alta es tamaño_habitacion (ρ=0,27) → la relación precio-atributos es predominantemente no lineal.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Resultados de los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Conjunto de validación (comparación) y test (modelo ganador)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0000"/>
            <a:ext cx="8229600" cy="32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00000"/>
            <a:ext cx="252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2064" y="1200000"/>
            <a:ext cx="152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2064" y="1200000"/>
            <a:ext cx="182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MAE (€)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2064" y="1200000"/>
            <a:ext cx="20496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RMSE (€)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20000"/>
            <a:ext cx="8229600" cy="3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520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Regresión lineal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2064" y="1520000"/>
            <a:ext cx="152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0,1438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2064" y="1520000"/>
            <a:ext cx="182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63,33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2064" y="1520000"/>
            <a:ext cx="20496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84,04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880000"/>
            <a:ext cx="8229600" cy="36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1880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XGBoost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2064" y="1880000"/>
            <a:ext cx="152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0,5063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2064" y="1880000"/>
            <a:ext cx="182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45,53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2064" y="1880000"/>
            <a:ext cx="20496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63,82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40000"/>
            <a:ext cx="8229600" cy="3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2240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Árbol de 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2064" y="2240000"/>
            <a:ext cx="152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0,5930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2064" y="2240000"/>
            <a:ext cx="182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38,22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2064" y="2240000"/>
            <a:ext cx="20496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57,95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00000"/>
            <a:ext cx="8229600" cy="4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600000"/>
            <a:ext cx="64008" cy="4200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200" y="2600000"/>
            <a:ext cx="248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Bosque aleatorio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7200" y="2600000"/>
            <a:ext cx="148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0,8670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7200" y="2600000"/>
            <a:ext cx="178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19,42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7200" y="2600000"/>
            <a:ext cx="20096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33,12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100000"/>
            <a:ext cx="82296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El bosque aleatorio gana con amplia diferencia. Evaluado sobre el conjunto de TEST (independiente): R² = 0,8676 · MAE = 19,43 € · RMSE = 33,05 €.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550000"/>
            <a:ext cx="82296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B"/>
                </a:solidFill>
                <a:latin typeface="Calibri"/>
              </a:rPr>
              <a:t>Diferencia val→test inferior a 0,001: el modelo generaliza sin sobreajuste. La regresión lineal (R²=0,14) confirma que la relación precio-atributos es no lineal.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Interpretación · Árbol de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Primeros 4 niveles del árbol entrenado (hiperparámetros óptimos)</a:t>
            </a:r>
          </a:p>
        </p:txBody>
      </p:sp>
      <p:pic>
        <p:nvPicPr>
          <p:cNvPr id="6" name="Picture 5" descr="arbol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760" y="1080000"/>
            <a:ext cx="6518480" cy="32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46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1E293B"/>
                </a:solidFill>
                <a:latin typeface="Calibri"/>
              </a:rPr>
              <a:t>Raíz: tamaño_habitacion ≤ 75,5 m². Nivel 2: provincia ≤ 5,5 en ambas ramas. Nivel 3-4: n_valoraciones, localidad, distancia_centro_km, Calefaccion, Piscina, estrellas.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Importancia de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Bosque aleatorio · reducción media de impureza (Gini)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2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onsolas"/>
              </a:rPr>
              <a:t>distancia_centro_km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7200" y="1240000"/>
            <a:ext cx="5150000" cy="3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37200" y="1200000"/>
            <a:ext cx="7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0.155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0000"/>
            <a:ext cx="2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onsolas"/>
              </a:rPr>
              <a:t>tamaño_habitacion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7200" y="1660000"/>
            <a:ext cx="5150000" cy="3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7200" y="1620000"/>
            <a:ext cx="7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0.155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40000"/>
            <a:ext cx="2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onsolas"/>
              </a:rPr>
              <a:t>n_valoraciones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7200" y="2080000"/>
            <a:ext cx="3953870" cy="3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1070" y="2040000"/>
            <a:ext cx="7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0.119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60000"/>
            <a:ext cx="2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onsolas"/>
              </a:rPr>
              <a:t>localidad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07200" y="2500000"/>
            <a:ext cx="3754516" cy="3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1716" y="2460000"/>
            <a:ext cx="7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0.113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80000"/>
            <a:ext cx="2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onsolas"/>
              </a:rPr>
              <a:t>dias_restantes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7200" y="2920000"/>
            <a:ext cx="3023548" cy="3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0748" y="2880000"/>
            <a:ext cx="7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0.091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300000"/>
            <a:ext cx="22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onsolas"/>
              </a:rPr>
              <a:t>valoracion_clientes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7200" y="3340000"/>
            <a:ext cx="2790967" cy="3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8167" y="3300000"/>
            <a:ext cx="70000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0.084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20000"/>
            <a:ext cx="82296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E293B"/>
                </a:solidFill>
                <a:latin typeface="Calibri"/>
              </a:rPr>
              <a:t>Distancia al centro y tamaño del alojamiento son los factores determinantes a partes iguales; los servicios binarios tienen peso moderado individual, pero relevante en conjunto.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Categorización Determinista de Chollos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r = precio real / precio predicho — sin clasificador ML redundante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8229600" cy="3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150000"/>
            <a:ext cx="222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Etiqueta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2064" y="1150000"/>
            <a:ext cx="262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Condición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2064" y="1150000"/>
            <a:ext cx="31496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D4A843"/>
                </a:solidFill>
                <a:latin typeface="Calibri"/>
              </a:rPr>
              <a:t>Interpretación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50000"/>
            <a:ext cx="822960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450000"/>
            <a:ext cx="22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Hiper-chollo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2064" y="1450000"/>
            <a:ext cx="26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r ≤ 0,75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2064" y="1450000"/>
            <a:ext cx="31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&gt; 25 % por debajo del precio justo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90000"/>
            <a:ext cx="8229600" cy="34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790000"/>
            <a:ext cx="22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Super-chollo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2064" y="1790000"/>
            <a:ext cx="26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0,75 &lt; r &lt; 0,85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2064" y="1790000"/>
            <a:ext cx="31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Entre 15 % y 25 % por debajo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30000"/>
            <a:ext cx="822960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130000"/>
            <a:ext cx="22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Chollo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2064" y="2130000"/>
            <a:ext cx="26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0,85 ≤ r &lt; 0,97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2064" y="2130000"/>
            <a:ext cx="31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Entre 3 % y 15 % por debajo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70000"/>
            <a:ext cx="8229600" cy="3400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470000"/>
            <a:ext cx="22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Normal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2064" y="2470000"/>
            <a:ext cx="26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0,97 ≤ r ≤ 1,03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2064" y="2470000"/>
            <a:ext cx="31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Precio dentro del ±3 %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10000"/>
            <a:ext cx="822960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2810000"/>
            <a:ext cx="22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Inflado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2064" y="2810000"/>
            <a:ext cx="26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r &gt; 1,03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2064" y="2810000"/>
            <a:ext cx="31496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&gt; 3 % por encima del precio justo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00000"/>
            <a:ext cx="4023360" cy="1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300000"/>
            <a:ext cx="64008" cy="135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373152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Redundancia conceptual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3629184"/>
            <a:ext cx="3823360" cy="9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La categoría no es una propiedad observable del alojamiento sino una relación entre precio real y predicción. Entrenar un clasificador añadiría una capa de aprendizaje innecesaria sobre información ya contenida en el ratio 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300000"/>
            <a:ext cx="4023360" cy="1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63440" y="3300000"/>
            <a:ext cx="64008" cy="13500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3373152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8862E"/>
                </a:solidFill>
                <a:latin typeface="Calibri"/>
              </a:rPr>
              <a:t>Interpretabilidad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3629184"/>
            <a:ext cx="3823360" cy="9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La regla de umbrales es completamente transparente y reproducible: cualquier usuario puede verificar manualmente la categoría. Un clasificador de caja negra añadiría una fuente extra de error sobre el error de regresión ya existente.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Distribución de Chollos · Conjunto de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390.462 registros · predicciones del bosque aleatorio</a:t>
            </a:r>
          </a:p>
        </p:txBody>
      </p:sp>
      <p:pic>
        <p:nvPicPr>
          <p:cNvPr id="6" name="Picture 5" descr="distribucion_categoria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80" y="1080000"/>
            <a:ext cx="3048039" cy="328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00000" y="1200000"/>
            <a:ext cx="1010000" cy="70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0000" y="1245720"/>
            <a:ext cx="1010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41,5 %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593192"/>
            <a:ext cx="101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4F8FC"/>
                </a:solidFill>
                <a:latin typeface="Calibri"/>
              </a:rPr>
              <a:t>Total chollos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0000" y="1950000"/>
            <a:ext cx="1010000" cy="70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0000" y="1995720"/>
            <a:ext cx="1010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26,4 %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000" y="2343192"/>
            <a:ext cx="101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4F8FC"/>
                </a:solidFill>
                <a:latin typeface="Calibri"/>
              </a:rPr>
              <a:t>Inflado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0000" y="2700000"/>
            <a:ext cx="1010000" cy="70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0000" y="2745720"/>
            <a:ext cx="1010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32,1 %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000" y="3093192"/>
            <a:ext cx="101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4F8FC"/>
                </a:solidFill>
                <a:latin typeface="Calibri"/>
              </a:rPr>
              <a:t>Normal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3450000"/>
            <a:ext cx="1010000" cy="70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3495720"/>
            <a:ext cx="1010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D4A843"/>
                </a:solidFill>
                <a:latin typeface="Calibri"/>
              </a:rPr>
              <a:t>7,6 %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000" y="3843192"/>
            <a:ext cx="101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4F8FC"/>
                </a:solidFill>
                <a:latin typeface="Calibri"/>
              </a:rPr>
              <a:t>Hiper-chollo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6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E293B"/>
                </a:solidFill>
                <a:latin typeface="Calibri"/>
              </a:rPr>
              <a:t>4 de cada 10 alojamientos (41,5 %) tiene un precio real inferior al precio justo estimado por el modelo: una variabilidad que el usuario no puede percibir sin apoyo de ML.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Aplicación Web ·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0C060"/>
                </a:solidFill>
                <a:latin typeface="Calibri"/>
              </a:rPr>
              <a:t>Streamlit · flujo end-to-end de la búsqueda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0000"/>
            <a:ext cx="1550000" cy="75000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0000"/>
            <a:ext cx="155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Usuario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Formulario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preferencias + estrictez</a:t>
            </a:r>
          </a:p>
        </p:txBody>
      </p:sp>
      <p:sp>
        <p:nvSpPr>
          <p:cNvPr id="8" name="Rectangle 7"/>
          <p:cNvSpPr/>
          <p:nvPr/>
        </p:nvSpPr>
        <p:spPr>
          <a:xfrm>
            <a:off x="2082200" y="1200000"/>
            <a:ext cx="1550000" cy="75000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2200" y="1200000"/>
            <a:ext cx="155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Scraping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tiempo real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25 aloj./localidad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7200" y="1200000"/>
            <a:ext cx="1550000" cy="75000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7200" y="1200000"/>
            <a:ext cx="155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Preproceso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+ codificación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joblib encoders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2200" y="1200000"/>
            <a:ext cx="1550000" cy="75000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2200" y="1200000"/>
            <a:ext cx="155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Predicción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Bosque Aleatorio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Hugging Face 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57200" y="1200000"/>
            <a:ext cx="1550000" cy="75000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7200" y="1200000"/>
            <a:ext cx="1550000" cy="7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Categoriza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+ presenta</a:t>
            </a:r>
          </a:p>
          <a:p>
            <a:pPr algn="ctr">
              <a:lnSpc>
                <a:spcPct val="110000"/>
              </a:lnSpc>
            </a:pPr>
            <a:r>
              <a:rPr sz="850" b="1">
                <a:solidFill>
                  <a:srgbClr val="F0C060"/>
                </a:solidFill>
                <a:latin typeface="Calibri"/>
              </a:rPr>
              <a:t>tabla + gráfico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00000"/>
            <a:ext cx="4023360" cy="1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200000"/>
            <a:ext cx="64008" cy="115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273152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Nivel de estrictez (slider)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529184"/>
            <a:ext cx="3823360" cy="7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Predeterminado / Más estricto / Muy estricto: umbrales de ahorro configurables. Recategorizar es instantáneo (opera sobre precio real/predicho ya calculados, sin repetir scraping ni predicción).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200000"/>
            <a:ext cx="4023360" cy="1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2200000"/>
            <a:ext cx="64008" cy="11500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2273152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8862E"/>
                </a:solidFill>
                <a:latin typeface="Calibri"/>
              </a:rPr>
              <a:t>Modelo en Hugging Face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2529184"/>
            <a:ext cx="3823360" cy="7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El bosque aleatorio pesa ~1,3 GB (&gt; límite de 100 MB de GitHub): se aloja en un repositorio público de Hugging Face Hub y se descarga en tiempo de ejecución, cacheado en disco.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50000"/>
            <a:ext cx="8229600" cy="95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7200" y="3610000"/>
            <a:ext cx="79296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4F8FC"/>
                </a:solidFill>
                <a:latin typeface="Calibri"/>
              </a:rPr>
              <a:t>Página Home: mapa coroplético (Plotly) con nº de alojamientos por provincia + capa de puntos GPS.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200" y="3850000"/>
            <a:ext cx="79296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4F8FC"/>
                </a:solidFill>
                <a:latin typeface="Calibri"/>
              </a:rPr>
              <a:t>Despliegue: Streamlit Community Cloud · uv/pyproject.toml · packages.txt · CI continuo desde main.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Conclusiones y Trabajo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50000"/>
            <a:ext cx="4023360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64008" cy="3400000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23152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A5080"/>
                </a:solidFill>
                <a:latin typeface="Calibri"/>
              </a:rPr>
              <a:t>Conclusiones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79184"/>
            <a:ext cx="3823360" cy="3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•  El precio no es aleatorio: el RF explica el 86,8 % de la varianza (R²=0,8676) con error medio ±19,43 €.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•  4 de cada 10 alojamientos es un chollo: 41,5 % del test con precio real inferior al estimado.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•  La calidad del dato importa más que el algoritmo: diferencia val/test &lt; 0,001, sin sobreajuste.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•  La arquitectura end-to-end es el verdadero reto de ingeniería: scraping + preproceso + modelo + app coherentes.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150000"/>
            <a:ext cx="4023360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150000"/>
            <a:ext cx="64008" cy="34000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1223152"/>
            <a:ext cx="38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8862E"/>
                </a:solidFill>
                <a:latin typeface="Calibri"/>
              </a:rPr>
              <a:t>Trabajo futuro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1479184"/>
            <a:ext cx="3823360" cy="30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•  Ampliar a otras plataformas y comunidades autónomas.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•  Reentrenamiento periódico del modelo (orquestación de flujos).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•  Incorporar variables de texto (NLP sobre reseñas y descripciones).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•  Alertas automáticas de "hiper-chollo" según preferencias guardadas.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•  ML no supervisado (Isolation Forest, LOF) como complemento.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2652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TFG · Detección de Chollos en Andalucía · Mario Jiménez León · Universidad de Sevilla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900000"/>
            <a:ext cx="9144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50000"/>
            <a:ext cx="9144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0C060"/>
                </a:solidFill>
                <a:latin typeface="Calibri"/>
              </a:rPr>
              <a:t>Mario Jiménez León  ·  Universidad de Sevilla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150000"/>
            <a:ext cx="9144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Tutor: David Orellana Martín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