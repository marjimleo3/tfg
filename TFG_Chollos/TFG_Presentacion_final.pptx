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67" r:id="rId3"/>
    <p:sldId id="266" r:id="rId4"/>
    <p:sldId id="278" r:id="rId5"/>
    <p:sldId id="257" r:id="rId6"/>
    <p:sldId id="258" r:id="rId7"/>
    <p:sldId id="260" r:id="rId8"/>
    <p:sldId id="261" r:id="rId9"/>
    <p:sldId id="272" r:id="rId10"/>
    <p:sldId id="273" r:id="rId11"/>
    <p:sldId id="276" r:id="rId12"/>
    <p:sldId id="274" r:id="rId13"/>
    <p:sldId id="277" r:id="rId14"/>
    <p:sldId id="262" r:id="rId15"/>
    <p:sldId id="264" r:id="rId16"/>
    <p:sldId id="270" r:id="rId17"/>
    <p:sldId id="271" r:id="rId18"/>
    <p:sldId id="275" r:id="rId19"/>
    <p:sldId id="263" r:id="rId20"/>
    <p:sldId id="265" r:id="rId21"/>
    <p:sldId id="268" r:id="rId22"/>
    <p:sldId id="269" r:id="rId2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2" autoAdjust="0"/>
    <p:restoredTop sz="96247" autoAdjust="0"/>
  </p:normalViewPr>
  <p:slideViewPr>
    <p:cSldViewPr snapToGrid="0" snapToObjects="1">
      <p:cViewPr varScale="1">
        <p:scale>
          <a:sx n="140" d="100"/>
          <a:sy n="140" d="100"/>
        </p:scale>
        <p:origin x="774" y="12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67258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2.jpeg"/><Relationship Id="rId7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0" y="73152"/>
            <a:ext cx="1371600" cy="499719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Shape 3"/>
          <p:cNvSpPr/>
          <p:nvPr/>
        </p:nvSpPr>
        <p:spPr>
          <a:xfrm>
            <a:off x="8412480" y="73152"/>
            <a:ext cx="731520" cy="4997196"/>
          </a:xfrm>
          <a:prstGeom prst="rect">
            <a:avLst/>
          </a:prstGeom>
          <a:solidFill>
            <a:srgbClr val="2A5080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822960" cy="822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731520"/>
            <a:ext cx="6126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 de Chollos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1463040" y="1325880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Alojamientos Turísticos de Andalucía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457200" y="1920240"/>
            <a:ext cx="6126480" cy="36576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2048256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anomalías negativas en precios mediante ML supervisado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(regresión) y categorización automática de chollos · App web Streamlit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57200" y="2971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Mario Jiménez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32461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de Fin de Grado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57200" y="34747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de Sevilla · 2025–2026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4023360"/>
            <a:ext cx="1115568" cy="256032"/>
          </a:xfrm>
          <a:prstGeom prst="rect">
            <a:avLst/>
          </a:prstGeom>
          <a:solidFill>
            <a:srgbClr val="2A5080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457200" y="4023360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3.12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1700784" y="4023360"/>
            <a:ext cx="1115568" cy="256032"/>
          </a:xfrm>
          <a:prstGeom prst="rect">
            <a:avLst/>
          </a:prstGeom>
          <a:solidFill>
            <a:srgbClr val="2A5080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1700784" y="4023360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2944368" y="4023360"/>
            <a:ext cx="1115568" cy="256032"/>
          </a:xfrm>
          <a:prstGeom prst="rect">
            <a:avLst/>
          </a:prstGeom>
          <a:solidFill>
            <a:srgbClr val="2A5080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2944368" y="4023360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Selenium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187952" y="4023360"/>
            <a:ext cx="1115568" cy="256032"/>
          </a:xfrm>
          <a:prstGeom prst="rect">
            <a:avLst/>
          </a:prstGeom>
          <a:solidFill>
            <a:srgbClr val="2A5080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4187952" y="4023360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5431536" y="4023360"/>
            <a:ext cx="1115568" cy="256032"/>
          </a:xfrm>
          <a:prstGeom prst="rect">
            <a:avLst/>
          </a:prstGeom>
          <a:solidFill>
            <a:srgbClr val="2A5080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5431536" y="4023360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6675120" y="4023360"/>
            <a:ext cx="1115568" cy="256032"/>
          </a:xfrm>
          <a:prstGeom prst="rect">
            <a:avLst/>
          </a:prstGeom>
          <a:solidFill>
            <a:srgbClr val="2A5080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6675120" y="4023360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7918704" y="4023360"/>
            <a:ext cx="1115568" cy="256032"/>
          </a:xfrm>
          <a:prstGeom prst="rect">
            <a:avLst/>
          </a:prstGeom>
          <a:solidFill>
            <a:srgbClr val="2A5080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7918704" y="4023360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2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de Aplicación de Contenidos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6583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</a:t>
            </a:r>
            <a:r>
              <a:rPr lang="en-US" sz="1200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00" dirty="0" err="1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051560"/>
            <a:ext cx="8595360" cy="246888"/>
          </a:xfrm>
          <a:prstGeom prst="rect">
            <a:avLst/>
          </a:prstGeom>
          <a:solidFill>
            <a:srgbClr val="2A5080"/>
          </a:solidFill>
          <a:ln/>
        </p:spPr>
      </p:sp>
      <p:sp>
        <p:nvSpPr>
          <p:cNvPr id="7" name="Text 5"/>
          <p:cNvSpPr/>
          <p:nvPr/>
        </p:nvSpPr>
        <p:spPr>
          <a:xfrm>
            <a:off x="347472" y="1069848"/>
            <a:ext cx="11887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572768" y="1069848"/>
            <a:ext cx="20116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3621024" y="1069848"/>
            <a:ext cx="248716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Archivo / Función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6144768" y="1069848"/>
            <a:ext cx="23774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 en el proyecto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74320" y="1298448"/>
            <a:ext cx="859536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347472" y="1316736"/>
            <a:ext cx="11887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Scraping (Fase 1)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572768" y="1316736"/>
            <a:ext cx="20116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Selenium, webdriver-manager, BeautifulSoup4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3621024" y="1316736"/>
            <a:ext cx="248716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Scraping/Scrp_estancias_provincias.py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scrape_con_subdivision(), cargar_todo()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6144768" y="1316736"/>
            <a:ext cx="23774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Listados Booking: título, URL, valoración, tipo, estrellas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8595360" cy="393192"/>
          </a:xfrm>
          <a:prstGeom prst="rect">
            <a:avLst/>
          </a:prstGeom>
          <a:solidFill>
            <a:srgbClr val="E8F1FA"/>
          </a:solidFill>
          <a:ln/>
        </p:spPr>
      </p:sp>
      <p:sp>
        <p:nvSpPr>
          <p:cNvPr id="17" name="Text 15"/>
          <p:cNvSpPr/>
          <p:nvPr/>
        </p:nvSpPr>
        <p:spPr>
          <a:xfrm>
            <a:off x="347472" y="1709928"/>
            <a:ext cx="11887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Scraping (Fase 2)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572768" y="1709928"/>
            <a:ext cx="20116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Playwright, requests, GraphQL API Booking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3621024" y="1709928"/>
            <a:ext cx="248716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Scraping/Scrp_caracteristicas_estancias.py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BookingSession, _amenities(), _calendar()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6144768" y="1709928"/>
            <a:ext cx="23774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Fichas: ubicación GPS, servicios, 365 días precios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274320" y="2084832"/>
            <a:ext cx="859536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47472" y="2103120"/>
            <a:ext cx="11887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Preprocesamiento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1572768" y="2103120"/>
            <a:ext cx="20116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pandas, numpy, ast, json, regex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3621024" y="2103120"/>
            <a:ext cx="248716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Cleaning/preprocessing.py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extraer_servicios(), haversine_km_vec()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6144768" y="2103120"/>
            <a:ext cx="23774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 binarios, distancia Haversine, feature eng.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74320" y="2478024"/>
            <a:ext cx="8595360" cy="393192"/>
          </a:xfrm>
          <a:prstGeom prst="rect">
            <a:avLst/>
          </a:prstGeom>
          <a:solidFill>
            <a:srgbClr val="E8F1FA"/>
          </a:solidFill>
          <a:ln/>
        </p:spPr>
      </p:sp>
      <p:sp>
        <p:nvSpPr>
          <p:cNvPr id="27" name="Text 25"/>
          <p:cNvSpPr/>
          <p:nvPr/>
        </p:nvSpPr>
        <p:spPr>
          <a:xfrm>
            <a:off x="347472" y="2496312"/>
            <a:ext cx="11887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 (ML sup.)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1572768" y="2496312"/>
            <a:ext cx="20116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sklearn: LR, DT, RF · xgboost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3621024" y="2496312"/>
            <a:ext cx="248716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Modelizacion/Modelizacion.py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crear_bosque_aleatorio(), crear_boosting()...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144768" y="2496312"/>
            <a:ext cx="23774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Predicción del precio justo de referencia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274320" y="2871216"/>
            <a:ext cx="859536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47472" y="2889504"/>
            <a:ext cx="11887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Categorización Chollo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1572768" y="2889504"/>
            <a:ext cx="20116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numpy.np.select · pandas.Series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3621024" y="2889504"/>
            <a:ext cx="248716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Modelizacion/Modelizacion.py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crear_etiqueta_chollo(y_real, y_predicho)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6144768" y="2889504"/>
            <a:ext cx="23774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categorías: inflado/normal/chollo/super/hiper (ratio)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74320" y="3264408"/>
            <a:ext cx="8595360" cy="393192"/>
          </a:xfrm>
          <a:prstGeom prst="rect">
            <a:avLst/>
          </a:prstGeom>
          <a:solidFill>
            <a:srgbClr val="E8F1FA"/>
          </a:solidFill>
          <a:ln/>
        </p:spPr>
      </p:sp>
      <p:sp>
        <p:nvSpPr>
          <p:cNvPr id="37" name="Text 35"/>
          <p:cNvSpPr/>
          <p:nvPr/>
        </p:nvSpPr>
        <p:spPr>
          <a:xfrm>
            <a:off x="347472" y="3282696"/>
            <a:ext cx="11887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y Tuning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1572768" y="3282696"/>
            <a:ext cx="20116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GridSearchCV, K-Fold cv=3, train_test_split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r2_score, MAE, RMSE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3621024" y="3282696"/>
            <a:ext cx="248716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Modelizacion/Modelizacion.py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train_test_validation_particion()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6144768" y="3282696"/>
            <a:ext cx="23774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Holdout 70/15/15 · X_test tocado una sola vez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274320" y="3657600"/>
            <a:ext cx="859536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347472" y="3675888"/>
            <a:ext cx="11887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1572768" y="3675888"/>
            <a:ext cx="20116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seaborn, matplotlib, plotly.express, plot_tree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3621024" y="3675888"/>
            <a:ext cx="248716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Graficos/Grafico_Alojamientos_Andalucia.py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Modelizacion/Modelizacion.py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6144768" y="3675888"/>
            <a:ext cx="23774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coroplético, correlación, árbol, scatter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274320" y="4050792"/>
            <a:ext cx="8595360" cy="393192"/>
          </a:xfrm>
          <a:prstGeom prst="rect">
            <a:avLst/>
          </a:prstGeom>
          <a:solidFill>
            <a:srgbClr val="E8F1FA"/>
          </a:solidFill>
          <a:ln/>
        </p:spPr>
      </p:sp>
      <p:sp>
        <p:nvSpPr>
          <p:cNvPr id="47" name="Text 45"/>
          <p:cNvSpPr/>
          <p:nvPr/>
        </p:nvSpPr>
        <p:spPr>
          <a:xfrm>
            <a:off x="347472" y="4069080"/>
            <a:ext cx="11887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web + serialización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1572768" y="4069080"/>
            <a:ext cx="20116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Streamlit, joblib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3621024" y="4069080"/>
            <a:ext cx="248716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App/main.py · App/pages/Busqueda.py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6144768" y="4069080"/>
            <a:ext cx="23774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UI: formulario → scraping → regresión → chollos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274320" y="4443984"/>
            <a:ext cx="8595360" cy="39319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 dirty="0"/>
          </a:p>
        </p:txBody>
      </p:sp>
      <p:sp>
        <p:nvSpPr>
          <p:cNvPr id="52" name="Text 50"/>
          <p:cNvSpPr/>
          <p:nvPr/>
        </p:nvSpPr>
        <p:spPr>
          <a:xfrm>
            <a:off x="347472" y="4462272"/>
            <a:ext cx="11887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</a:t>
            </a: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7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entorno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1572768" y="4462272"/>
            <a:ext cx="20116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uv, pyproject.toml, python-</a:t>
            </a:r>
            <a:r>
              <a:rPr lang="en-US" sz="700" dirty="0" err="1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dotenv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3621024" y="4462272"/>
            <a:ext cx="248716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pyproject.toml · utils.py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6144768" y="4462272"/>
            <a:ext cx="23774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Entorno reproducible · paquetes editables · lockfile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457200" y="4828032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TFG · Detector de Chollos en Andalucía · Mario Jiménez · Universidad de Sevilla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859536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4630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del Entorno y Arquitectura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51663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· pyproject.toml · python-dotenv · </a:t>
            </a:r>
            <a:r>
              <a:rPr lang="en-US" sz="1100" dirty="0" err="1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paquetes</a:t>
            </a:r>
            <a:r>
              <a:rPr lang="en-US" sz="1100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321990" y="962508"/>
            <a:ext cx="2743200" cy="3088284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321990" y="761341"/>
            <a:ext cx="1554480" cy="201168"/>
          </a:xfrm>
          <a:prstGeom prst="rect">
            <a:avLst/>
          </a:prstGeom>
          <a:solidFill>
            <a:srgbClr val="2A5080"/>
          </a:solidFill>
          <a:ln/>
        </p:spPr>
      </p:sp>
      <p:sp>
        <p:nvSpPr>
          <p:cNvPr id="7" name="Text 5"/>
          <p:cNvSpPr/>
          <p:nvPr/>
        </p:nvSpPr>
        <p:spPr>
          <a:xfrm>
            <a:off x="1376854" y="761341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0C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pyproject.toml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450006" y="1035661"/>
            <a:ext cx="2487168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pyproject.toml (dependencias reales)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[project]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= "TFG"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dependencies = [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"beautifulsoup4&gt;=4.14.3",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</a:t>
            </a:r>
            <a:r>
              <a:rPr lang="en-US" sz="85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ipykernel</a:t>
            </a: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&gt;=7.2.0",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</a:t>
            </a:r>
            <a:r>
              <a:rPr lang="en-US" sz="85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joblib</a:t>
            </a: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&gt;=1.4.0",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</a:t>
            </a:r>
            <a:r>
              <a:rPr lang="en-US" sz="85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lxml</a:t>
            </a: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&gt;=6.0.2",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"matplotlib&gt;=3.9.0",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</a:t>
            </a:r>
            <a:r>
              <a:rPr lang="en-US" sz="85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nbformat</a:t>
            </a: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&gt;=4.2.0",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</a:t>
            </a:r>
            <a:r>
              <a:rPr lang="en-US" sz="85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numpy</a:t>
            </a: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&gt;=2.0.0",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"pandas&gt;=3.0.1",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"playwright&gt;=1.58.0",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</a:t>
            </a:r>
            <a:r>
              <a:rPr lang="en-US" sz="85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plotly</a:t>
            </a: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&gt;=6.6.0",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"python-</a:t>
            </a:r>
            <a:r>
              <a:rPr lang="en-US" sz="85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dotenv</a:t>
            </a: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&gt;=1.0.0",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"requests&gt;=2.32.5",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"scikit-learn&gt;=1.8.0",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"seaborn&gt;=0.13.2",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"selenium&gt;=4.41.0",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</a:t>
            </a:r>
            <a:r>
              <a:rPr lang="en-US" sz="85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setuptools</a:t>
            </a: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&gt;=82.0.1",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</a:t>
            </a:r>
            <a:r>
              <a:rPr lang="en-US" sz="85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streamlit</a:t>
            </a: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&gt;=1.35",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</a:t>
            </a:r>
            <a:r>
              <a:rPr lang="en-US" sz="85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webdriver</a:t>
            </a: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-manager&gt;=4.0.2",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</a:t>
            </a:r>
            <a:r>
              <a:rPr lang="en-US" sz="85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xgboost</a:t>
            </a: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&gt;=3.2.0"]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758770" y="987551"/>
            <a:ext cx="3063240" cy="2800385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8770" y="772668"/>
            <a:ext cx="2468880" cy="201168"/>
          </a:xfrm>
          <a:prstGeom prst="rect">
            <a:avLst/>
          </a:prstGeom>
          <a:solidFill>
            <a:srgbClr val="2A5080"/>
          </a:solidFill>
          <a:ln/>
        </p:spPr>
      </p:sp>
      <p:sp>
        <p:nvSpPr>
          <p:cNvPr id="11" name="Text 9"/>
          <p:cNvSpPr/>
          <p:nvPr/>
        </p:nvSpPr>
        <p:spPr>
          <a:xfrm>
            <a:off x="4786884" y="772668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0C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python-dotenv + utils.py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886786" y="1060704"/>
            <a:ext cx="2807208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.env — rutas sin hardcode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BASE=C:/ruta/TFG/TFG_Chollos</a:t>
            </a:r>
            <a:endParaRPr lang="en-US" sz="850" dirty="0"/>
          </a:p>
          <a:p>
            <a:pPr marL="0" indent="0">
              <a:buNone/>
            </a:pP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utils.py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conseguir_ruta_general_TFG():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load_dotenv()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base_env = os.getenv("BASE")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base_env: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Path(base_env)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Paquete editable (pip install -e .)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→ importar desde cualquier módulo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TFG_Chollos.utils import (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configurar_logger,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conseguir_ruta_general_TFG)</a:t>
            </a:r>
            <a:endParaRPr lang="en-US" sz="850" dirty="0"/>
          </a:p>
          <a:p>
            <a:pPr marL="0" indent="0">
              <a:buNone/>
            </a:pP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Logger centralizado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logging.basicConfig(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format="%(asctime)s | %(levelname)-8s"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" | %(message)s")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460663" y="4105656"/>
            <a:ext cx="2615184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460663" y="4105656"/>
            <a:ext cx="64008" cy="658368"/>
          </a:xfrm>
          <a:prstGeom prst="rect">
            <a:avLst/>
          </a:prstGeom>
          <a:solidFill>
            <a:srgbClr val="2A5080"/>
          </a:solidFill>
          <a:ln/>
        </p:spPr>
      </p:sp>
      <p:sp>
        <p:nvSpPr>
          <p:cNvPr id="19" name="Text 17"/>
          <p:cNvSpPr/>
          <p:nvPr/>
        </p:nvSpPr>
        <p:spPr>
          <a:xfrm>
            <a:off x="3613996" y="4147964"/>
            <a:ext cx="180061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como gestor de dependencias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625255" y="4434840"/>
            <a:ext cx="251036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 moderna a pip. Más rápido, con uv.lock reproducible. uv sync instala todo en una orden.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226382" y="4100675"/>
            <a:ext cx="2510369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26382" y="4100675"/>
            <a:ext cx="64008" cy="658368"/>
          </a:xfrm>
          <a:prstGeom prst="rect">
            <a:avLst/>
          </a:prstGeom>
          <a:solidFill>
            <a:srgbClr val="2A5080"/>
          </a:solidFill>
          <a:ln/>
        </p:spPr>
      </p:sp>
      <p:sp>
        <p:nvSpPr>
          <p:cNvPr id="23" name="Text 21"/>
          <p:cNvSpPr/>
          <p:nvPr/>
        </p:nvSpPr>
        <p:spPr>
          <a:xfrm>
            <a:off x="6390974" y="4173827"/>
            <a:ext cx="1435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Paquetes locales editables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340340" y="4429859"/>
            <a:ext cx="239641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</a:t>
            </a: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pip install -e . vincula los módulos como librería. Cambios en código se reflejan sin reinstalar.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199" y="4114800"/>
            <a:ext cx="2926081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" y="4114800"/>
            <a:ext cx="64008" cy="658368"/>
          </a:xfrm>
          <a:prstGeom prst="rect">
            <a:avLst/>
          </a:prstGeom>
          <a:solidFill>
            <a:srgbClr val="2A5080"/>
          </a:solidFill>
          <a:ln/>
        </p:spPr>
      </p:sp>
      <p:sp>
        <p:nvSpPr>
          <p:cNvPr id="27" name="Text 25"/>
          <p:cNvSpPr/>
          <p:nvPr/>
        </p:nvSpPr>
        <p:spPr>
          <a:xfrm>
            <a:off x="610533" y="4154106"/>
            <a:ext cx="140114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python-dotenv para rutas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21792" y="4443984"/>
            <a:ext cx="2761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 rutas absolutas </a:t>
            </a:r>
            <a:r>
              <a:rPr lang="en-US" sz="9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hardcodeadas</a:t>
            </a: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57200" y="4828032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TFG · Detector de Chollos en Andalucía · Mario Jiménez · Universidad de Sevilla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859536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ld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itle"/>
          <p:cNvSpPr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400" b="1" dirty="0">
                <a:solidFill>
                  <a:srgbClr val="FFFFFF"/>
                </a:solidFill>
                <a:latin typeface="Calibri" pitchFamily="34" charset="0"/>
              </a:rPr>
              <a:t>Estructura del Proyecto</a:t>
            </a:r>
          </a:p>
        </p:txBody>
      </p:sp>
      <p:sp>
        <p:nvSpPr>
          <p:cNvPr id="4" name="Sub"/>
          <p:cNvSpPr/>
          <p:nvPr/>
        </p:nvSpPr>
        <p:spPr>
          <a:xfrm>
            <a:off x="457200" y="603504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000" dirty="0">
                <a:solidFill>
                  <a:srgbClr val="F0C060"/>
                </a:solidFill>
                <a:latin typeface="Calibri" pitchFamily="34" charset="0"/>
              </a:rPr>
              <a:t>TFG_Chollos/  ·  data/  ·  pyproject.toml  —  arquitectura modular por responsabilidad</a:t>
            </a:r>
          </a:p>
        </p:txBody>
      </p:sp>
      <p:sp>
        <p:nvSpPr>
          <p:cNvPr id="10" name="Hdr0"/>
          <p:cNvSpPr/>
          <p:nvPr/>
        </p:nvSpPr>
        <p:spPr>
          <a:xfrm>
            <a:off x="182880" y="875880"/>
            <a:ext cx="1755648" cy="228600"/>
          </a:xfrm>
          <a:prstGeom prst="rect">
            <a:avLst/>
          </a:prstGeom>
          <a:solidFill>
            <a:srgbClr val="5C3A1E"/>
          </a:solidFill>
          <a:ln/>
        </p:spPr>
        <p:txBody>
          <a:bodyPr wrap="square" lIns="60960" tIns="30480" rIns="60960" bIns="30480" rtlCol="0" anchor="ctr"/>
          <a:lstStyle/>
          <a:p>
            <a:pPr marL="0" indent="0">
              <a:buNone/>
            </a:pPr>
            <a:r>
              <a:rPr lang="es-ES" sz="900" b="1" dirty="0">
                <a:solidFill>
                  <a:srgbClr val="D4A843"/>
                </a:solidFill>
                <a:latin typeface="Calibri" pitchFamily="34" charset="0"/>
              </a:rPr>
              <a:t>🕸️  Scraping/</a:t>
            </a:r>
          </a:p>
        </p:txBody>
      </p:sp>
      <p:sp>
        <p:nvSpPr>
          <p:cNvPr id="20" name="Code0"/>
          <p:cNvSpPr/>
          <p:nvPr/>
        </p:nvSpPr>
        <p:spPr>
          <a:xfrm>
            <a:off x="182880" y="1114200"/>
            <a:ext cx="1755648" cy="3236400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lIns="91440" tIns="73440" rIns="73440" bIns="73440" rtlCol="0" anchor="t"/>
          <a:lstStyle/>
          <a:p>
            <a:pPr marL="0" indent="0">
              <a:buNone/>
            </a:pPr>
            <a:r>
              <a:rPr lang="es-ES" sz="740" dirty="0">
                <a:solidFill>
                  <a:srgbClr val="F0C060"/>
                </a:solidFill>
                <a:latin typeface="Consolas" pitchFamily="34" charset="0"/>
              </a:rPr>
              <a:t>Generador_urls_generales.py</a:t>
            </a:r>
          </a:p>
          <a:p>
            <a:pPr marL="0" indent="0">
              <a:buNone/>
            </a:pPr>
            <a:r>
              <a:rPr lang="es-ES" sz="760" b="1" dirty="0">
                <a:solidFill>
                  <a:srgbClr val="FFFFFF"/>
                </a:solidFill>
                <a:latin typeface="Consolas" pitchFamily="34" charset="0"/>
              </a:rPr>
              <a:t>Scrp_estancias_provincias.py</a:t>
            </a:r>
          </a:p>
          <a:p>
            <a:pPr marL="0" indent="0">
              <a:buNone/>
            </a:pPr>
            <a:r>
              <a:rPr lang="es-ES" sz="700" dirty="0">
                <a:solidFill>
                  <a:srgbClr val="64748B"/>
                </a:solidFill>
                <a:latin typeface="Consolas" pitchFamily="34" charset="0"/>
              </a:rPr>
              <a:t>  # Selenium · listados</a:t>
            </a:r>
          </a:p>
          <a:p>
            <a:pPr marL="0" indent="0">
              <a:buNone/>
            </a:pPr>
            <a:r>
              <a:rPr lang="es-ES" sz="740" b="1" dirty="0">
                <a:solidFill>
                  <a:srgbClr val="FFFFFF"/>
                </a:solidFill>
                <a:latin typeface="Consolas" pitchFamily="34" charset="0"/>
              </a:rPr>
              <a:t>Scrp_caracteristicas_estancias.py</a:t>
            </a:r>
          </a:p>
          <a:p>
            <a:pPr marL="0" indent="0">
              <a:buNone/>
            </a:pPr>
            <a:r>
              <a:rPr lang="es-ES" sz="700" dirty="0">
                <a:solidFill>
                  <a:srgbClr val="64748B"/>
                </a:solidFill>
                <a:latin typeface="Consolas" pitchFamily="34" charset="0"/>
              </a:rPr>
              <a:t>  # Playwright · fichas detalle</a:t>
            </a:r>
          </a:p>
          <a:p>
            <a:pPr marL="0" indent="0">
              <a:buNone/>
            </a:pPr>
            <a:r>
              <a:rPr lang="es-ES" sz="740" dirty="0">
                <a:solidFill>
                  <a:srgbClr val="F0C060"/>
                </a:solidFill>
                <a:latin typeface="Consolas" pitchFamily="34" charset="0"/>
              </a:rPr>
              <a:t>obtener_coordenadas_centros.py</a:t>
            </a:r>
          </a:p>
          <a:p>
            <a:pPr marL="0" indent="0">
              <a:buNone/>
            </a:pPr>
            <a:r>
              <a:rPr lang="es-ES" sz="700" dirty="0">
                <a:solidFill>
                  <a:srgbClr val="64748B"/>
                </a:solidFill>
                <a:latin typeface="Consolas" pitchFamily="34" charset="0"/>
              </a:rPr>
              <a:t>  # Geocodificación Nominatim</a:t>
            </a:r>
          </a:p>
          <a:p>
            <a:pPr marL="0" indent="0">
              <a:buNone/>
            </a:pPr>
            <a:r>
              <a:rPr lang="es-ES" sz="760" dirty="0">
                <a:solidFill>
                  <a:srgbClr val="F0C060"/>
                </a:solidFill>
                <a:latin typeface="Consolas" pitchFamily="34" charset="0"/>
              </a:rPr>
              <a:t>patch_room_size.py</a:t>
            </a:r>
          </a:p>
          <a:p>
            <a:pPr marL="0" indent="0">
              <a:buNone/>
            </a:pPr>
            <a:r>
              <a:rPr lang="es-ES" sz="700" dirty="0">
                <a:solidFill>
                  <a:srgbClr val="64748B"/>
                </a:solidFill>
                <a:latin typeface="Consolas" pitchFamily="34" charset="0"/>
              </a:rPr>
              <a:t>  # ThreadPoolExecutor</a:t>
            </a:r>
          </a:p>
          <a:p>
            <a:pPr marL="0" indent="0">
              <a:buNone/>
            </a:pPr>
            <a:r>
              <a:rPr lang="es-ES" sz="700" dirty="0">
                <a:solidFill>
                  <a:srgbClr val="64748B"/>
                </a:solidFill>
                <a:latin typeface="Consolas" pitchFamily="34" charset="0"/>
              </a:rPr>
              <a:t>  # (5 workers)</a:t>
            </a:r>
          </a:p>
        </p:txBody>
      </p:sp>
      <p:sp>
        <p:nvSpPr>
          <p:cNvPr id="11" name="Hdr1"/>
          <p:cNvSpPr/>
          <p:nvPr/>
        </p:nvSpPr>
        <p:spPr>
          <a:xfrm>
            <a:off x="1948248" y="875880"/>
            <a:ext cx="1755648" cy="228600"/>
          </a:xfrm>
          <a:prstGeom prst="rect">
            <a:avLst/>
          </a:prstGeom>
          <a:solidFill>
            <a:srgbClr val="1B4E6B"/>
          </a:solidFill>
          <a:ln/>
        </p:spPr>
        <p:txBody>
          <a:bodyPr wrap="square" lIns="60960" tIns="30480" rIns="60960" bIns="30480" rtlCol="0" anchor="ctr"/>
          <a:lstStyle/>
          <a:p>
            <a:pPr marL="0" indent="0">
              <a:buNone/>
            </a:pPr>
            <a:r>
              <a:rPr lang="es-ES" sz="900" b="1" dirty="0">
                <a:solidFill>
                  <a:srgbClr val="D4A843"/>
                </a:solidFill>
                <a:latin typeface="Calibri" pitchFamily="34" charset="0"/>
              </a:rPr>
              <a:t>🧹  Cleaning/</a:t>
            </a:r>
          </a:p>
        </p:txBody>
      </p:sp>
      <p:sp>
        <p:nvSpPr>
          <p:cNvPr id="21" name="Code1"/>
          <p:cNvSpPr/>
          <p:nvPr/>
        </p:nvSpPr>
        <p:spPr>
          <a:xfrm>
            <a:off x="1948248" y="1114200"/>
            <a:ext cx="1755648" cy="3236400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lIns="91440" tIns="73440" rIns="73440" bIns="73440" rtlCol="0" anchor="t"/>
          <a:lstStyle/>
          <a:p>
            <a:pPr marL="0" indent="0">
              <a:buNone/>
            </a:pPr>
            <a:r>
              <a:rPr lang="es-ES" sz="800" b="1" dirty="0">
                <a:solidFill>
                  <a:srgbClr val="FFFFFF"/>
                </a:solidFill>
                <a:latin typeface="Consolas" pitchFamily="34" charset="0"/>
              </a:rPr>
              <a:t>preprocessing.py</a:t>
            </a:r>
          </a:p>
          <a:p>
            <a:pPr marL="0" indent="0">
              <a:buNone/>
            </a:pPr>
            <a:r>
              <a:rPr lang="es-ES" sz="710" dirty="0">
                <a:solidFill>
                  <a:srgbClr val="64748B"/>
                </a:solidFill>
                <a:latin typeface="Consolas" pitchFamily="34" charset="0"/>
              </a:rPr>
              <a:t>  # Limpieza y estructuración</a:t>
            </a:r>
          </a:p>
          <a:p>
            <a:pPr marL="0" indent="0">
              <a:buNone/>
            </a:pPr>
            <a:r>
              <a:rPr lang="es-ES" sz="500" dirty="0">
                <a:latin typeface="Consolas" pitchFamily="34" charset="0"/>
              </a:rPr>
              <a:t> </a:t>
            </a:r>
          </a:p>
          <a:p>
            <a:pPr marL="0" indent="0">
              <a:buNone/>
            </a:pPr>
            <a:r>
              <a:rPr lang="es-ES" sz="800" b="1" dirty="0">
                <a:solidFill>
                  <a:srgbClr val="FFFFFF"/>
                </a:solidFill>
                <a:latin typeface="Consolas" pitchFamily="34" charset="0"/>
              </a:rPr>
              <a:t>post_analisis.py</a:t>
            </a:r>
          </a:p>
          <a:p>
            <a:pPr marL="0" indent="0">
              <a:buNone/>
            </a:pPr>
            <a:r>
              <a:rPr lang="es-ES" sz="710" dirty="0">
                <a:solidFill>
                  <a:srgbClr val="64748B"/>
                </a:solidFill>
                <a:latin typeface="Consolas" pitchFamily="34" charset="0"/>
              </a:rPr>
              <a:t>  # Eliminación de outliers</a:t>
            </a:r>
          </a:p>
          <a:p>
            <a:pPr marL="0" indent="0">
              <a:buNone/>
            </a:pPr>
            <a:r>
              <a:rPr lang="es-ES" sz="710" dirty="0">
                <a:solidFill>
                  <a:srgbClr val="64748B"/>
                </a:solidFill>
                <a:latin typeface="Consolas" pitchFamily="34" charset="0"/>
              </a:rPr>
              <a:t>  # IQR · Tukey</a:t>
            </a:r>
          </a:p>
          <a:p>
            <a:pPr marL="0" indent="0">
              <a:buNone/>
            </a:pPr>
            <a:r>
              <a:rPr lang="es-ES" sz="500" dirty="0">
                <a:latin typeface="Consolas" pitchFamily="34" charset="0"/>
              </a:rPr>
              <a:t> </a:t>
            </a:r>
          </a:p>
          <a:p>
            <a:pPr marL="0" indent="0">
              <a:buNone/>
            </a:pPr>
            <a:r>
              <a:rPr lang="es-ES" sz="800" b="1" dirty="0">
                <a:solidFill>
                  <a:srgbClr val="FFFFFF"/>
                </a:solidFill>
                <a:latin typeface="Consolas" pitchFamily="34" charset="0"/>
              </a:rPr>
              <a:t>encoding.py</a:t>
            </a:r>
          </a:p>
          <a:p>
            <a:pPr marL="0" indent="0">
              <a:buNone/>
            </a:pPr>
            <a:r>
              <a:rPr lang="es-ES" sz="710" dirty="0">
                <a:solidFill>
                  <a:srgbClr val="64748B"/>
                </a:solidFill>
                <a:latin typeface="Consolas" pitchFamily="34" charset="0"/>
              </a:rPr>
              <a:t>  # Codificación para ML</a:t>
            </a:r>
          </a:p>
          <a:p>
            <a:pPr marL="0" indent="0">
              <a:buNone/>
            </a:pPr>
            <a:r>
              <a:rPr lang="es-ES" sz="710" dirty="0">
                <a:solidFill>
                  <a:srgbClr val="64748B"/>
                </a:solidFill>
                <a:latin typeface="Consolas" pitchFamily="34" charset="0"/>
              </a:rPr>
              <a:t>  # LabelEnc · OHE · joblib</a:t>
            </a:r>
          </a:p>
        </p:txBody>
      </p:sp>
      <p:sp>
        <p:nvSpPr>
          <p:cNvPr id="12" name="Hdr2"/>
          <p:cNvSpPr/>
          <p:nvPr/>
        </p:nvSpPr>
        <p:spPr>
          <a:xfrm>
            <a:off x="3713616" y="875880"/>
            <a:ext cx="1755648" cy="228600"/>
          </a:xfrm>
          <a:prstGeom prst="rect">
            <a:avLst/>
          </a:prstGeom>
          <a:solidFill>
            <a:srgbClr val="1F5C40"/>
          </a:solidFill>
          <a:ln/>
        </p:spPr>
        <p:txBody>
          <a:bodyPr wrap="square" lIns="60960" tIns="30480" rIns="60960" bIns="30480" rtlCol="0" anchor="ctr"/>
          <a:lstStyle/>
          <a:p>
            <a:pPr marL="0" indent="0">
              <a:buNone/>
            </a:pPr>
            <a:r>
              <a:rPr lang="es-ES" sz="900" b="1" dirty="0">
                <a:solidFill>
                  <a:srgbClr val="D4A843"/>
                </a:solidFill>
                <a:latin typeface="Calibri" pitchFamily="34" charset="0"/>
              </a:rPr>
              <a:t>🧠  Modelizacion/</a:t>
            </a:r>
          </a:p>
        </p:txBody>
      </p:sp>
      <p:sp>
        <p:nvSpPr>
          <p:cNvPr id="22" name="Code2"/>
          <p:cNvSpPr/>
          <p:nvPr/>
        </p:nvSpPr>
        <p:spPr>
          <a:xfrm>
            <a:off x="3713616" y="1114200"/>
            <a:ext cx="1755648" cy="3236400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lIns="91440" tIns="73440" rIns="73440" bIns="73440" rtlCol="0" anchor="t"/>
          <a:lstStyle/>
          <a:p>
            <a:pPr marL="0" indent="0">
              <a:buNone/>
            </a:pPr>
            <a:r>
              <a:rPr lang="es-ES" sz="800" b="1" dirty="0">
                <a:solidFill>
                  <a:srgbClr val="FFFFFF"/>
                </a:solidFill>
                <a:latin typeface="Consolas" pitchFamily="34" charset="0"/>
              </a:rPr>
              <a:t>Modelizacion.py</a:t>
            </a:r>
          </a:p>
          <a:p>
            <a:pPr marL="0" indent="0">
              <a:buNone/>
            </a:pPr>
            <a:r>
              <a:rPr lang="es-ES" sz="710" dirty="0">
                <a:solidFill>
                  <a:srgbClr val="64748B"/>
                </a:solidFill>
                <a:latin typeface="Consolas" pitchFamily="34" charset="0"/>
              </a:rPr>
              <a:t>  # Entrenamiento y evaluación</a:t>
            </a:r>
          </a:p>
          <a:p>
            <a:pPr marL="0" indent="0">
              <a:buNone/>
            </a:pPr>
            <a:r>
              <a:rPr lang="es-ES" sz="710" dirty="0">
                <a:solidFill>
                  <a:srgbClr val="64748B"/>
                </a:solidFill>
                <a:latin typeface="Consolas" pitchFamily="34" charset="0"/>
              </a:rPr>
              <a:t>  # LR · DT · RF · XGBoost</a:t>
            </a:r>
          </a:p>
          <a:p>
            <a:pPr marL="0" indent="0">
              <a:buNone/>
            </a:pPr>
            <a:r>
              <a:rPr lang="es-ES" sz="500" dirty="0">
                <a:latin typeface="Consolas" pitchFamily="34" charset="0"/>
              </a:rPr>
              <a:t> </a:t>
            </a:r>
          </a:p>
          <a:p>
            <a:pPr marL="0" indent="0">
              <a:buNone/>
            </a:pPr>
            <a:r>
              <a:rPr lang="es-ES" sz="800" b="1" dirty="0">
                <a:solidFill>
                  <a:srgbClr val="FFFFFF"/>
                </a:solidFill>
                <a:latin typeface="Consolas" pitchFamily="34" charset="0"/>
              </a:rPr>
              <a:t>transformaciones.py</a:t>
            </a:r>
          </a:p>
          <a:p>
            <a:pPr marL="0" indent="0">
              <a:buNone/>
            </a:pPr>
            <a:r>
              <a:rPr lang="es-ES" sz="710" dirty="0">
                <a:solidFill>
                  <a:srgbClr val="64748B"/>
                </a:solidFill>
                <a:latin typeface="Consolas" pitchFamily="34" charset="0"/>
              </a:rPr>
              <a:t>  # Partición 70 / 15 / 15</a:t>
            </a:r>
          </a:p>
          <a:p>
            <a:pPr marL="0" indent="0">
              <a:buNone/>
            </a:pPr>
            <a:r>
              <a:rPr lang="es-ES" sz="710" dirty="0">
                <a:solidFill>
                  <a:srgbClr val="64748B"/>
                </a:solidFill>
                <a:latin typeface="Consolas" pitchFamily="34" charset="0"/>
              </a:rPr>
              <a:t>  # StandardScaler</a:t>
            </a:r>
          </a:p>
          <a:p>
            <a:pPr marL="0" indent="0">
              <a:buNone/>
            </a:pPr>
            <a:r>
              <a:rPr lang="es-ES" sz="500" dirty="0">
                <a:latin typeface="Consolas" pitchFamily="34" charset="0"/>
              </a:rPr>
              <a:t> </a:t>
            </a:r>
          </a:p>
          <a:p>
            <a:pPr marL="0" indent="0">
              <a:buNone/>
            </a:pPr>
            <a:r>
              <a:rPr lang="es-ES" sz="800" b="1" dirty="0">
                <a:solidFill>
                  <a:srgbClr val="D4A843"/>
                </a:solidFill>
                <a:latin typeface="Consolas" pitchFamily="34" charset="0"/>
              </a:rPr>
              <a:t>Graficos/</a:t>
            </a:r>
          </a:p>
          <a:p>
            <a:pPr marL="0" indent="0">
              <a:buNone/>
            </a:pPr>
            <a:r>
              <a:rPr lang="es-ES" sz="760" dirty="0">
                <a:solidFill>
                  <a:srgbClr val="F0C060"/>
                </a:solidFill>
                <a:latin typeface="Consolas" pitchFamily="34" charset="0"/>
              </a:rPr>
              <a:t>  Grafico_Alojamientos.py</a:t>
            </a:r>
          </a:p>
          <a:p>
            <a:pPr marL="0" indent="0">
              <a:buNone/>
            </a:pPr>
            <a:r>
              <a:rPr lang="es-ES" sz="780" b="1" dirty="0">
                <a:solidFill>
                  <a:srgbClr val="4FC3F7"/>
                </a:solidFill>
                <a:latin typeface="Consolas" pitchFamily="34" charset="0"/>
              </a:rPr>
              <a:t>  correlacion.R</a:t>
            </a:r>
          </a:p>
          <a:p>
            <a:pPr marL="0" indent="0">
              <a:buNone/>
            </a:pPr>
            <a:r>
              <a:rPr lang="es-ES" sz="700" dirty="0">
                <a:solidFill>
                  <a:srgbClr val="4FC3F7"/>
                </a:solidFill>
                <a:latin typeface="Consolas" pitchFamily="34" charset="0"/>
              </a:rPr>
              <a:t>  # Pearson · R 4.x · arrow</a:t>
            </a:r>
          </a:p>
        </p:txBody>
      </p:sp>
      <p:sp>
        <p:nvSpPr>
          <p:cNvPr id="13" name="Hdr3"/>
          <p:cNvSpPr/>
          <p:nvPr/>
        </p:nvSpPr>
        <p:spPr>
          <a:xfrm>
            <a:off x="5478984" y="875880"/>
            <a:ext cx="1755648" cy="228600"/>
          </a:xfrm>
          <a:prstGeom prst="rect">
            <a:avLst/>
          </a:prstGeom>
          <a:solidFill>
            <a:srgbClr val="5C1A1A"/>
          </a:solidFill>
          <a:ln/>
        </p:spPr>
        <p:txBody>
          <a:bodyPr wrap="square" lIns="60960" tIns="30480" rIns="60960" bIns="30480" rtlCol="0" anchor="ctr"/>
          <a:lstStyle/>
          <a:p>
            <a:pPr marL="0" indent="0">
              <a:buNone/>
            </a:pPr>
            <a:r>
              <a:rPr lang="es-ES" sz="900" b="1" dirty="0">
                <a:solidFill>
                  <a:srgbClr val="D4A843"/>
                </a:solidFill>
                <a:latin typeface="Calibri" pitchFamily="34" charset="0"/>
              </a:rPr>
              <a:t>🖥️  App/</a:t>
            </a:r>
          </a:p>
        </p:txBody>
      </p:sp>
      <p:sp>
        <p:nvSpPr>
          <p:cNvPr id="23" name="Code3"/>
          <p:cNvSpPr/>
          <p:nvPr/>
        </p:nvSpPr>
        <p:spPr>
          <a:xfrm>
            <a:off x="5478984" y="1114200"/>
            <a:ext cx="1755648" cy="3236400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lIns="91440" tIns="73440" rIns="73440" bIns="73440" rtlCol="0" anchor="t"/>
          <a:lstStyle/>
          <a:p>
            <a:pPr marL="0" indent="0">
              <a:buNone/>
            </a:pPr>
            <a:r>
              <a:rPr lang="es-ES" sz="790" b="1" dirty="0">
                <a:solidFill>
                  <a:srgbClr val="FFFFFF"/>
                </a:solidFill>
                <a:latin typeface="Consolas" pitchFamily="34" charset="0"/>
              </a:rPr>
              <a:t>main.py</a:t>
            </a:r>
          </a:p>
          <a:p>
            <a:pPr marL="0" indent="0">
              <a:buNone/>
            </a:pPr>
            <a:r>
              <a:rPr lang="es-ES" sz="710" dirty="0">
                <a:solidFill>
                  <a:srgbClr val="64748B"/>
                </a:solidFill>
                <a:latin typeface="Consolas" pitchFamily="34" charset="0"/>
              </a:rPr>
              <a:t>  # Página principal (mapa)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F0C060"/>
                </a:solidFill>
                <a:latin typeface="Consolas" pitchFamily="34" charset="0"/>
              </a:rPr>
              <a:t>run.py  # Lanzador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F0C060"/>
                </a:solidFill>
                <a:latin typeface="Consolas" pitchFamily="34" charset="0"/>
              </a:rPr>
              <a:t>graficos_analisis.py</a:t>
            </a:r>
          </a:p>
          <a:p>
            <a:pPr marL="0" indent="0">
              <a:buNone/>
            </a:pPr>
            <a:r>
              <a:rPr lang="es-ES" sz="790" b="1" dirty="0">
                <a:solidFill>
                  <a:srgbClr val="FFFFFF"/>
                </a:solidFill>
                <a:latin typeface="Consolas" pitchFamily="34" charset="0"/>
              </a:rPr>
              <a:t>_predictor.py</a:t>
            </a:r>
          </a:p>
          <a:p>
            <a:pPr marL="0" indent="0">
              <a:buNone/>
            </a:pPr>
            <a:r>
              <a:rPr lang="es-ES" sz="710" dirty="0">
                <a:solidFill>
                  <a:srgbClr val="64748B"/>
                </a:solidFill>
                <a:latin typeface="Consolas" pitchFamily="34" charset="0"/>
              </a:rPr>
              <a:t>  # Predicción (joblib)</a:t>
            </a:r>
          </a:p>
          <a:p>
            <a:pPr marL="0" indent="0">
              <a:buNone/>
            </a:pPr>
            <a:r>
              <a:rPr lang="es-ES" sz="790" b="1" dirty="0">
                <a:solidFill>
                  <a:srgbClr val="FFFFFF"/>
                </a:solidFill>
                <a:latin typeface="Consolas" pitchFamily="34" charset="0"/>
              </a:rPr>
              <a:t>_scraper_app.py</a:t>
            </a:r>
          </a:p>
          <a:p>
            <a:pPr marL="0" indent="0">
              <a:buNone/>
            </a:pPr>
            <a:r>
              <a:rPr lang="es-ES" sz="710" dirty="0">
                <a:solidFill>
                  <a:srgbClr val="64748B"/>
                </a:solidFill>
                <a:latin typeface="Consolas" pitchFamily="34" charset="0"/>
              </a:rPr>
              <a:t>  # Scraping en real-time</a:t>
            </a:r>
          </a:p>
          <a:p>
            <a:pPr marL="0" indent="0">
              <a:buNone/>
            </a:pPr>
            <a:r>
              <a:rPr lang="es-ES" sz="790" b="1" dirty="0">
                <a:solidFill>
                  <a:srgbClr val="FFFFFF"/>
                </a:solidFill>
                <a:latin typeface="Consolas" pitchFamily="34" charset="0"/>
              </a:rPr>
              <a:t>_feature_engineering.py</a:t>
            </a:r>
          </a:p>
          <a:p>
            <a:pPr marL="0" indent="0">
              <a:buNone/>
            </a:pPr>
            <a:r>
              <a:rPr lang="es-ES" sz="710" dirty="0">
                <a:solidFill>
                  <a:srgbClr val="64748B"/>
                </a:solidFill>
                <a:latin typeface="Consolas" pitchFamily="34" charset="0"/>
              </a:rPr>
              <a:t>  # Preprocesado predicción</a:t>
            </a:r>
          </a:p>
          <a:p>
            <a:pPr marL="0" indent="0">
              <a:buNone/>
            </a:pPr>
            <a:r>
              <a:rPr lang="es-ES" sz="800" b="1" dirty="0">
                <a:solidFill>
                  <a:srgbClr val="D4A843"/>
                </a:solidFill>
                <a:latin typeface="Consolas" pitchFamily="34" charset="0"/>
              </a:rPr>
              <a:t>pages/</a:t>
            </a:r>
          </a:p>
          <a:p>
            <a:pPr marL="0" indent="0">
              <a:buNone/>
            </a:pPr>
            <a:r>
              <a:rPr lang="es-ES" sz="800" b="1" dirty="0">
                <a:solidFill>
                  <a:srgbClr val="FFFFFF"/>
                </a:solidFill>
                <a:latin typeface="Consolas" pitchFamily="34" charset="0"/>
              </a:rPr>
              <a:t>  Busqueda.py</a:t>
            </a:r>
          </a:p>
          <a:p>
            <a:pPr marL="0" indent="0">
              <a:buNone/>
            </a:pPr>
            <a:r>
              <a:rPr lang="es-ES" sz="710" dirty="0">
                <a:solidFill>
                  <a:srgbClr val="64748B"/>
                </a:solidFill>
                <a:latin typeface="Consolas" pitchFamily="34" charset="0"/>
              </a:rPr>
              <a:t>  # Búsqueda de chollos</a:t>
            </a:r>
          </a:p>
        </p:txBody>
      </p:sp>
      <p:sp>
        <p:nvSpPr>
          <p:cNvPr id="14" name="Hdr4"/>
          <p:cNvSpPr/>
          <p:nvPr/>
        </p:nvSpPr>
        <p:spPr>
          <a:xfrm>
            <a:off x="7244352" y="875880"/>
            <a:ext cx="1755648" cy="228600"/>
          </a:xfrm>
          <a:prstGeom prst="rect">
            <a:avLst/>
          </a:prstGeom>
          <a:solidFill>
            <a:srgbClr val="2C4A1A"/>
          </a:solidFill>
          <a:ln/>
        </p:spPr>
        <p:txBody>
          <a:bodyPr wrap="square" lIns="60960" tIns="30480" rIns="60960" bIns="30480" rtlCol="0" anchor="ctr"/>
          <a:lstStyle/>
          <a:p>
            <a:pPr marL="0" indent="0">
              <a:buNone/>
            </a:pPr>
            <a:r>
              <a:rPr lang="es-ES" sz="900" b="1" dirty="0">
                <a:solidFill>
                  <a:srgbClr val="D4A843"/>
                </a:solidFill>
                <a:latin typeface="Calibri" pitchFamily="34" charset="0"/>
              </a:rPr>
              <a:t>💾  data/</a:t>
            </a:r>
          </a:p>
        </p:txBody>
      </p:sp>
      <p:sp>
        <p:nvSpPr>
          <p:cNvPr id="24" name="Code4"/>
          <p:cNvSpPr/>
          <p:nvPr/>
        </p:nvSpPr>
        <p:spPr>
          <a:xfrm>
            <a:off x="7244352" y="1114200"/>
            <a:ext cx="1755648" cy="3236400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lIns="91440" tIns="73440" rIns="73440" bIns="73440" rtlCol="0" anchor="t"/>
          <a:lstStyle/>
          <a:p>
            <a:pPr marL="0" indent="0">
              <a:buNone/>
            </a:pPr>
            <a:r>
              <a:rPr lang="es-ES" sz="820" b="1" dirty="0">
                <a:solidFill>
                  <a:srgbClr val="F0C060"/>
                </a:solidFill>
                <a:latin typeface="Consolas" pitchFamily="34" charset="0"/>
              </a:rPr>
              <a:t>raw/</a:t>
            </a:r>
          </a:p>
          <a:p>
            <a:pPr marL="0" indent="0">
              <a:buNone/>
            </a:pPr>
            <a:r>
              <a:rPr lang="es-ES" sz="710" dirty="0">
                <a:solidFill>
                  <a:srgbClr val="64748B"/>
                </a:solidFill>
                <a:latin typeface="Consolas" pitchFamily="34" charset="0"/>
              </a:rPr>
              <a:t>  # Datos brutos del</a:t>
            </a:r>
          </a:p>
          <a:p>
            <a:pPr marL="0" indent="0">
              <a:buNone/>
            </a:pPr>
            <a:r>
              <a:rPr lang="es-ES" sz="710" dirty="0">
                <a:solidFill>
                  <a:srgbClr val="64748B"/>
                </a:solidFill>
                <a:latin typeface="Consolas" pitchFamily="34" charset="0"/>
              </a:rPr>
              <a:t>  # scraping (CSV)</a:t>
            </a:r>
          </a:p>
          <a:p>
            <a:pPr marL="0" indent="0">
              <a:buNone/>
            </a:pPr>
            <a:r>
              <a:rPr lang="es-ES" sz="500" dirty="0">
                <a:latin typeface="Consolas" pitchFamily="34" charset="0"/>
              </a:rPr>
              <a:t> </a:t>
            </a:r>
          </a:p>
          <a:p>
            <a:pPr marL="0" indent="0">
              <a:buNone/>
            </a:pPr>
            <a:r>
              <a:rPr lang="es-ES" sz="820" b="1" dirty="0">
                <a:solidFill>
                  <a:srgbClr val="F0C060"/>
                </a:solidFill>
                <a:latin typeface="Consolas" pitchFamily="34" charset="0"/>
              </a:rPr>
              <a:t>processed/</a:t>
            </a:r>
          </a:p>
          <a:p>
            <a:pPr marL="0" indent="0">
              <a:buNone/>
            </a:pPr>
            <a:r>
              <a:rPr lang="es-ES" sz="710" dirty="0">
                <a:solidFill>
                  <a:srgbClr val="64748B"/>
                </a:solidFill>
                <a:latin typeface="Consolas" pitchFamily="34" charset="0"/>
              </a:rPr>
              <a:t>  # Limpios + codificados</a:t>
            </a:r>
          </a:p>
          <a:p>
            <a:pPr marL="0" indent="0">
              <a:buNone/>
            </a:pPr>
            <a:r>
              <a:rPr lang="es-ES" sz="710" dirty="0">
                <a:solidFill>
                  <a:srgbClr val="64748B"/>
                </a:solidFill>
                <a:latin typeface="Consolas" pitchFamily="34" charset="0"/>
              </a:rPr>
              <a:t>  # (.parquet)</a:t>
            </a:r>
          </a:p>
          <a:p>
            <a:pPr marL="0" indent="0">
              <a:buNone/>
            </a:pPr>
            <a:r>
              <a:rPr lang="es-ES" sz="500" dirty="0">
                <a:latin typeface="Consolas" pitchFamily="34" charset="0"/>
              </a:rPr>
              <a:t> </a:t>
            </a:r>
          </a:p>
          <a:p>
            <a:pPr marL="0" indent="0">
              <a:buNone/>
            </a:pPr>
            <a:r>
              <a:rPr lang="es-ES" sz="820" b="1" dirty="0">
                <a:solidFill>
                  <a:srgbClr val="16A34A"/>
                </a:solidFill>
                <a:latin typeface="Consolas" pitchFamily="34" charset="0"/>
              </a:rPr>
              <a:t>models/</a:t>
            </a:r>
          </a:p>
          <a:p>
            <a:pPr marL="0" indent="0">
              <a:buNone/>
            </a:pPr>
            <a:r>
              <a:rPr lang="es-ES" sz="710" dirty="0">
                <a:solidFill>
                  <a:srgbClr val="64748B"/>
                </a:solidFill>
                <a:latin typeface="Consolas" pitchFamily="34" charset="0"/>
              </a:rPr>
              <a:t>  # .pkl entrenados</a:t>
            </a:r>
          </a:p>
          <a:p>
            <a:pPr marL="0" indent="0">
              <a:buNone/>
            </a:pPr>
            <a:r>
              <a:rPr lang="es-ES" sz="500" dirty="0">
                <a:latin typeface="Consolas" pitchFamily="34" charset="0"/>
              </a:rPr>
              <a:t> </a:t>
            </a:r>
          </a:p>
          <a:p>
            <a:pPr marL="0" indent="0">
              <a:buNone/>
            </a:pPr>
            <a:r>
              <a:rPr lang="es-ES" sz="820" b="1" dirty="0">
                <a:solidFill>
                  <a:srgbClr val="F0C060"/>
                </a:solidFill>
                <a:latin typeface="Consolas" pitchFamily="34" charset="0"/>
              </a:rPr>
              <a:t>resultados/</a:t>
            </a:r>
          </a:p>
          <a:p>
            <a:pPr marL="0" indent="0">
              <a:buNone/>
            </a:pPr>
            <a:r>
              <a:rPr lang="es-ES" sz="710" dirty="0">
                <a:solidFill>
                  <a:srgbClr val="64748B"/>
                </a:solidFill>
                <a:latin typeface="Consolas" pitchFamily="34" charset="0"/>
              </a:rPr>
              <a:t>  # Métricas evaluación</a:t>
            </a:r>
          </a:p>
        </p:txBody>
      </p:sp>
      <p:sp>
        <p:nvSpPr>
          <p:cNvPr id="30" name="Bottom"/>
          <p:cNvSpPr/>
          <p:nvPr/>
        </p:nvSpPr>
        <p:spPr>
          <a:xfrm>
            <a:off x="182880" y="4390920"/>
            <a:ext cx="8778240" cy="274320"/>
          </a:xfrm>
          <a:prstGeom prst="rect">
            <a:avLst/>
          </a:prstGeom>
          <a:solidFill>
            <a:srgbClr val="1E3A5F"/>
          </a:solidFill>
          <a:ln>
            <a:solidFill>
              <a:srgbClr val="2A5080"/>
            </a:solidFill>
          </a:ln>
        </p:spPr>
        <p:txBody>
          <a:bodyPr wrap="square" lIns="182880" tIns="45720" rIns="182880" bIns="45720" rtlCol="0" anchor="ctr"/>
          <a:lstStyle/>
          <a:p>
            <a:pPr marL="0" indent="0">
              <a:buNone/>
            </a:pPr>
            <a:r>
              <a:rPr lang="es-ES" sz="880" b="1" dirty="0">
                <a:solidFill>
                  <a:srgbClr val="D4A843"/>
                </a:solidFill>
                <a:latin typeface="Consolas" pitchFamily="34" charset="0"/>
              </a:rPr>
              <a:t>pyproject.toml</a:t>
            </a:r>
            <a:r>
              <a:rPr lang="es-ES" sz="820" dirty="0">
                <a:solidFill>
                  <a:srgbClr val="CBD5E1"/>
                </a:solidFill>
                <a:latin typeface="Calibri" pitchFamily="34" charset="0"/>
              </a:rPr>
              <a:t>  ·  uv · dependencias reproducibles · pip install -e .</a:t>
            </a:r>
            <a:r>
              <a:rPr lang="es-ES" sz="820" dirty="0">
                <a:latin typeface="Calibri" pitchFamily="34" charset="0"/>
              </a:rPr>
              <a:t>          </a:t>
            </a:r>
            <a:r>
              <a:rPr lang="es-ES" sz="880" b="1" dirty="0">
                <a:solidFill>
                  <a:srgbClr val="D4A843"/>
                </a:solidFill>
                <a:latin typeface="Consolas" pitchFamily="34" charset="0"/>
              </a:rPr>
              <a:t>utils.py</a:t>
            </a:r>
            <a:r>
              <a:rPr lang="es-ES" sz="820" dirty="0">
                <a:solidFill>
                  <a:srgbClr val="CBD5E1"/>
                </a:solidFill>
                <a:latin typeface="Calibri" pitchFamily="34" charset="0"/>
              </a:rPr>
              <a:t>  ·  conseguir_ruta_general_TFG() · configurar_logger() · python-dotenv</a:t>
            </a:r>
          </a:p>
        </p:txBody>
      </p:sp>
      <p:sp>
        <p:nvSpPr>
          <p:cNvPr id="97" name="Footer"/>
          <p:cNvSpPr/>
          <p:nvPr/>
        </p:nvSpPr>
        <p:spPr>
          <a:xfrm>
            <a:off x="457200" y="4826520"/>
            <a:ext cx="7772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800" dirty="0">
                <a:solidFill>
                  <a:srgbClr val="4A6080"/>
                </a:solidFill>
                <a:latin typeface="Calibri" pitchFamily="34" charset="0"/>
              </a:rPr>
              <a:t>TFG · Detector de Chollos en Andalucía · Mario Jiménez · Universidad de Sevilla</a:t>
            </a:r>
          </a:p>
        </p:txBody>
      </p:sp>
      <p:sp>
        <p:nvSpPr>
          <p:cNvPr id="98" name="PageNum"/>
          <p:cNvSpPr/>
          <p:nvPr/>
        </p:nvSpPr>
        <p:spPr>
          <a:xfrm>
            <a:off x="859464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s-ES" sz="900" dirty="0">
              <a:solidFill>
                <a:srgbClr val="4A6080"/>
              </a:solidFill>
              <a:latin typeface="Calibri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Certificados de Formación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749808"/>
            <a:ext cx="8229600" cy="36576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DataCamp</a:t>
            </a:r>
            <a:r>
              <a:rPr lang="en-US" sz="1100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(5 cursos · pandas, Python) + Dagster Essentials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170432"/>
            <a:ext cx="4114800" cy="2331720"/>
          </a:xfrm>
          <a:prstGeom prst="rect">
            <a:avLst/>
          </a:prstGeom>
          <a:solidFill>
            <a:srgbClr val="1E3A5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170432"/>
            <a:ext cx="411480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6"/>
          <p:cNvSpPr/>
          <p:nvPr/>
        </p:nvSpPr>
        <p:spPr>
          <a:xfrm>
            <a:off x="384048" y="1243584"/>
            <a:ext cx="3895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Dagster Essentials  ·  Dagster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4048" y="1435608"/>
            <a:ext cx="3895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Emitido: 2026-04-23  ·  ID: xqym2ebkbt</a:t>
            </a:r>
            <a:endParaRPr lang="en-US" sz="85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927" y="1645920"/>
            <a:ext cx="3311434" cy="175564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572000" y="1170432"/>
            <a:ext cx="2194560" cy="1508760"/>
          </a:xfrm>
          <a:prstGeom prst="rect">
            <a:avLst/>
          </a:prstGeom>
          <a:solidFill>
            <a:srgbClr val="1E3A5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72000" y="1170432"/>
            <a:ext cx="2194560" cy="45720"/>
          </a:xfrm>
          <a:prstGeom prst="rect">
            <a:avLst/>
          </a:prstGeom>
          <a:solidFill>
            <a:srgbClr val="D4A843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243584"/>
            <a:ext cx="2194560" cy="102412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626864" y="2304288"/>
            <a:ext cx="2084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Joining Data with pandas</a:t>
            </a:r>
            <a:endParaRPr lang="en-US" sz="750" dirty="0"/>
          </a:p>
        </p:txBody>
      </p:sp>
      <p:sp>
        <p:nvSpPr>
          <p:cNvPr id="15" name="Text 11"/>
          <p:cNvSpPr/>
          <p:nvPr/>
        </p:nvSpPr>
        <p:spPr>
          <a:xfrm>
            <a:off x="4626864" y="2496312"/>
            <a:ext cx="20848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Apr 2026 · 4h</a:t>
            </a:r>
            <a:endParaRPr lang="en-US" sz="700" dirty="0"/>
          </a:p>
        </p:txBody>
      </p:sp>
      <p:sp>
        <p:nvSpPr>
          <p:cNvPr id="16" name="Shape 12"/>
          <p:cNvSpPr/>
          <p:nvPr/>
        </p:nvSpPr>
        <p:spPr>
          <a:xfrm>
            <a:off x="6949440" y="1170432"/>
            <a:ext cx="2194560" cy="1508760"/>
          </a:xfrm>
          <a:prstGeom prst="rect">
            <a:avLst/>
          </a:prstGeom>
          <a:solidFill>
            <a:srgbClr val="1E3A5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949440" y="1170432"/>
            <a:ext cx="2194560" cy="45720"/>
          </a:xfrm>
          <a:prstGeom prst="rect">
            <a:avLst/>
          </a:prstGeom>
          <a:solidFill>
            <a:srgbClr val="D4A843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0" y="1243584"/>
            <a:ext cx="2194560" cy="102412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004304" y="2304288"/>
            <a:ext cx="2084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for R Users</a:t>
            </a:r>
            <a:endParaRPr lang="en-US" sz="750" dirty="0"/>
          </a:p>
        </p:txBody>
      </p:sp>
      <p:sp>
        <p:nvSpPr>
          <p:cNvPr id="20" name="Text 15"/>
          <p:cNvSpPr/>
          <p:nvPr/>
        </p:nvSpPr>
        <p:spPr>
          <a:xfrm>
            <a:off x="7004304" y="2496312"/>
            <a:ext cx="20848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Apr 2026 · 5h</a:t>
            </a:r>
            <a:endParaRPr lang="en-US" sz="700" dirty="0"/>
          </a:p>
        </p:txBody>
      </p:sp>
      <p:sp>
        <p:nvSpPr>
          <p:cNvPr id="21" name="Shape 16"/>
          <p:cNvSpPr/>
          <p:nvPr/>
        </p:nvSpPr>
        <p:spPr>
          <a:xfrm>
            <a:off x="4572000" y="2798064"/>
            <a:ext cx="2194560" cy="1508760"/>
          </a:xfrm>
          <a:prstGeom prst="rect">
            <a:avLst/>
          </a:prstGeom>
          <a:solidFill>
            <a:srgbClr val="1E3A5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4572000" y="2798064"/>
            <a:ext cx="2194560" cy="45720"/>
          </a:xfrm>
          <a:prstGeom prst="rect">
            <a:avLst/>
          </a:prstGeom>
          <a:solidFill>
            <a:srgbClr val="D4A843"/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0" y="2871216"/>
            <a:ext cx="2194560" cy="1024128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626864" y="3931920"/>
            <a:ext cx="2084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Efficient Code with pandas</a:t>
            </a:r>
            <a:endParaRPr lang="en-US" sz="750" dirty="0"/>
          </a:p>
        </p:txBody>
      </p:sp>
      <p:sp>
        <p:nvSpPr>
          <p:cNvPr id="25" name="Text 19"/>
          <p:cNvSpPr/>
          <p:nvPr/>
        </p:nvSpPr>
        <p:spPr>
          <a:xfrm>
            <a:off x="4626864" y="4123944"/>
            <a:ext cx="20848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May 2026 · 4h</a:t>
            </a:r>
            <a:endParaRPr lang="en-US" sz="700" dirty="0"/>
          </a:p>
        </p:txBody>
      </p:sp>
      <p:sp>
        <p:nvSpPr>
          <p:cNvPr id="26" name="Shape 20"/>
          <p:cNvSpPr/>
          <p:nvPr/>
        </p:nvSpPr>
        <p:spPr>
          <a:xfrm>
            <a:off x="6949440" y="2798064"/>
            <a:ext cx="2194560" cy="1508760"/>
          </a:xfrm>
          <a:prstGeom prst="rect">
            <a:avLst/>
          </a:prstGeom>
          <a:solidFill>
            <a:srgbClr val="1E3A5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6949440" y="2798064"/>
            <a:ext cx="2194560" cy="45720"/>
          </a:xfrm>
          <a:prstGeom prst="rect">
            <a:avLst/>
          </a:prstGeom>
          <a:solidFill>
            <a:srgbClr val="D4A843"/>
          </a:solidFill>
          <a:ln/>
        </p:spPr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9440" y="2871216"/>
            <a:ext cx="2194560" cy="1024128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7004304" y="3931920"/>
            <a:ext cx="2084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Reshaping Data with pandas</a:t>
            </a:r>
            <a:endParaRPr lang="en-US" sz="750" dirty="0"/>
          </a:p>
        </p:txBody>
      </p:sp>
      <p:sp>
        <p:nvSpPr>
          <p:cNvPr id="30" name="Text 23"/>
          <p:cNvSpPr/>
          <p:nvPr/>
        </p:nvSpPr>
        <p:spPr>
          <a:xfrm>
            <a:off x="7004304" y="4123944"/>
            <a:ext cx="20848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May 2026 · 4h</a:t>
            </a:r>
            <a:endParaRPr lang="en-US" sz="700" dirty="0"/>
          </a:p>
        </p:txBody>
      </p:sp>
      <p:sp>
        <p:nvSpPr>
          <p:cNvPr id="31" name="Shape 24"/>
          <p:cNvSpPr/>
          <p:nvPr/>
        </p:nvSpPr>
        <p:spPr>
          <a:xfrm>
            <a:off x="274320" y="3639312"/>
            <a:ext cx="4193177" cy="1188720"/>
          </a:xfrm>
          <a:prstGeom prst="rect">
            <a:avLst/>
          </a:prstGeom>
          <a:solidFill>
            <a:srgbClr val="1E3A5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2" name="Shape 25"/>
          <p:cNvSpPr/>
          <p:nvPr/>
        </p:nvSpPr>
        <p:spPr>
          <a:xfrm>
            <a:off x="274320" y="3639312"/>
            <a:ext cx="4193177" cy="54864"/>
          </a:xfrm>
          <a:prstGeom prst="rect">
            <a:avLst/>
          </a:prstGeom>
          <a:solidFill>
            <a:srgbClr val="D4A843"/>
          </a:solidFill>
          <a:ln/>
        </p:spPr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7473" y="3758184"/>
            <a:ext cx="2194560" cy="1005840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2596897" y="3794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Manipulation with pandas</a:t>
            </a:r>
            <a:endParaRPr lang="en-US" sz="1100" dirty="0"/>
          </a:p>
        </p:txBody>
      </p:sp>
      <p:sp>
        <p:nvSpPr>
          <p:cNvPr id="35" name="Text 27"/>
          <p:cNvSpPr/>
          <p:nvPr/>
        </p:nvSpPr>
        <p:spPr>
          <a:xfrm>
            <a:off x="2596897" y="408736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DataCamp · 4 HRS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2596897" y="429768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Completado: 07 May 2026</a:t>
            </a:r>
            <a:endParaRPr lang="en-US" sz="900" dirty="0"/>
          </a:p>
        </p:txBody>
      </p:sp>
      <p:sp>
        <p:nvSpPr>
          <p:cNvPr id="37" name="Text 29"/>
          <p:cNvSpPr/>
          <p:nvPr/>
        </p:nvSpPr>
        <p:spPr>
          <a:xfrm>
            <a:off x="2596897" y="450799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mariostjl202</a:t>
            </a:r>
            <a:endParaRPr lang="en-US" sz="900" dirty="0"/>
          </a:p>
        </p:txBody>
      </p:sp>
      <p:sp>
        <p:nvSpPr>
          <p:cNvPr id="38" name="Text 30"/>
          <p:cNvSpPr/>
          <p:nvPr/>
        </p:nvSpPr>
        <p:spPr>
          <a:xfrm>
            <a:off x="457200" y="4828032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TFG · Detector de Chollos en Andalucía · Mario Jiménez · Universidad de Sevilla</a:t>
            </a:r>
            <a:endParaRPr lang="en-US" sz="800" dirty="0"/>
          </a:p>
        </p:txBody>
      </p:sp>
      <p:sp>
        <p:nvSpPr>
          <p:cNvPr id="39" name="Text 31"/>
          <p:cNvSpPr/>
          <p:nvPr/>
        </p:nvSpPr>
        <p:spPr>
          <a:xfrm>
            <a:off x="859536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2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del Problema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6583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este proyecto?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920240" cy="822960"/>
          </a:xfrm>
          <a:prstGeom prst="rect">
            <a:avLst/>
          </a:prstGeom>
          <a:solidFill>
            <a:srgbClr val="2A5080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18872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provincias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53619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Andalucía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542032" y="1143000"/>
            <a:ext cx="1920240" cy="822960"/>
          </a:xfrm>
          <a:prstGeom prst="rect">
            <a:avLst/>
          </a:prstGeom>
          <a:solidFill>
            <a:srgbClr val="1E3A5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542032" y="118872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Booking.com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542032" y="153619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 de datos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626864" y="1143000"/>
            <a:ext cx="1920240" cy="822960"/>
          </a:xfrm>
          <a:prstGeom prst="rect">
            <a:avLst/>
          </a:prstGeom>
          <a:solidFill>
            <a:srgbClr val="1B5E20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26864" y="118872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categorías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26864" y="153619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 err="1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hiper</a:t>
            </a: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/super/chollo/normal/inflado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711696" y="1143000"/>
            <a:ext cx="1920240" cy="822960"/>
          </a:xfrm>
          <a:prstGeom prst="rect">
            <a:avLst/>
          </a:prstGeom>
          <a:solidFill>
            <a:srgbClr val="7B341E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711696" y="118872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Regresión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711696" y="153619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justo → etiqueta chollo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7200" y="2121408"/>
            <a:ext cx="4023360" cy="987552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2121408"/>
            <a:ext cx="64008" cy="987552"/>
          </a:xfrm>
          <a:prstGeom prst="rect">
            <a:avLst/>
          </a:prstGeom>
          <a:solidFill>
            <a:srgbClr val="2A5080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" y="2194560"/>
            <a:ext cx="3767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🏨  El problema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21792" y="2450592"/>
            <a:ext cx="3767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precios en Booking.com varían enormemente según servicios, ubicación, temporada y demanda. Sin apoyo de ML es imposible saber si un precio es justo o es un chollo real. Los usuarios pierden oportunidades de ahorro por falta de información comparativa.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63440" y="2121408"/>
            <a:ext cx="4023360" cy="987552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63440" y="2121408"/>
            <a:ext cx="64008" cy="98755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24" name="Text 22"/>
          <p:cNvSpPr/>
          <p:nvPr/>
        </p:nvSpPr>
        <p:spPr>
          <a:xfrm>
            <a:off x="4828032" y="2194560"/>
            <a:ext cx="3767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La solución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28032" y="2450592"/>
            <a:ext cx="3767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Predecir el precio justo mediante regresión ML. Comparar el precio real con el predicho y categorizar automáticamente (hiper-chollo / chollo / normal / inflado). El usuario accede a los chollos a través de </a:t>
            </a:r>
            <a:r>
              <a:rPr lang="en-US" sz="9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</a:t>
            </a: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 </a:t>
            </a:r>
            <a:r>
              <a:rPr lang="en-US" sz="9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Streamlit con sus preferencias.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3273552"/>
            <a:ext cx="1481328" cy="594360"/>
          </a:xfrm>
          <a:prstGeom prst="rect">
            <a:avLst/>
          </a:prstGeom>
          <a:solidFill>
            <a:srgbClr val="1A2E4A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457200" y="3273552"/>
            <a:ext cx="1481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Scraping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Booking.com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938528" y="3538728"/>
            <a:ext cx="182880" cy="9144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29" name="Shape 27"/>
          <p:cNvSpPr/>
          <p:nvPr/>
        </p:nvSpPr>
        <p:spPr>
          <a:xfrm>
            <a:off x="2121408" y="3273552"/>
            <a:ext cx="1481328" cy="594360"/>
          </a:xfrm>
          <a:prstGeom prst="rect">
            <a:avLst/>
          </a:prstGeom>
          <a:solidFill>
            <a:srgbClr val="1A2E4A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2121408" y="3273552"/>
            <a:ext cx="1481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Limpieza y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Preprocesamiento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602736" y="3538728"/>
            <a:ext cx="182880" cy="9144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2" name="Shape 30"/>
          <p:cNvSpPr/>
          <p:nvPr/>
        </p:nvSpPr>
        <p:spPr>
          <a:xfrm>
            <a:off x="3785616" y="3273552"/>
            <a:ext cx="1481328" cy="594360"/>
          </a:xfrm>
          <a:prstGeom prst="rect">
            <a:avLst/>
          </a:prstGeom>
          <a:solidFill>
            <a:srgbClr val="1A2E4A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3785616" y="3273552"/>
            <a:ext cx="1481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 ML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(precio justo)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5266944" y="3538728"/>
            <a:ext cx="182880" cy="9144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5" name="Shape 33"/>
          <p:cNvSpPr/>
          <p:nvPr/>
        </p:nvSpPr>
        <p:spPr>
          <a:xfrm>
            <a:off x="5449824" y="3273552"/>
            <a:ext cx="1481328" cy="594360"/>
          </a:xfrm>
          <a:prstGeom prst="rect">
            <a:avLst/>
          </a:prstGeom>
          <a:solidFill>
            <a:srgbClr val="1A2E4A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5449824" y="3273552"/>
            <a:ext cx="1481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Etiqueta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Chollo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(ratio real/pred)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6931152" y="3538728"/>
            <a:ext cx="182880" cy="9144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8" name="Shape 36"/>
          <p:cNvSpPr/>
          <p:nvPr/>
        </p:nvSpPr>
        <p:spPr>
          <a:xfrm>
            <a:off x="7114032" y="3273552"/>
            <a:ext cx="1481328" cy="594360"/>
          </a:xfrm>
          <a:prstGeom prst="rect">
            <a:avLst/>
          </a:prstGeom>
          <a:solidFill>
            <a:srgbClr val="1A2E4A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7114032" y="3273552"/>
            <a:ext cx="1481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Streamlit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 final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57200" y="395020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</a:t>
            </a:r>
            <a:r>
              <a:rPr lang="en-US" sz="900" i="1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completo</a:t>
            </a: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la App: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" y="4187952"/>
            <a:ext cx="8229600" cy="256032"/>
          </a:xfrm>
          <a:prstGeom prst="rect">
            <a:avLst/>
          </a:prstGeom>
          <a:solidFill>
            <a:srgbClr val="2A50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2" name="Text 40"/>
          <p:cNvSpPr/>
          <p:nvPr/>
        </p:nvSpPr>
        <p:spPr>
          <a:xfrm>
            <a:off x="548640" y="418795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399032" y="4181421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preferencias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2578608" y="4215384"/>
            <a:ext cx="109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756263" y="4181421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Booking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3911672" y="4215384"/>
            <a:ext cx="109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4144191" y="4181421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Extrae datos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alojamientos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5231347" y="4206240"/>
            <a:ext cx="109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5486400" y="4187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 modelo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6537960" y="4215384"/>
            <a:ext cx="109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6583680" y="4187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Categoriza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chollo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7635240" y="4215384"/>
            <a:ext cx="109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7680960" y="4187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Muestra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chollos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457200" y="4828032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TFG · Detector de Chollos en Andalucía · Mario Jiménez · Universidad de Sevilla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859536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56" name="Text 42">
            <a:extLst>
              <a:ext uri="{FF2B5EF4-FFF2-40B4-BE49-F238E27FC236}">
                <a16:creationId xmlns:a16="http://schemas.microsoft.com/office/drawing/2014/main" id="{7150738E-4B16-13AD-7D76-C8BEDCAE17ED}"/>
              </a:ext>
            </a:extLst>
          </p:cNvPr>
          <p:cNvSpPr/>
          <p:nvPr/>
        </p:nvSpPr>
        <p:spPr>
          <a:xfrm>
            <a:off x="1197864" y="4206240"/>
            <a:ext cx="109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2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Scraping · 2 Fases Diferenciadas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C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Scraping/Scrp_estancias_provincias.py  +  Scrp_caracteristicas_estancias.py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042416"/>
            <a:ext cx="4114800" cy="198555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</p:sp>
      <p:sp>
        <p:nvSpPr>
          <p:cNvPr id="7" name="Text 5"/>
          <p:cNvSpPr/>
          <p:nvPr/>
        </p:nvSpPr>
        <p:spPr>
          <a:xfrm>
            <a:off x="510153" y="100584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 — Listados por provincia (Selenium)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57200" y="1444751"/>
            <a:ext cx="4114800" cy="2488651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243584"/>
            <a:ext cx="4114800" cy="201168"/>
          </a:xfrm>
          <a:prstGeom prst="rect">
            <a:avLst/>
          </a:prstGeom>
          <a:solidFill>
            <a:srgbClr val="2A5080"/>
          </a:solidFill>
          <a:ln/>
        </p:spPr>
      </p:sp>
      <p:sp>
        <p:nvSpPr>
          <p:cNvPr id="10" name="Text 8"/>
          <p:cNvSpPr/>
          <p:nvPr/>
        </p:nvSpPr>
        <p:spPr>
          <a:xfrm>
            <a:off x="512064" y="1243584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0C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Scrp_estancias_provincias.py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85216" y="1483765"/>
            <a:ext cx="3858768" cy="21921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Anti-detección Selenium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options.add_argument(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"--disable-blink-features="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"AutomationControlled")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options.add_experimental_option(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"excludeSwitches",["enable-automation"])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Bloquea imágenes y fuentes (rendimiento)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prefs = {"profile.managed_default_content_"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"settings.images": 2, ".fonts": 2}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Superar límite 800: subdivisión recursiva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scrape_con_subdivision(driver, clave,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url, precio_min=0, precio_max=6000):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url_f = filtro_precio(url,precio_min,max)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total = n_alojamientos(driver)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total &lt;= 750: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cargar_todo(driver)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extraer_alojamientos(driver,clave)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mid = (precio_min + precio_max) // 2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(subdivision(...,mid) +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subdivision(...,mid,precio_max))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57200" y="3974550"/>
            <a:ext cx="411480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3974550"/>
            <a:ext cx="64008" cy="658368"/>
          </a:xfrm>
          <a:prstGeom prst="rect">
            <a:avLst/>
          </a:prstGeom>
          <a:solidFill>
            <a:srgbClr val="2A5080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" y="4047702"/>
            <a:ext cx="3858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extraídos (Fase 1)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21792" y="4303734"/>
            <a:ext cx="3858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lugar · título · url_estancia · valoracion_clientes · n_valoraciones · tipo · estrellas · fecha_extraccion_listado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754880" y="1029567"/>
            <a:ext cx="3931920" cy="218589"/>
          </a:xfrm>
          <a:prstGeom prst="rect">
            <a:avLst/>
          </a:prstGeom>
          <a:solidFill>
            <a:srgbClr val="1F5C40"/>
          </a:solidFill>
          <a:ln/>
        </p:spPr>
      </p:sp>
      <p:sp>
        <p:nvSpPr>
          <p:cNvPr id="17" name="Text 15"/>
          <p:cNvSpPr/>
          <p:nvPr/>
        </p:nvSpPr>
        <p:spPr>
          <a:xfrm>
            <a:off x="4846320" y="99212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 — Fichas individuales (Playwright + GraphQL API)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754880" y="1444752"/>
            <a:ext cx="3931920" cy="2488650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54880" y="1243584"/>
            <a:ext cx="3931920" cy="201168"/>
          </a:xfrm>
          <a:prstGeom prst="rect">
            <a:avLst/>
          </a:prstGeom>
          <a:solidFill>
            <a:srgbClr val="2A5080"/>
          </a:solidFill>
          <a:ln/>
        </p:spPr>
      </p:sp>
      <p:sp>
        <p:nvSpPr>
          <p:cNvPr id="20" name="Text 18"/>
          <p:cNvSpPr/>
          <p:nvPr/>
        </p:nvSpPr>
        <p:spPr>
          <a:xfrm>
            <a:off x="4809744" y="1243584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0C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Scrp_caracteristicas_estancias.py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82896" y="1517904"/>
            <a:ext cx="3675888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BookingSession: resuelve WAF una sola vez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luego reutiliza cookies en requests HTTP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BookingSession: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def _init_session(self):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with sync_playwright() as pw: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page.goto("https://www.booking.com/")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cookies = page.context.cookies()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for c in cookies: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self.session.cookies.set(...)</a:t>
            </a:r>
            <a:endParaRPr lang="en-US" sz="850" dirty="0"/>
          </a:p>
          <a:p>
            <a:pPr marL="0" indent="0">
              <a:buNone/>
            </a:pP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API GraphQL interna de Booking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GRAPHQL_URL = "https://www.booking.com/"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"dml/graphql"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FACILITIES_QUERY → servicios generales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CALENDAR_QUERY   → 365 días de precios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Habitación más barata: Playwright reutiliza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cookies → tr.hprt-table-cheapest-block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754880" y="3974550"/>
            <a:ext cx="393192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754880" y="3974550"/>
            <a:ext cx="64008" cy="658368"/>
          </a:xfrm>
          <a:prstGeom prst="rect">
            <a:avLst/>
          </a:prstGeom>
          <a:solidFill>
            <a:srgbClr val="1F5C40"/>
          </a:solidFill>
          <a:ln/>
        </p:spPr>
      </p:sp>
      <p:sp>
        <p:nvSpPr>
          <p:cNvPr id="24" name="Text 22"/>
          <p:cNvSpPr/>
          <p:nvPr/>
        </p:nvSpPr>
        <p:spPr>
          <a:xfrm>
            <a:off x="4919472" y="4047702"/>
            <a:ext cx="3675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5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extraídos (Fase 2)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919472" y="4303734"/>
            <a:ext cx="3675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hotel_id · ubicación GPS · servicios generales · servicios habitación más barata · calendario 365 días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4655778"/>
            <a:ext cx="8229600" cy="256032"/>
          </a:xfrm>
          <a:prstGeom prst="rect">
            <a:avLst/>
          </a:prstGeom>
          <a:solidFill>
            <a:srgbClr val="5C3A1E"/>
          </a:solidFill>
          <a:ln/>
        </p:spPr>
      </p:sp>
      <p:sp>
        <p:nvSpPr>
          <p:cNvPr id="27" name="Text 25"/>
          <p:cNvSpPr/>
          <p:nvPr/>
        </p:nvSpPr>
        <p:spPr>
          <a:xfrm>
            <a:off x="568234" y="4658391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2b — patch_room_size.py: extrae tamaño real de habitación ("44 m²"). Reanudable, ThreadPoolExecutor (5 workers paralelos).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4901185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TFG · Detector de Chollos en Andalucía · Mario Jiménez · Universidad de Sevilla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8686800" y="4855464"/>
            <a:ext cx="365760" cy="2468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2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Preprocesamiento de Datos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C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Cleaning/preprocessing.py  →  post_analisis.py  →  encoding.py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115568"/>
            <a:ext cx="4114800" cy="1783080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2743200" cy="201168"/>
          </a:xfrm>
          <a:prstGeom prst="rect">
            <a:avLst/>
          </a:prstGeom>
          <a:solidFill>
            <a:srgbClr val="2A5080"/>
          </a:solidFill>
          <a:ln/>
        </p:spPr>
      </p:sp>
      <p:sp>
        <p:nvSpPr>
          <p:cNvPr id="8" name="Text 6"/>
          <p:cNvSpPr/>
          <p:nvPr/>
        </p:nvSpPr>
        <p:spPr>
          <a:xfrm>
            <a:off x="512064" y="914400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0C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Extracción servicios + precios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85216" y="1188720"/>
            <a:ext cx="3858768" cy="1636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</a:t>
            </a:r>
            <a:r>
              <a:rPr lang="en-US" sz="9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Extracción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9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servicios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→ </a:t>
            </a:r>
            <a:r>
              <a:rPr lang="en-US" sz="9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booleanos</a:t>
            </a:r>
            <a:endParaRPr lang="en-US" sz="900" dirty="0"/>
          </a:p>
          <a:p>
            <a:pPr marL="0" indent="0">
              <a:buNone/>
            </a:pPr>
            <a:r>
              <a:rPr lang="en-US" sz="9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servicios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[</a:t>
            </a:r>
            <a:r>
              <a:rPr lang="en-US" sz="9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serv.lower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for serv in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9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ast.literal_eval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(fila['</a:t>
            </a:r>
            <a:r>
              <a:rPr lang="en-US" sz="9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servicios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'])]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→ 12 </a:t>
            </a:r>
            <a:r>
              <a:rPr lang="en-US" sz="9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columnas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9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binarias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int8: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Parking, </a:t>
            </a:r>
            <a:r>
              <a:rPr lang="en-US" sz="9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Parking_gratis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9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Gimnasio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</a:t>
            </a:r>
            <a:r>
              <a:rPr lang="en-US" sz="9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Restaurante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Piscina, </a:t>
            </a:r>
            <a:r>
              <a:rPr lang="en-US" sz="9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Piscina_interior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</a:t>
            </a:r>
            <a:r>
              <a:rPr lang="en-US" sz="9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Piscina_infinita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Aire, </a:t>
            </a:r>
            <a:r>
              <a:rPr lang="en-US" sz="9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Calefaccion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Vistas, </a:t>
            </a:r>
            <a:r>
              <a:rPr lang="en-US" sz="9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Terraza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9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Baño_privado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54880" y="1115568"/>
            <a:ext cx="3931920" cy="1783080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914400"/>
            <a:ext cx="1920240" cy="201168"/>
          </a:xfrm>
          <a:prstGeom prst="rect">
            <a:avLst/>
          </a:prstGeom>
          <a:solidFill>
            <a:srgbClr val="2A5080"/>
          </a:solidFill>
          <a:ln/>
        </p:spPr>
      </p:sp>
      <p:sp>
        <p:nvSpPr>
          <p:cNvPr id="12" name="Text 10"/>
          <p:cNvSpPr/>
          <p:nvPr/>
        </p:nvSpPr>
        <p:spPr>
          <a:xfrm>
            <a:off x="4809744" y="914400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0C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haversine_km_vec()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882896" y="1188720"/>
            <a:ext cx="3675888" cy="1636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Distancia al centro (Haversine vectorizado)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haversine_km_vec(lats,lons,lat2,lon2):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 = 6371.0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dlat = np.radians(lat2 - lats)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dlon = np.radians(lon2 - lons)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 = (np.sin(dlat/2)**2 +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np.cos(np.radians(lats)) *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math.cos(math.radians(lat2)) *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np.sin(dlon/2)**2)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(R*2*np.arcsin(np.sqrt(a))).round(3)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Coordenadas centros cargadas desde CSV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coords = cargar_coords_centros(BASE)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 = añadir_distancia_centro(df, coords)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57200" y="2999232"/>
            <a:ext cx="4114800" cy="1380744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2798064"/>
            <a:ext cx="1920240" cy="201168"/>
          </a:xfrm>
          <a:prstGeom prst="rect">
            <a:avLst/>
          </a:prstGeom>
          <a:solidFill>
            <a:srgbClr val="2A5080"/>
          </a:solidFill>
          <a:ln/>
        </p:spPr>
      </p:sp>
      <p:sp>
        <p:nvSpPr>
          <p:cNvPr id="16" name="Text 14"/>
          <p:cNvSpPr/>
          <p:nvPr/>
        </p:nvSpPr>
        <p:spPr>
          <a:xfrm>
            <a:off x="512064" y="2798064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0C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limpiar_db_final()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85216" y="3072384"/>
            <a:ext cx="3858768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Limpieza y tipado final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Feature engineering temporal</a:t>
            </a:r>
            <a:endParaRPr lang="en-US" sz="800" dirty="0"/>
          </a:p>
          <a:p>
            <a:pPr marL="0" indent="0">
              <a:buNone/>
            </a:pPr>
            <a:r>
              <a:rPr lang="en-US" sz="8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</a:t>
            </a: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['</a:t>
            </a:r>
            <a:r>
              <a:rPr lang="en-US" sz="8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es_finde</a:t>
            </a: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']   = </a:t>
            </a:r>
            <a:r>
              <a:rPr lang="en-US" sz="8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</a:t>
            </a: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['</a:t>
            </a:r>
            <a:r>
              <a:rPr lang="en-US" sz="8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fecha_disponible</a:t>
            </a: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'].</a:t>
            </a:r>
            <a:r>
              <a:rPr lang="en-US" sz="8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dt.dayofweek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.isin([4,5]).astype('int8')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db['es_domingo'] = (db['</a:t>
            </a:r>
            <a:r>
              <a:rPr lang="en-US" sz="8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fecha_disponible</a:t>
            </a: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'].dt.dayofweek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== 6).astype('int8’)</a:t>
            </a:r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Localidad extraída con regex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localidad = raw['direccion'].str.extract(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r',s*d{5}s+([^,]+),')[0]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754880" y="2999232"/>
            <a:ext cx="3931920" cy="256032"/>
          </a:xfrm>
          <a:prstGeom prst="rect">
            <a:avLst/>
          </a:prstGeom>
          <a:solidFill>
            <a:srgbClr val="2A5080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29992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finales del dataset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54880" y="3255264"/>
            <a:ext cx="3931920" cy="1645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4846320" y="3264408"/>
            <a:ext cx="2560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provincia · localidad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406640" y="3264408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category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754880" y="3419856"/>
            <a:ext cx="3931920" cy="164592"/>
          </a:xfrm>
          <a:prstGeom prst="rect">
            <a:avLst/>
          </a:prstGeom>
          <a:solidFill>
            <a:srgbClr val="E8F1FA"/>
          </a:solidFill>
          <a:ln/>
        </p:spPr>
      </p:sp>
      <p:sp>
        <p:nvSpPr>
          <p:cNvPr id="24" name="Text 22"/>
          <p:cNvSpPr/>
          <p:nvPr/>
        </p:nvSpPr>
        <p:spPr>
          <a:xfrm>
            <a:off x="4846320" y="3429000"/>
            <a:ext cx="2560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latitud · longitud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406640" y="3429000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float64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754880" y="3584448"/>
            <a:ext cx="3931920" cy="1645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4846320" y="3593592"/>
            <a:ext cx="2560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distancia_centro_km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406640" y="3593592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float32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754880" y="3749040"/>
            <a:ext cx="3931920" cy="164592"/>
          </a:xfrm>
          <a:prstGeom prst="rect">
            <a:avLst/>
          </a:prstGeom>
          <a:solidFill>
            <a:srgbClr val="E8F1FA"/>
          </a:solidFill>
          <a:ln/>
        </p:spPr>
      </p:sp>
      <p:sp>
        <p:nvSpPr>
          <p:cNvPr id="30" name="Text 28"/>
          <p:cNvSpPr/>
          <p:nvPr/>
        </p:nvSpPr>
        <p:spPr>
          <a:xfrm>
            <a:off x="4846320" y="3758184"/>
            <a:ext cx="2560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· estrellas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406640" y="3758184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 / int8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754880" y="3913632"/>
            <a:ext cx="3931920" cy="1645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4846320" y="3922776"/>
            <a:ext cx="2560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valoracion_clientes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406640" y="3922776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float32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754880" y="4078224"/>
            <a:ext cx="3931920" cy="164592"/>
          </a:xfrm>
          <a:prstGeom prst="rect">
            <a:avLst/>
          </a:prstGeom>
          <a:solidFill>
            <a:srgbClr val="E8F1FA"/>
          </a:solidFill>
          <a:ln/>
        </p:spPr>
      </p:sp>
      <p:sp>
        <p:nvSpPr>
          <p:cNvPr id="36" name="Text 34"/>
          <p:cNvSpPr/>
          <p:nvPr/>
        </p:nvSpPr>
        <p:spPr>
          <a:xfrm>
            <a:off x="4846320" y="4087368"/>
            <a:ext cx="2560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n_valoraciones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7406640" y="4087368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int64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4754880" y="4242816"/>
            <a:ext cx="3931920" cy="1645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>
          <a:xfrm>
            <a:off x="4846320" y="4251960"/>
            <a:ext cx="2560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tamaño_habitacion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406640" y="4251960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int16 (m²)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4754880" y="4407408"/>
            <a:ext cx="3931920" cy="164592"/>
          </a:xfrm>
          <a:prstGeom prst="rect">
            <a:avLst/>
          </a:prstGeom>
          <a:solidFill>
            <a:srgbClr val="E8F1FA"/>
          </a:solidFill>
          <a:ln/>
        </p:spPr>
      </p:sp>
      <p:sp>
        <p:nvSpPr>
          <p:cNvPr id="42" name="Text 40"/>
          <p:cNvSpPr/>
          <p:nvPr/>
        </p:nvSpPr>
        <p:spPr>
          <a:xfrm>
            <a:off x="4846320" y="4416552"/>
            <a:ext cx="2560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servicios binarios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7406640" y="4416552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int8 (0/1)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754880" y="4572000"/>
            <a:ext cx="3931920" cy="1645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3"/>
          <p:cNvSpPr/>
          <p:nvPr/>
        </p:nvSpPr>
        <p:spPr>
          <a:xfrm>
            <a:off x="4846320" y="4581144"/>
            <a:ext cx="2560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es_finde · es_domingo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7406640" y="4581144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int8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4754880" y="4736592"/>
            <a:ext cx="3931920" cy="164592"/>
          </a:xfrm>
          <a:prstGeom prst="rect">
            <a:avLst/>
          </a:prstGeom>
          <a:solidFill>
            <a:srgbClr val="E8F1FA"/>
          </a:solidFill>
          <a:ln/>
        </p:spPr>
      </p:sp>
      <p:sp>
        <p:nvSpPr>
          <p:cNvPr id="48" name="Text 46"/>
          <p:cNvSpPr/>
          <p:nvPr/>
        </p:nvSpPr>
        <p:spPr>
          <a:xfrm>
            <a:off x="4846320" y="4745736"/>
            <a:ext cx="2560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dias_restantes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7406640" y="4745736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int16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4754880" y="4901184"/>
            <a:ext cx="3931920" cy="1645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4846320" y="4910328"/>
            <a:ext cx="2560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(target)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7406640" y="4910328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int32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228600" y="4965192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TFG · Detector de </a:t>
            </a:r>
            <a:r>
              <a:rPr lang="en-US" sz="8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Chollos</a:t>
            </a: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Andalucía · Mario Jiménez · Universidad de Sevilla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859536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ld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HdrBand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2E4A"/>
          </a:solidFill>
          <a:ln/>
        </p:spPr>
      </p:sp>
      <p:sp>
        <p:nvSpPr>
          <p:cNvPr id="4" name="Title"/>
          <p:cNvSpPr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400" b="1" dirty="0">
                <a:solidFill>
                  <a:srgbClr val="FFFFFF"/>
                </a:solidFill>
                <a:latin typeface="Calibri" pitchFamily="34" charset="0"/>
              </a:rPr>
              <a:t>Preprocesamiento · Gestión de Valores Nulos</a:t>
            </a:r>
          </a:p>
        </p:txBody>
      </p:sp>
      <p:sp>
        <p:nvSpPr>
          <p:cNvPr id="5" name="Sub"/>
          <p:cNvSpPr/>
          <p:nvPr/>
        </p:nvSpPr>
        <p:spPr>
          <a:xfrm>
            <a:off x="457200" y="603504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000" dirty="0">
                <a:solidFill>
                  <a:srgbClr val="F0C060"/>
                </a:solidFill>
                <a:latin typeface="Consolas" pitchFamily="34" charset="0"/>
              </a:rPr>
              <a:t>Cleaning/preprocessing.py  →  limpiar_db_final()</a:t>
            </a:r>
          </a:p>
        </p:txBody>
      </p:sp>
      <p:sp>
        <p:nvSpPr>
          <p:cNvPr id="6" name="LblElim"/>
          <p:cNvSpPr/>
          <p:nvPr/>
        </p:nvSpPr>
        <p:spPr>
          <a:xfrm>
            <a:off x="274320" y="868680"/>
            <a:ext cx="3886200" cy="274320"/>
          </a:xfrm>
          <a:prstGeom prst="rect">
            <a:avLst/>
          </a:prstGeom>
          <a:solidFill>
            <a:srgbClr val="1A2E4A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1000" b="1" dirty="0">
                <a:solidFill>
                  <a:srgbClr val="D4A843"/>
                </a:solidFill>
                <a:latin typeface="Calibri" pitchFamily="34" charset="0"/>
              </a:rPr>
              <a:t>❌  Eliminación de registros (dropna)</a:t>
            </a:r>
          </a:p>
        </p:txBody>
      </p:sp>
      <p:sp>
        <p:nvSpPr>
          <p:cNvPr id="7" name="CardElim"/>
          <p:cNvSpPr/>
          <p:nvPr/>
        </p:nvSpPr>
        <p:spPr>
          <a:xfrm>
            <a:off x="274320" y="1143000"/>
            <a:ext cx="388620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91440" rIns="114300" bIns="91440" rtlCol="0" anchor="t"/>
          <a:lstStyle/>
          <a:p>
            <a:pPr marL="0" indent="0">
              <a:buNone/>
            </a:pPr>
            <a:r>
              <a:rPr lang="es-ES" sz="900" b="1" dirty="0">
                <a:solidFill>
                  <a:srgbClr val="1A2E4A"/>
                </a:solidFill>
                <a:latin typeface="Calibri" pitchFamily="34" charset="0"/>
              </a:rPr>
              <a:t>Variables obligatorias (2,2% registros):</a:t>
            </a:r>
          </a:p>
          <a:p>
            <a:pPr marL="0" indent="0">
              <a:buNone/>
            </a:pPr>
            <a:r>
              <a:rPr lang="es-ES" sz="850" dirty="0">
                <a:solidFill>
                  <a:srgbClr val="2A5080"/>
                </a:solidFill>
                <a:latin typeface="Consolas" pitchFamily="34" charset="0"/>
              </a:rPr>
              <a:t>latitud, longitud,</a:t>
            </a:r>
          </a:p>
          <a:p>
            <a:pPr marL="0" indent="0">
              <a:buNone/>
            </a:pPr>
            <a:r>
              <a:rPr lang="es-ES" sz="850" dirty="0">
                <a:solidFill>
                  <a:srgbClr val="2A5080"/>
                </a:solidFill>
                <a:latin typeface="Consolas" pitchFamily="34" charset="0"/>
              </a:rPr>
              <a:t>latitud_centro, longitud_centro,</a:t>
            </a:r>
          </a:p>
          <a:p>
            <a:pPr marL="0" indent="0">
              <a:buNone/>
            </a:pPr>
            <a:r>
              <a:rPr lang="es-ES" sz="850" dirty="0">
                <a:solidFill>
                  <a:srgbClr val="2A5080"/>
                </a:solidFill>
                <a:latin typeface="Consolas" pitchFamily="34" charset="0"/>
              </a:rPr>
              <a:t>distancia_centro_km</a:t>
            </a:r>
          </a:p>
          <a:p>
            <a:pPr marL="0" indent="0">
              <a:buNone/>
            </a:pPr>
            <a:r>
              <a:rPr lang="es-ES" sz="8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850" dirty="0">
                <a:solidFill>
                  <a:srgbClr val="374151"/>
                </a:solidFill>
                <a:latin typeface="Calibri" pitchFamily="34" charset="0"/>
              </a:rPr>
              <a:t>Sin coordenadas GPS no se puede calcular distancia_centro_km, variable clave del modelo. Pérdida asumible (2,2%).</a:t>
            </a:r>
          </a:p>
          <a:p>
            <a:pPr marL="0" indent="0">
              <a:buNone/>
            </a:pPr>
            <a:r>
              <a:rPr lang="es-ES" sz="8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850" b="1" dirty="0">
                <a:solidFill>
                  <a:srgbClr val="1A2E4A"/>
                </a:solidFill>
                <a:latin typeface="Calibri" pitchFamily="34" charset="0"/>
              </a:rPr>
              <a:t>Localidad ≠ '9':</a:t>
            </a:r>
          </a:p>
          <a:p>
            <a:pPr marL="0" indent="0">
              <a:buNone/>
            </a:pPr>
            <a:r>
              <a:rPr lang="es-ES" sz="850" dirty="0">
                <a:solidFill>
                  <a:srgbClr val="374151"/>
                </a:solidFill>
                <a:latin typeface="Calibri" pitchFamily="34" charset="0"/>
              </a:rPr>
              <a:t>Error de geocodificación detectado manualmente.</a:t>
            </a:r>
          </a:p>
        </p:txBody>
      </p:sp>
      <p:sp>
        <p:nvSpPr>
          <p:cNvPr id="8" name="Code"/>
          <p:cNvSpPr/>
          <p:nvPr/>
        </p:nvSpPr>
        <p:spPr>
          <a:xfrm>
            <a:off x="274320" y="2560080"/>
            <a:ext cx="3886200" cy="2011680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lIns="114300" tIns="91440" rIns="114300" bIns="91440" rtlCol="0" anchor="t"/>
          <a:lstStyle/>
          <a:p>
            <a:pPr marL="0" indent="0">
              <a:buNone/>
            </a:pPr>
            <a:r>
              <a:rPr lang="es-ES" sz="780" dirty="0">
                <a:solidFill>
                  <a:srgbClr val="E2E8F0"/>
                </a:solidFill>
                <a:latin typeface="Consolas" pitchFamily="34" charset="0"/>
              </a:rPr>
              <a:t>cols_obligatorias = [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E2E8F0"/>
                </a:solidFill>
                <a:latin typeface="Consolas" pitchFamily="34" charset="0"/>
              </a:rPr>
              <a:t>  'latitud', 'longitud',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E2E8F0"/>
                </a:solidFill>
                <a:latin typeface="Consolas" pitchFamily="34" charset="0"/>
              </a:rPr>
              <a:t>  'latitud_centro', 'longitud_centro',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E2E8F0"/>
                </a:solidFill>
                <a:latin typeface="Consolas" pitchFamily="34" charset="0"/>
              </a:rPr>
              <a:t>  'distancia_centro_km']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E2E8F0"/>
                </a:solidFill>
                <a:latin typeface="Consolas" pitchFamily="34" charset="0"/>
              </a:rPr>
              <a:t>db = db.dropna(subset=cols_obligatorias)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E2E8F0"/>
                </a:solidFill>
                <a:latin typeface="Consolas" pitchFamily="34" charset="0"/>
              </a:rPr>
              <a:t> 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E2E8F0"/>
                </a:solidFill>
                <a:latin typeface="Consolas" pitchFamily="34" charset="0"/>
              </a:rPr>
              <a:t>nuevos_valores = {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E2E8F0"/>
                </a:solidFill>
                <a:latin typeface="Consolas" pitchFamily="34" charset="0"/>
              </a:rPr>
              <a:t>  'codigo_postal': -1,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E2E8F0"/>
                </a:solidFill>
                <a:latin typeface="Consolas" pitchFamily="34" charset="0"/>
              </a:rPr>
              <a:t>  'tipo': 'Otro',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E2E8F0"/>
                </a:solidFill>
                <a:latin typeface="Consolas" pitchFamily="34" charset="0"/>
              </a:rPr>
              <a:t>  'estrellas': 1,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E2E8F0"/>
                </a:solidFill>
                <a:latin typeface="Consolas" pitchFamily="34" charset="0"/>
              </a:rPr>
              <a:t>  'n_valoraciones': 0,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E2E8F0"/>
                </a:solidFill>
                <a:latin typeface="Consolas" pitchFamily="34" charset="0"/>
              </a:rPr>
              <a:t>  'valoracion_clientes': media,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E2E8F0"/>
                </a:solidFill>
                <a:latin typeface="Consolas" pitchFamily="34" charset="0"/>
              </a:rPr>
              <a:t>  'tamaño_habitacion': mediana}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E2E8F0"/>
                </a:solidFill>
                <a:latin typeface="Consolas" pitchFamily="34" charset="0"/>
              </a:rPr>
              <a:t>db = db.fillna(nuevos_valores)</a:t>
            </a:r>
          </a:p>
        </p:txBody>
      </p:sp>
      <p:sp>
        <p:nvSpPr>
          <p:cNvPr id="9" name="LblRepl"/>
          <p:cNvSpPr/>
          <p:nvPr/>
        </p:nvSpPr>
        <p:spPr>
          <a:xfrm>
            <a:off x="4297200" y="868680"/>
            <a:ext cx="4572000" cy="274320"/>
          </a:xfrm>
          <a:prstGeom prst="rect">
            <a:avLst/>
          </a:prstGeom>
          <a:solidFill>
            <a:srgbClr val="1A2E4A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1000" b="1" dirty="0">
                <a:solidFill>
                  <a:srgbClr val="D4A843"/>
                </a:solidFill>
                <a:latin typeface="Calibri" pitchFamily="34" charset="0"/>
              </a:rPr>
              <a:t>✅  Reemplazo de nulos (fillna)</a:t>
            </a:r>
          </a:p>
        </p:txBody>
      </p:sp>
      <p:sp>
        <p:nvSpPr>
          <p:cNvPr id="10" name="TblHdr"/>
          <p:cNvSpPr/>
          <p:nvPr/>
        </p:nvSpPr>
        <p:spPr>
          <a:xfrm>
            <a:off x="4297200" y="1143000"/>
            <a:ext cx="4572000" cy="274320"/>
          </a:xfrm>
          <a:prstGeom prst="rect">
            <a:avLst/>
          </a:prstGeom>
          <a:solidFill>
            <a:srgbClr val="2A5080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00" b="1" dirty="0">
                <a:solidFill>
                  <a:srgbClr val="D4A843"/>
                </a:solidFill>
                <a:latin typeface="Calibri" pitchFamily="34" charset="0"/>
              </a:rPr>
              <a:t>Variable                Valor imputado       Justificación</a:t>
            </a:r>
          </a:p>
        </p:txBody>
      </p:sp>
      <p:sp>
        <p:nvSpPr>
          <p:cNvPr id="20" name="Row0"/>
          <p:cNvSpPr/>
          <p:nvPr/>
        </p:nvSpPr>
        <p:spPr>
          <a:xfrm>
            <a:off x="4297200" y="1417320"/>
            <a:ext cx="4572000" cy="22860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820" dirty="0">
                <a:solidFill>
                  <a:srgbClr val="1A2E4A"/>
                </a:solidFill>
                <a:latin typeface="Consolas" pitchFamily="34" charset="0"/>
              </a:rPr>
              <a:t>codigo_postal</a:t>
            </a:r>
            <a:r>
              <a:rPr lang="es-ES" sz="820" b="1" dirty="0">
                <a:solidFill>
                  <a:srgbClr val="D4A843"/>
                </a:solidFill>
                <a:latin typeface="Consolas" pitchFamily="34" charset="0"/>
              </a:rPr>
              <a:t>  -1  </a:t>
            </a:r>
            <a:r>
              <a:rPr lang="es-ES" sz="820" dirty="0">
                <a:solidFill>
                  <a:srgbClr val="374151"/>
                </a:solidFill>
                <a:latin typeface="Calibri" pitchFamily="34" charset="0"/>
              </a:rPr>
              <a:t>Valor desconocido, no se usa en modelo</a:t>
            </a:r>
          </a:p>
        </p:txBody>
      </p:sp>
      <p:sp>
        <p:nvSpPr>
          <p:cNvPr id="21" name="Row1"/>
          <p:cNvSpPr/>
          <p:nvPr/>
        </p:nvSpPr>
        <p:spPr>
          <a:xfrm>
            <a:off x="4297200" y="1645920"/>
            <a:ext cx="4572000" cy="228600"/>
          </a:xfrm>
          <a:prstGeom prst="rect">
            <a:avLst/>
          </a:prstGeom>
          <a:solidFill>
            <a:srgbClr val="E8F1FA"/>
          </a:solidFill>
          <a:ln>
            <a:solidFill>
              <a:srgbClr val="CBD5E1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820" dirty="0">
                <a:solidFill>
                  <a:srgbClr val="1A2E4A"/>
                </a:solidFill>
                <a:latin typeface="Consolas" pitchFamily="34" charset="0"/>
              </a:rPr>
              <a:t>tipo</a:t>
            </a:r>
            <a:r>
              <a:rPr lang="es-ES" sz="820" b="1" dirty="0">
                <a:solidFill>
                  <a:srgbClr val="D4A843"/>
                </a:solidFill>
                <a:latin typeface="Consolas" pitchFamily="34" charset="0"/>
              </a:rPr>
              <a:t>  'Otro'  </a:t>
            </a:r>
            <a:r>
              <a:rPr lang="es-ES" sz="820" dirty="0">
                <a:solidFill>
                  <a:srgbClr val="374151"/>
                </a:solidFill>
                <a:latin typeface="Calibri" pitchFamily="34" charset="0"/>
              </a:rPr>
              <a:t>Sin tipo definido → categoría residual</a:t>
            </a:r>
          </a:p>
        </p:txBody>
      </p:sp>
      <p:sp>
        <p:nvSpPr>
          <p:cNvPr id="22" name="Row2"/>
          <p:cNvSpPr/>
          <p:nvPr/>
        </p:nvSpPr>
        <p:spPr>
          <a:xfrm>
            <a:off x="4297200" y="1874520"/>
            <a:ext cx="4572000" cy="22860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820" dirty="0">
                <a:solidFill>
                  <a:srgbClr val="1A2E4A"/>
                </a:solidFill>
                <a:latin typeface="Consolas" pitchFamily="34" charset="0"/>
              </a:rPr>
              <a:t>estrellas</a:t>
            </a:r>
            <a:r>
              <a:rPr lang="es-ES" sz="820" b="1" dirty="0">
                <a:solidFill>
                  <a:srgbClr val="D4A843"/>
                </a:solidFill>
                <a:latin typeface="Consolas" pitchFamily="34" charset="0"/>
              </a:rPr>
              <a:t>  1  </a:t>
            </a:r>
            <a:r>
              <a:rPr lang="es-ES" sz="820" dirty="0">
                <a:solidFill>
                  <a:srgbClr val="374151"/>
                </a:solidFill>
                <a:latin typeface="Calibri" pitchFamily="34" charset="0"/>
              </a:rPr>
              <a:t>Sin clasificación → mínimo (no hotel)</a:t>
            </a:r>
          </a:p>
        </p:txBody>
      </p:sp>
      <p:sp>
        <p:nvSpPr>
          <p:cNvPr id="23" name="Row3"/>
          <p:cNvSpPr/>
          <p:nvPr/>
        </p:nvSpPr>
        <p:spPr>
          <a:xfrm>
            <a:off x="4297200" y="2103120"/>
            <a:ext cx="4572000" cy="228600"/>
          </a:xfrm>
          <a:prstGeom prst="rect">
            <a:avLst/>
          </a:prstGeom>
          <a:solidFill>
            <a:srgbClr val="E8F1FA"/>
          </a:solidFill>
          <a:ln>
            <a:solidFill>
              <a:srgbClr val="CBD5E1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820" dirty="0">
                <a:solidFill>
                  <a:srgbClr val="1A2E4A"/>
                </a:solidFill>
                <a:latin typeface="Consolas" pitchFamily="34" charset="0"/>
              </a:rPr>
              <a:t>n_valoraciones</a:t>
            </a:r>
            <a:r>
              <a:rPr lang="es-ES" sz="820" b="1" dirty="0">
                <a:solidFill>
                  <a:srgbClr val="D4A843"/>
                </a:solidFill>
                <a:latin typeface="Consolas" pitchFamily="34" charset="0"/>
              </a:rPr>
              <a:t>  0  </a:t>
            </a:r>
            <a:r>
              <a:rPr lang="es-ES" sz="820" dirty="0">
                <a:solidFill>
                  <a:srgbClr val="374151"/>
                </a:solidFill>
                <a:latin typeface="Calibri" pitchFamily="34" charset="0"/>
              </a:rPr>
              <a:t>Sin reseñas todavía → nuevo alojamiento</a:t>
            </a:r>
          </a:p>
        </p:txBody>
      </p:sp>
      <p:sp>
        <p:nvSpPr>
          <p:cNvPr id="24" name="Row4"/>
          <p:cNvSpPr/>
          <p:nvPr/>
        </p:nvSpPr>
        <p:spPr>
          <a:xfrm>
            <a:off x="4297200" y="2331720"/>
            <a:ext cx="4572000" cy="22860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820" dirty="0">
                <a:solidFill>
                  <a:srgbClr val="1A2E4A"/>
                </a:solidFill>
                <a:latin typeface="Consolas" pitchFamily="34" charset="0"/>
              </a:rPr>
              <a:t>valoracion_clientes</a:t>
            </a:r>
            <a:r>
              <a:rPr lang="es-ES" sz="820" b="1" dirty="0">
                <a:solidFill>
                  <a:srgbClr val="D4A843"/>
                </a:solidFill>
                <a:latin typeface="Consolas" pitchFamily="34" charset="0"/>
              </a:rPr>
              <a:t>  media  </a:t>
            </a:r>
            <a:r>
              <a:rPr lang="es-ES" sz="820" dirty="0">
                <a:solidFill>
                  <a:srgbClr val="374151"/>
                </a:solidFill>
                <a:latin typeface="Calibri" pitchFamily="34" charset="0"/>
              </a:rPr>
              <a:t>Evita sesgo hacia extremos; robusta ante outliers</a:t>
            </a:r>
          </a:p>
        </p:txBody>
      </p:sp>
      <p:sp>
        <p:nvSpPr>
          <p:cNvPr id="25" name="Row5"/>
          <p:cNvSpPr/>
          <p:nvPr/>
        </p:nvSpPr>
        <p:spPr>
          <a:xfrm>
            <a:off x="4297200" y="2560320"/>
            <a:ext cx="4572000" cy="228600"/>
          </a:xfrm>
          <a:prstGeom prst="rect">
            <a:avLst/>
          </a:prstGeom>
          <a:solidFill>
            <a:srgbClr val="E8F1FA"/>
          </a:solidFill>
          <a:ln>
            <a:solidFill>
              <a:srgbClr val="CBD5E1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820" dirty="0">
                <a:solidFill>
                  <a:srgbClr val="1A2E4A"/>
                </a:solidFill>
                <a:latin typeface="Consolas" pitchFamily="34" charset="0"/>
              </a:rPr>
              <a:t>tamaño_habitacion</a:t>
            </a:r>
            <a:r>
              <a:rPr lang="es-ES" sz="820" b="1" dirty="0">
                <a:solidFill>
                  <a:srgbClr val="D4A843"/>
                </a:solidFill>
                <a:latin typeface="Consolas" pitchFamily="34" charset="0"/>
              </a:rPr>
              <a:t>  mediana  </a:t>
            </a:r>
            <a:r>
              <a:rPr lang="es-ES" sz="820" dirty="0">
                <a:solidFill>
                  <a:srgbClr val="374151"/>
                </a:solidFill>
                <a:latin typeface="Calibri" pitchFamily="34" charset="0"/>
              </a:rPr>
              <a:t>Más robusta que la media ante suites con m² extremos</a:t>
            </a:r>
          </a:p>
        </p:txBody>
      </p:sp>
      <p:sp>
        <p:nvSpPr>
          <p:cNvPr id="30" name="Insight"/>
          <p:cNvSpPr/>
          <p:nvPr/>
        </p:nvSpPr>
        <p:spPr>
          <a:xfrm>
            <a:off x="4297200" y="2743200"/>
            <a:ext cx="4572000" cy="685800"/>
          </a:xfrm>
          <a:prstGeom prst="rect">
            <a:avLst/>
          </a:prstGeom>
          <a:solidFill>
            <a:srgbClr val="1F5C40"/>
          </a:solidFill>
          <a:ln/>
        </p:spPr>
        <p:txBody>
          <a:bodyPr wrap="square" lIns="114300" tIns="91440" rIns="114300" bIns="91440" rtlCol="0" anchor="ctr"/>
          <a:lstStyle/>
          <a:p>
            <a:pPr marL="0" indent="0">
              <a:buNone/>
            </a:pPr>
            <a:r>
              <a:rPr lang="es-ES" sz="900" b="1" dirty="0">
                <a:solidFill>
                  <a:srgbClr val="FFFFFF"/>
                </a:solidFill>
                <a:latin typeface="Calibri" pitchFamily="34" charset="0"/>
              </a:rPr>
              <a:t>💡  Criterio general</a:t>
            </a:r>
          </a:p>
          <a:p>
            <a:pPr marL="0" indent="0">
              <a:buNone/>
            </a:pPr>
            <a:r>
              <a:rPr lang="es-ES" sz="850" dirty="0">
                <a:solidFill>
                  <a:srgbClr val="F4F8FC"/>
                </a:solidFill>
                <a:latin typeface="Calibri" pitchFamily="34" charset="0"/>
              </a:rPr>
              <a:t>Eliminar cuando la variable es crítica e irrecuperable. Imputar con estadístico robusto cuando la pérdida penalizaría al modelo.</a:t>
            </a:r>
          </a:p>
        </p:txBody>
      </p:sp>
      <p:sp>
        <p:nvSpPr>
          <p:cNvPr id="97" name="Footer"/>
          <p:cNvSpPr/>
          <p:nvPr/>
        </p:nvSpPr>
        <p:spPr>
          <a:xfrm>
            <a:off x="457200" y="4826520"/>
            <a:ext cx="7772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800" dirty="0">
                <a:solidFill>
                  <a:srgbClr val="64748B"/>
                </a:solidFill>
                <a:latin typeface="Calibri" pitchFamily="34" charset="0"/>
              </a:rPr>
              <a:t>TFG · Detector de Chollos en Andalucía · Mario Jiménez · Universidad de Sevilla</a:t>
            </a:r>
          </a:p>
        </p:txBody>
      </p:sp>
      <p:sp>
        <p:nvSpPr>
          <p:cNvPr id="98" name="PageNum"/>
          <p:cNvSpPr/>
          <p:nvPr/>
        </p:nvSpPr>
        <p:spPr>
          <a:xfrm>
            <a:off x="859464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s-ES" sz="900" dirty="0">
              <a:solidFill>
                <a:srgbClr val="CBD5E1"/>
              </a:solidFill>
              <a:latin typeface="Calibri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ld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itle"/>
          <p:cNvSpPr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400" b="1" dirty="0">
                <a:solidFill>
                  <a:srgbClr val="FFFFFF"/>
                </a:solidFill>
                <a:latin typeface="Calibri" pitchFamily="34" charset="0"/>
              </a:rPr>
              <a:t>Preprocesamiento · Análisis (Gestión de </a:t>
            </a:r>
            <a:r>
              <a:rPr lang="es-ES" sz="2400" b="1" dirty="0" err="1">
                <a:solidFill>
                  <a:srgbClr val="FFFFFF"/>
                </a:solidFill>
                <a:latin typeface="Calibri" pitchFamily="34" charset="0"/>
              </a:rPr>
              <a:t>Outliers</a:t>
            </a:r>
            <a:r>
              <a:rPr lang="es-ES" sz="2400" b="1" dirty="0">
                <a:solidFill>
                  <a:srgbClr val="FFFFFF"/>
                </a:solidFill>
                <a:latin typeface="Calibri" pitchFamily="34" charset="0"/>
              </a:rPr>
              <a:t>)</a:t>
            </a:r>
          </a:p>
        </p:txBody>
      </p:sp>
      <p:sp>
        <p:nvSpPr>
          <p:cNvPr id="4" name="Sub"/>
          <p:cNvSpPr/>
          <p:nvPr/>
        </p:nvSpPr>
        <p:spPr>
          <a:xfrm>
            <a:off x="457200" y="603504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000" dirty="0">
                <a:solidFill>
                  <a:srgbClr val="F0C060"/>
                </a:solidFill>
                <a:latin typeface="Calibri" pitchFamily="34" charset="0"/>
              </a:rPr>
              <a:t>Criterio Tukey (IQR) · Cleaning/post_analisis.py · transformar_post_analisis()</a:t>
            </a:r>
          </a:p>
        </p:txBody>
      </p:sp>
      <p:sp>
        <p:nvSpPr>
          <p:cNvPr id="5" name="LblPrecio"/>
          <p:cNvSpPr/>
          <p:nvPr/>
        </p:nvSpPr>
        <p:spPr>
          <a:xfrm>
            <a:off x="182880" y="868680"/>
            <a:ext cx="2743200" cy="228600"/>
          </a:xfrm>
          <a:prstGeom prst="rect">
            <a:avLst/>
          </a:prstGeom>
          <a:solidFill>
            <a:srgbClr val="2A5080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50" b="1" dirty="0">
                <a:solidFill>
                  <a:srgbClr val="D4A843"/>
                </a:solidFill>
                <a:latin typeface="Calibri" pitchFamily="34" charset="0"/>
              </a:rPr>
              <a:t>💰  precio</a:t>
            </a:r>
          </a:p>
        </p:txBody>
      </p:sp>
      <p:pic>
        <p:nvPicPr>
          <p:cNvPr id="6" name="BoxplotPreci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2743200" cy="1828800"/>
          </a:xfrm>
          <a:prstGeom prst="rect">
            <a:avLst/>
          </a:prstGeom>
          <a:noFill/>
          <a:ln/>
        </p:spPr>
      </p:pic>
      <p:sp>
        <p:nvSpPr>
          <p:cNvPr id="7" name="DecPrecio"/>
          <p:cNvSpPr/>
          <p:nvPr/>
        </p:nvSpPr>
        <p:spPr>
          <a:xfrm>
            <a:off x="182880" y="2972880"/>
            <a:ext cx="2743200" cy="1371600"/>
          </a:xfrm>
          <a:prstGeom prst="rect">
            <a:avLst/>
          </a:prstGeom>
          <a:solidFill>
            <a:srgbClr val="1E3A5F"/>
          </a:solidFill>
          <a:ln/>
        </p:spPr>
        <p:txBody>
          <a:bodyPr wrap="square" lIns="114300" tIns="91440" rIns="114300" bIns="91440" rtlCol="0" anchor="t"/>
          <a:lstStyle/>
          <a:p>
            <a:pPr marL="0" indent="0">
              <a:buNone/>
            </a:pPr>
            <a:r>
              <a:rPr lang="es-ES" sz="880" b="1" dirty="0">
                <a:solidFill>
                  <a:srgbClr val="D4A843"/>
                </a:solidFill>
                <a:latin typeface="Calibri" pitchFamily="34" charset="0"/>
              </a:rPr>
              <a:t>📋 Decisión:</a:t>
            </a:r>
          </a:p>
          <a:p>
            <a:pPr marL="0" indent="0">
              <a:buNone/>
            </a:pPr>
            <a:r>
              <a:rPr lang="es-ES" sz="840" dirty="0">
                <a:solidFill>
                  <a:srgbClr val="F4F8FC"/>
                </a:solidFill>
                <a:latin typeface="Calibri" pitchFamily="34" charset="0"/>
              </a:rPr>
              <a:t>Registros +500€/noche, raramente van a ser chollos, además distorsionarían el modelo al introducir rangos de precio tan elevados.</a:t>
            </a:r>
          </a:p>
          <a:p>
            <a:pPr marL="0" indent="0">
              <a:buNone/>
            </a:pPr>
            <a:r>
              <a:rPr lang="es-ES" sz="84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840" b="1" dirty="0">
                <a:solidFill>
                  <a:srgbClr val="DC2626"/>
                </a:solidFill>
                <a:latin typeface="Calibri" pitchFamily="34" charset="0"/>
              </a:rPr>
              <a:t>❌ Umbral Tukey: precio &lt; 468€</a:t>
            </a:r>
            <a:endParaRPr lang="es-ES" sz="840" b="1" dirty="0">
              <a:solidFill>
                <a:srgbClr val="16A34A"/>
              </a:solidFill>
              <a:latin typeface="Calibri" pitchFamily="34" charset="0"/>
            </a:endParaRPr>
          </a:p>
        </p:txBody>
      </p:sp>
      <p:sp>
        <p:nvSpPr>
          <p:cNvPr id="8" name="LblTam"/>
          <p:cNvSpPr/>
          <p:nvPr/>
        </p:nvSpPr>
        <p:spPr>
          <a:xfrm>
            <a:off x="3108480" y="868680"/>
            <a:ext cx="2743200" cy="228600"/>
          </a:xfrm>
          <a:prstGeom prst="rect">
            <a:avLst/>
          </a:prstGeom>
          <a:solidFill>
            <a:srgbClr val="2A5080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50" b="1" dirty="0">
                <a:solidFill>
                  <a:srgbClr val="D4A843"/>
                </a:solidFill>
                <a:latin typeface="Calibri" pitchFamily="34" charset="0"/>
              </a:rPr>
              <a:t>🏠  tamaño_habitacion</a:t>
            </a:r>
          </a:p>
        </p:txBody>
      </p:sp>
      <p:pic>
        <p:nvPicPr>
          <p:cNvPr id="9" name="BoxplotT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8480" y="1097280"/>
            <a:ext cx="2743200" cy="1828800"/>
          </a:xfrm>
          <a:prstGeom prst="rect">
            <a:avLst/>
          </a:prstGeom>
          <a:noFill/>
          <a:ln/>
        </p:spPr>
      </p:pic>
      <p:sp>
        <p:nvSpPr>
          <p:cNvPr id="10" name="DecTam"/>
          <p:cNvSpPr/>
          <p:nvPr/>
        </p:nvSpPr>
        <p:spPr>
          <a:xfrm>
            <a:off x="3108480" y="2972880"/>
            <a:ext cx="2743200" cy="1371600"/>
          </a:xfrm>
          <a:prstGeom prst="rect">
            <a:avLst/>
          </a:prstGeom>
          <a:solidFill>
            <a:srgbClr val="1E3A5F"/>
          </a:solidFill>
          <a:ln/>
        </p:spPr>
        <p:txBody>
          <a:bodyPr wrap="square" lIns="114300" tIns="91440" rIns="114300" bIns="91440" rtlCol="0" anchor="t"/>
          <a:lstStyle/>
          <a:p>
            <a:pPr marL="0" indent="0">
              <a:buNone/>
            </a:pPr>
            <a:r>
              <a:rPr lang="es-ES" sz="880" b="1" dirty="0">
                <a:solidFill>
                  <a:srgbClr val="D4A843"/>
                </a:solidFill>
                <a:latin typeface="Calibri" pitchFamily="34" charset="0"/>
              </a:rPr>
              <a:t>📋 Decisión:</a:t>
            </a:r>
          </a:p>
          <a:p>
            <a:pPr marL="0" indent="0">
              <a:buNone/>
            </a:pPr>
            <a:r>
              <a:rPr lang="es-ES" sz="840" dirty="0">
                <a:solidFill>
                  <a:srgbClr val="F4F8FC"/>
                </a:solidFill>
                <a:latin typeface="Calibri" pitchFamily="34" charset="0"/>
              </a:rPr>
              <a:t>Valores &gt; 500 m² son fincas/villas, fuera del objeto de estudio. Hoteles = 8% del dataset.</a:t>
            </a:r>
          </a:p>
          <a:p>
            <a:pPr marL="0" indent="0">
              <a:buNone/>
            </a:pPr>
            <a:r>
              <a:rPr lang="es-ES" sz="84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840" b="1" dirty="0">
                <a:solidFill>
                  <a:srgbClr val="DC2626"/>
                </a:solidFill>
                <a:latin typeface="Calibri" pitchFamily="34" charset="0"/>
              </a:rPr>
              <a:t>❌ Umbral fijo: </a:t>
            </a:r>
            <a:r>
              <a:rPr lang="es-ES" sz="840" b="1" dirty="0" err="1">
                <a:solidFill>
                  <a:srgbClr val="DC2626"/>
                </a:solidFill>
                <a:latin typeface="Calibri" pitchFamily="34" charset="0"/>
              </a:rPr>
              <a:t>tamaño_habitacion</a:t>
            </a:r>
            <a:r>
              <a:rPr lang="es-ES" sz="840" b="1" dirty="0">
                <a:solidFill>
                  <a:srgbClr val="DC2626"/>
                </a:solidFill>
                <a:latin typeface="Calibri" pitchFamily="34" charset="0"/>
              </a:rPr>
              <a:t> &lt; 500 m².</a:t>
            </a:r>
          </a:p>
          <a:p>
            <a:pPr marL="0" indent="0">
              <a:buNone/>
            </a:pPr>
            <a:r>
              <a:rPr lang="es-ES" sz="840" dirty="0">
                <a:solidFill>
                  <a:srgbClr val="CBD5E1"/>
                </a:solidFill>
                <a:latin typeface="Calibri" pitchFamily="34" charset="0"/>
              </a:rPr>
              <a:t>Superior al umbral Tukey para no perder casas rurales legítimas.</a:t>
            </a:r>
          </a:p>
        </p:txBody>
      </p:sp>
      <p:sp>
        <p:nvSpPr>
          <p:cNvPr id="11" name="LblDist"/>
          <p:cNvSpPr/>
          <p:nvPr/>
        </p:nvSpPr>
        <p:spPr>
          <a:xfrm>
            <a:off x="6034080" y="868680"/>
            <a:ext cx="2972880" cy="228600"/>
          </a:xfrm>
          <a:prstGeom prst="rect">
            <a:avLst/>
          </a:prstGeom>
          <a:solidFill>
            <a:srgbClr val="2A5080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50" b="1" dirty="0">
                <a:solidFill>
                  <a:srgbClr val="D4A843"/>
                </a:solidFill>
                <a:latin typeface="Calibri" pitchFamily="34" charset="0"/>
              </a:rPr>
              <a:t>📍  distancia_centro_km</a:t>
            </a:r>
          </a:p>
        </p:txBody>
      </p:sp>
      <p:sp>
        <p:nvSpPr>
          <p:cNvPr id="12" name="LblD1"/>
          <p:cNvSpPr/>
          <p:nvPr/>
        </p:nvSpPr>
        <p:spPr>
          <a:xfrm>
            <a:off x="6034080" y="1097280"/>
            <a:ext cx="1371600" cy="182880"/>
          </a:xfrm>
          <a:prstGeom prst="rect">
            <a:avLst/>
          </a:prstGeom>
          <a:solidFill>
            <a:srgbClr val="5C1A1A"/>
          </a:solidFill>
          <a:ln/>
        </p:spPr>
        <p:txBody>
          <a:bodyPr wrap="square" lIns="60960" tIns="30480" rIns="60960" bIns="30480" rtlCol="0" anchor="ctr"/>
          <a:lstStyle/>
          <a:p>
            <a:pPr marL="0" indent="0">
              <a:buNone/>
            </a:pPr>
            <a:r>
              <a:rPr lang="es-ES" sz="700" dirty="0">
                <a:solidFill>
                  <a:srgbClr val="FFFFFF"/>
                </a:solidFill>
                <a:latin typeface="Calibri" pitchFamily="34" charset="0"/>
              </a:rPr>
              <a:t>Con outlier extremo</a:t>
            </a:r>
          </a:p>
        </p:txBody>
      </p:sp>
      <p:pic>
        <p:nvPicPr>
          <p:cNvPr id="13" name="BoxplotDist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4080" y="1280160"/>
            <a:ext cx="1371600" cy="822960"/>
          </a:xfrm>
          <a:prstGeom prst="rect">
            <a:avLst/>
          </a:prstGeom>
          <a:noFill/>
          <a:ln/>
        </p:spPr>
      </p:pic>
      <p:sp>
        <p:nvSpPr>
          <p:cNvPr id="14" name="LblD2"/>
          <p:cNvSpPr/>
          <p:nvPr/>
        </p:nvSpPr>
        <p:spPr>
          <a:xfrm>
            <a:off x="7635480" y="1097280"/>
            <a:ext cx="1371600" cy="182880"/>
          </a:xfrm>
          <a:prstGeom prst="rect">
            <a:avLst/>
          </a:prstGeom>
          <a:solidFill>
            <a:srgbClr val="1F5C40"/>
          </a:solidFill>
          <a:ln/>
        </p:spPr>
        <p:txBody>
          <a:bodyPr wrap="square" lIns="60960" tIns="30480" rIns="60960" bIns="30480" rtlCol="0" anchor="ctr"/>
          <a:lstStyle/>
          <a:p>
            <a:pPr marL="0" indent="0">
              <a:buNone/>
            </a:pPr>
            <a:r>
              <a:rPr lang="es-ES" sz="700" dirty="0">
                <a:solidFill>
                  <a:srgbClr val="FFFFFF"/>
                </a:solidFill>
                <a:latin typeface="Calibri" pitchFamily="34" charset="0"/>
              </a:rPr>
              <a:t>Sin outlier extremo</a:t>
            </a:r>
          </a:p>
        </p:txBody>
      </p:sp>
      <p:pic>
        <p:nvPicPr>
          <p:cNvPr id="15" name="BoxplotDist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35480" y="1280160"/>
            <a:ext cx="1371600" cy="822960"/>
          </a:xfrm>
          <a:prstGeom prst="rect">
            <a:avLst/>
          </a:prstGeom>
          <a:noFill/>
          <a:ln/>
        </p:spPr>
      </p:pic>
      <p:sp>
        <p:nvSpPr>
          <p:cNvPr id="16" name="DecDist"/>
          <p:cNvSpPr/>
          <p:nvPr/>
        </p:nvSpPr>
        <p:spPr>
          <a:xfrm>
            <a:off x="6034080" y="2103120"/>
            <a:ext cx="2972880" cy="2240280"/>
          </a:xfrm>
          <a:prstGeom prst="rect">
            <a:avLst/>
          </a:prstGeom>
          <a:solidFill>
            <a:srgbClr val="1E3A5F"/>
          </a:solidFill>
          <a:ln/>
        </p:spPr>
        <p:txBody>
          <a:bodyPr wrap="square" lIns="114300" tIns="91440" rIns="114300" bIns="91440" rtlCol="0" anchor="t"/>
          <a:lstStyle/>
          <a:p>
            <a:pPr marL="0" indent="0">
              <a:buNone/>
            </a:pPr>
            <a:r>
              <a:rPr lang="es-ES" sz="880" b="1" dirty="0">
                <a:solidFill>
                  <a:srgbClr val="D4A843"/>
                </a:solidFill>
                <a:latin typeface="Calibri" pitchFamily="34" charset="0"/>
              </a:rPr>
              <a:t>📋 Decisión (2 pasos):</a:t>
            </a:r>
          </a:p>
          <a:p>
            <a:pPr marL="0" indent="0">
              <a:buNone/>
            </a:pPr>
            <a:r>
              <a:rPr lang="es-ES" sz="840" b="1" dirty="0">
                <a:solidFill>
                  <a:srgbClr val="DC2626"/>
                </a:solidFill>
                <a:latin typeface="Calibri" pitchFamily="34" charset="0"/>
              </a:rPr>
              <a:t>❌ 1. Eliminar &gt; 15.000 km:</a:t>
            </a:r>
          </a:p>
          <a:p>
            <a:pPr marL="0" indent="0">
              <a:buNone/>
            </a:pPr>
            <a:r>
              <a:rPr lang="es-ES" sz="820" dirty="0">
                <a:solidFill>
                  <a:srgbClr val="CBD5E1"/>
                </a:solidFill>
                <a:latin typeface="Calibri" pitchFamily="34" charset="0"/>
              </a:rPr>
              <a:t>Error GPS: alojamiento geocodificado en Islas Salomón , con dirección manual de Guadalcanal, España.</a:t>
            </a:r>
          </a:p>
          <a:p>
            <a:pPr marL="0" indent="0">
              <a:buNone/>
            </a:pPr>
            <a:r>
              <a:rPr lang="es-ES" sz="84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840" b="1" dirty="0">
                <a:solidFill>
                  <a:srgbClr val="DC2626"/>
                </a:solidFill>
                <a:latin typeface="Calibri" pitchFamily="34" charset="0"/>
              </a:rPr>
              <a:t>❌ 2. Umbral definitivo ≤ 15 km:</a:t>
            </a:r>
          </a:p>
          <a:p>
            <a:pPr marL="0" indent="0">
              <a:buNone/>
            </a:pPr>
            <a:r>
              <a:rPr lang="es-ES" sz="820" dirty="0">
                <a:solidFill>
                  <a:srgbClr val="CBD5E1"/>
                </a:solidFill>
                <a:latin typeface="Calibri" pitchFamily="34" charset="0"/>
              </a:rPr>
              <a:t>Alojamiento a &gt;15 km del centro → probable error de geocodificación o finca rural fuera del objeto de estudio.</a:t>
            </a:r>
          </a:p>
          <a:p>
            <a:pPr marL="0" indent="0">
              <a:buNone/>
            </a:pPr>
            <a:r>
              <a:rPr lang="es-ES" sz="84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820" b="1" dirty="0">
                <a:solidFill>
                  <a:srgbClr val="F0C060"/>
                </a:solidFill>
                <a:latin typeface="Consolas" pitchFamily="34" charset="0"/>
              </a:rPr>
              <a:t># Cleaning/post_analisis.py → transformar_post_analisis()
df = df[df['distancia_centro_km'] &lt;= 15]</a:t>
            </a:r>
          </a:p>
        </p:txBody>
      </p:sp>
      <p:sp>
        <p:nvSpPr>
          <p:cNvPr id="97" name="Footer"/>
          <p:cNvSpPr/>
          <p:nvPr/>
        </p:nvSpPr>
        <p:spPr>
          <a:xfrm>
            <a:off x="457200" y="4826520"/>
            <a:ext cx="7772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800" dirty="0">
                <a:solidFill>
                  <a:srgbClr val="4A6080"/>
                </a:solidFill>
                <a:latin typeface="Calibri" pitchFamily="34" charset="0"/>
              </a:rPr>
              <a:t>TFG · Detector de Chollos en Andalucía · Mario Jiménez · Universidad de Sevilla</a:t>
            </a:r>
          </a:p>
        </p:txBody>
      </p:sp>
      <p:sp>
        <p:nvSpPr>
          <p:cNvPr id="98" name="PageNum"/>
          <p:cNvSpPr/>
          <p:nvPr/>
        </p:nvSpPr>
        <p:spPr>
          <a:xfrm>
            <a:off x="859464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s-ES" sz="900" dirty="0">
              <a:solidFill>
                <a:srgbClr val="4A6080"/>
              </a:solidFill>
              <a:latin typeface="Calibri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drBand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2E4A"/>
          </a:solidFill>
          <a:ln/>
        </p:spPr>
      </p:sp>
      <p:sp>
        <p:nvSpPr>
          <p:cNvPr id="3" name="Gold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itle"/>
          <p:cNvSpPr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400" b="1" dirty="0">
                <a:solidFill>
                  <a:srgbClr val="FFFFFF"/>
                </a:solidFill>
                <a:latin typeface="Calibri" pitchFamily="34" charset="0"/>
              </a:rPr>
              <a:t>Preprocesamiento · Encoding</a:t>
            </a:r>
          </a:p>
        </p:txBody>
      </p:sp>
      <p:sp>
        <p:nvSpPr>
          <p:cNvPr id="5" name="Sub"/>
          <p:cNvSpPr/>
          <p:nvPr/>
        </p:nvSpPr>
        <p:spPr>
          <a:xfrm>
            <a:off x="457200" y="603504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000" dirty="0">
                <a:solidFill>
                  <a:srgbClr val="F0C060"/>
                </a:solidFill>
                <a:latin typeface="Consolas" pitchFamily="34" charset="0"/>
              </a:rPr>
              <a:t>Cleaning/encoding.py  →  encoding()  ·  genera db_final_codificada.parquet</a:t>
            </a:r>
          </a:p>
        </p:txBody>
      </p:sp>
      <p:sp>
        <p:nvSpPr>
          <p:cNvPr id="6" name="Lbl1"/>
          <p:cNvSpPr/>
          <p:nvPr/>
        </p:nvSpPr>
        <p:spPr>
          <a:xfrm>
            <a:off x="274320" y="948960"/>
            <a:ext cx="4115880" cy="228600"/>
          </a:xfrm>
          <a:prstGeom prst="rect">
            <a:avLst/>
          </a:prstGeom>
          <a:solidFill>
            <a:srgbClr val="1A2E4A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50" b="1" dirty="0">
                <a:solidFill>
                  <a:srgbClr val="D4A843"/>
                </a:solidFill>
                <a:latin typeface="Calibri" pitchFamily="34" charset="0"/>
              </a:rPr>
              <a:t>🗑️  1. Eliminación de columnas no predictivas</a:t>
            </a:r>
          </a:p>
        </p:txBody>
      </p:sp>
      <p:sp>
        <p:nvSpPr>
          <p:cNvPr id="7" name="Card1"/>
          <p:cNvSpPr/>
          <p:nvPr/>
        </p:nvSpPr>
        <p:spPr>
          <a:xfrm>
            <a:off x="274320" y="1177559"/>
            <a:ext cx="4115880" cy="618127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91440" rIns="114300" bIns="91440" rtlCol="0" anchor="t"/>
          <a:lstStyle/>
          <a:p>
            <a:pPr marL="0" indent="0">
              <a:buNone/>
            </a:pPr>
            <a:r>
              <a:rPr lang="es-ES" sz="800" dirty="0">
                <a:solidFill>
                  <a:srgbClr val="1E293B"/>
                </a:solidFill>
                <a:latin typeface="Calibri" pitchFamily="34" charset="0"/>
              </a:rPr>
              <a:t>Se eliminan variables identificativas que no aportan valor predictivo al modelo:</a:t>
            </a:r>
          </a:p>
          <a:p>
            <a:pPr marL="0" indent="0">
              <a:buNone/>
            </a:pPr>
            <a:endParaRPr lang="es-ES" sz="800" dirty="0">
              <a:latin typeface="Calibri" pitchFamily="34" charset="0"/>
            </a:endParaRPr>
          </a:p>
          <a:p>
            <a:pPr marL="0" indent="0">
              <a:buNone/>
            </a:pPr>
            <a:r>
              <a:rPr lang="es-ES" sz="800" dirty="0">
                <a:solidFill>
                  <a:srgbClr val="1A2E4A"/>
                </a:solidFill>
                <a:latin typeface="Consolas" pitchFamily="34" charset="0"/>
              </a:rPr>
              <a:t>db_final.drop(columns=['titulo', 'codigo_postal',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1A2E4A"/>
                </a:solidFill>
                <a:latin typeface="Consolas" pitchFamily="34" charset="0"/>
              </a:rPr>
              <a:t>                       'url_estancia', 'fecha_extraccion'])</a:t>
            </a:r>
          </a:p>
        </p:txBody>
      </p:sp>
      <p:sp>
        <p:nvSpPr>
          <p:cNvPr id="8" name="Lbl2"/>
          <p:cNvSpPr/>
          <p:nvPr/>
        </p:nvSpPr>
        <p:spPr>
          <a:xfrm>
            <a:off x="273360" y="1792261"/>
            <a:ext cx="4115880" cy="228600"/>
          </a:xfrm>
          <a:prstGeom prst="rect">
            <a:avLst/>
          </a:prstGeom>
          <a:solidFill>
            <a:srgbClr val="1B5E20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50" b="1" dirty="0">
                <a:solidFill>
                  <a:srgbClr val="D4A843"/>
                </a:solidFill>
                <a:latin typeface="Calibri" pitchFamily="34" charset="0"/>
              </a:rPr>
              <a:t>🧩  2. One-Hot Encoding  —  tipo</a:t>
            </a:r>
          </a:p>
        </p:txBody>
      </p:sp>
      <p:sp>
        <p:nvSpPr>
          <p:cNvPr id="9" name="Card2"/>
          <p:cNvSpPr/>
          <p:nvPr/>
        </p:nvSpPr>
        <p:spPr>
          <a:xfrm>
            <a:off x="273360" y="2020860"/>
            <a:ext cx="4115880" cy="756899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91440" rIns="114300" bIns="91440" rtlCol="0" anchor="t"/>
          <a:lstStyle/>
          <a:p>
            <a:pPr marL="0" indent="0">
              <a:buNone/>
            </a:pPr>
            <a:r>
              <a:rPr lang="es-ES" sz="800" dirty="0">
                <a:solidFill>
                  <a:srgbClr val="1E293B"/>
                </a:solidFill>
                <a:latin typeface="Calibri" pitchFamily="34" charset="0"/>
              </a:rPr>
              <a:t>Crea columna binaria </a:t>
            </a:r>
            <a:r>
              <a:rPr lang="es-ES" sz="800" b="1" dirty="0">
                <a:solidFill>
                  <a:srgbClr val="1A2E4A"/>
                </a:solidFill>
                <a:latin typeface="Consolas" pitchFamily="34" charset="0"/>
              </a:rPr>
              <a:t>tipo_Otro</a:t>
            </a:r>
            <a:r>
              <a:rPr lang="es-ES" sz="800" dirty="0">
                <a:solidFill>
                  <a:srgbClr val="1E293B"/>
                </a:solidFill>
                <a:latin typeface="Calibri" pitchFamily="34" charset="0"/>
              </a:rPr>
              <a:t> (0=Hotel, 1=Otro). </a:t>
            </a:r>
          </a:p>
          <a:p>
            <a:pPr marL="0" indent="0">
              <a:buNone/>
            </a:pPr>
            <a:r>
              <a:rPr lang="es-ES" sz="800" b="1" dirty="0">
                <a:solidFill>
                  <a:srgbClr val="1A2E4A"/>
                </a:solidFill>
                <a:latin typeface="Consolas" pitchFamily="34" charset="0"/>
              </a:rPr>
              <a:t>drop_first=True</a:t>
            </a:r>
            <a:r>
              <a:rPr lang="es-ES" sz="800" dirty="0">
                <a:solidFill>
                  <a:srgbClr val="1E293B"/>
                </a:solidFill>
                <a:latin typeface="Calibri" pitchFamily="34" charset="0"/>
              </a:rPr>
              <a:t> elimina </a:t>
            </a:r>
            <a:r>
              <a:rPr lang="es-ES" sz="800" b="1" dirty="0">
                <a:solidFill>
                  <a:srgbClr val="1A2E4A"/>
                </a:solidFill>
                <a:latin typeface="Consolas" pitchFamily="34" charset="0"/>
              </a:rPr>
              <a:t>tipo_Hotel</a:t>
            </a:r>
            <a:r>
              <a:rPr lang="es-ES" sz="800" dirty="0">
                <a:solidFill>
                  <a:srgbClr val="1E293B"/>
                </a:solidFill>
                <a:latin typeface="Calibri" pitchFamily="34" charset="0"/>
              </a:rPr>
              <a:t> por redundancia (colinealidad perfecta).</a:t>
            </a:r>
          </a:p>
          <a:p>
            <a:pPr marL="0" indent="0">
              <a:buNone/>
            </a:pPr>
            <a:r>
              <a:rPr lang="es-ES" sz="8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1A2E4A"/>
                </a:solidFill>
                <a:latin typeface="Consolas" pitchFamily="34" charset="0"/>
              </a:rPr>
              <a:t>db = pd.get_dummies(db, columns=['tipo'],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1A2E4A"/>
                </a:solidFill>
                <a:latin typeface="Consolas" pitchFamily="34" charset="0"/>
              </a:rPr>
              <a:t>                   drop_first=True)</a:t>
            </a:r>
          </a:p>
          <a:p>
            <a:pPr marL="0" indent="0">
              <a:buNone/>
            </a:pPr>
            <a:r>
              <a:rPr lang="es-ES" sz="7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820" dirty="0">
                <a:solidFill>
                  <a:srgbClr val="64748B"/>
                </a:solidFill>
                <a:latin typeface="Calibri" pitchFamily="34" charset="0"/>
              </a:rPr>
              <a:t>⚠️  Por qué no OHE en localidad/provincia: demasiadas categorías → alta dimensionalidad.</a:t>
            </a:r>
          </a:p>
        </p:txBody>
      </p:sp>
      <p:sp>
        <p:nvSpPr>
          <p:cNvPr id="10" name="Lbl3"/>
          <p:cNvSpPr/>
          <p:nvPr/>
        </p:nvSpPr>
        <p:spPr>
          <a:xfrm>
            <a:off x="274320" y="2773128"/>
            <a:ext cx="4115880" cy="228600"/>
          </a:xfrm>
          <a:prstGeom prst="rect">
            <a:avLst/>
          </a:prstGeom>
          <a:solidFill>
            <a:srgbClr val="4A1A6B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50" b="1" dirty="0">
                <a:solidFill>
                  <a:srgbClr val="D4A843"/>
                </a:solidFill>
                <a:latin typeface="Calibri" pitchFamily="34" charset="0"/>
              </a:rPr>
              <a:t>🏷️  3. Label Encoding  —  localidad + provincia</a:t>
            </a:r>
          </a:p>
        </p:txBody>
      </p:sp>
      <p:sp>
        <p:nvSpPr>
          <p:cNvPr id="11" name="Card3"/>
          <p:cNvSpPr/>
          <p:nvPr/>
        </p:nvSpPr>
        <p:spPr>
          <a:xfrm>
            <a:off x="274320" y="3001728"/>
            <a:ext cx="4115880" cy="888438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91440" rIns="114300" bIns="91440" rtlCol="0" anchor="t"/>
          <a:lstStyle/>
          <a:p>
            <a:pPr marL="0" indent="0">
              <a:buNone/>
            </a:pPr>
            <a:r>
              <a:rPr lang="es-ES" sz="800" dirty="0">
                <a:solidFill>
                  <a:srgbClr val="1E293B"/>
                </a:solidFill>
                <a:latin typeface="Calibri" pitchFamily="34" charset="0"/>
              </a:rPr>
              <a:t>Asigna un entero único a cada categoría. </a:t>
            </a:r>
          </a:p>
          <a:p>
            <a:pPr marL="0" indent="0">
              <a:buNone/>
            </a:pPr>
            <a:endParaRPr lang="es-ES" sz="800" dirty="0">
              <a:solidFill>
                <a:srgbClr val="1E293B"/>
              </a:solidFill>
              <a:latin typeface="Calibri" pitchFamily="34" charset="0"/>
            </a:endParaRPr>
          </a:p>
          <a:p>
            <a:pPr marL="0" indent="0">
              <a:buNone/>
            </a:pPr>
            <a:r>
              <a:rPr lang="es-ES" sz="800" dirty="0" err="1">
                <a:solidFill>
                  <a:srgbClr val="1A2E4A"/>
                </a:solidFill>
                <a:latin typeface="Consolas" pitchFamily="34" charset="0"/>
              </a:rPr>
              <a:t>le_localidad</a:t>
            </a:r>
            <a:r>
              <a:rPr lang="es-ES" sz="800" dirty="0">
                <a:solidFill>
                  <a:srgbClr val="1A2E4A"/>
                </a:solidFill>
                <a:latin typeface="Consolas" pitchFamily="34" charset="0"/>
              </a:rPr>
              <a:t> = LabelEncoder()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1A2E4A"/>
                </a:solidFill>
                <a:latin typeface="Consolas" pitchFamily="34" charset="0"/>
              </a:rPr>
              <a:t>le_provincia = LabelEncoder()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1A2E4A"/>
                </a:solidFill>
                <a:latin typeface="Consolas" pitchFamily="34" charset="0"/>
              </a:rPr>
              <a:t>db['localidad'] = le_localidad.fit_transform(db['localidad'])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1A2E4A"/>
                </a:solidFill>
                <a:latin typeface="Consolas" pitchFamily="34" charset="0"/>
              </a:rPr>
              <a:t>db['provincia'] = le_provincia.fit_transform(db['provincia'])</a:t>
            </a:r>
          </a:p>
        </p:txBody>
      </p:sp>
      <p:sp>
        <p:nvSpPr>
          <p:cNvPr id="12" name="Lbl4"/>
          <p:cNvSpPr/>
          <p:nvPr/>
        </p:nvSpPr>
        <p:spPr>
          <a:xfrm>
            <a:off x="273360" y="3890166"/>
            <a:ext cx="4115880" cy="228600"/>
          </a:xfrm>
          <a:prstGeom prst="rect">
            <a:avLst/>
          </a:prstGeom>
          <a:solidFill>
            <a:srgbClr val="7B341E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50" b="1" dirty="0">
                <a:solidFill>
                  <a:srgbClr val="D4A843"/>
                </a:solidFill>
                <a:latin typeface="Calibri" pitchFamily="34" charset="0"/>
              </a:rPr>
              <a:t>📅  4. Descomposición de fecha_disponible</a:t>
            </a:r>
          </a:p>
        </p:txBody>
      </p:sp>
      <p:sp>
        <p:nvSpPr>
          <p:cNvPr id="13" name="Card4"/>
          <p:cNvSpPr/>
          <p:nvPr/>
        </p:nvSpPr>
        <p:spPr>
          <a:xfrm>
            <a:off x="273360" y="4118766"/>
            <a:ext cx="4115880" cy="707754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91440" rIns="114300" bIns="91440" rtlCol="0" anchor="t"/>
          <a:lstStyle/>
          <a:p>
            <a:pPr marL="0" indent="0">
              <a:buNone/>
            </a:pPr>
            <a:r>
              <a:rPr lang="es-ES" sz="800" dirty="0">
                <a:solidFill>
                  <a:srgbClr val="1E293B"/>
                </a:solidFill>
                <a:latin typeface="Calibri" pitchFamily="34" charset="0"/>
              </a:rPr>
              <a:t>Extrae mes y día como variables numéricas y luego elimina la columna original.</a:t>
            </a:r>
          </a:p>
          <a:p>
            <a:pPr marL="0" indent="0">
              <a:buNone/>
            </a:pPr>
            <a:r>
              <a:rPr lang="es-ES" sz="7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1A2E4A"/>
                </a:solidFill>
                <a:latin typeface="Consolas" pitchFamily="34" charset="0"/>
              </a:rPr>
              <a:t>db['mes_disponible'] = db['fecha_disponible'].dt.month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1A2E4A"/>
                </a:solidFill>
                <a:latin typeface="Consolas" pitchFamily="34" charset="0"/>
              </a:rPr>
              <a:t>db['dia_disponible'] = db['fecha_disponible'].dt.day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1A2E4A"/>
                </a:solidFill>
                <a:latin typeface="Consolas" pitchFamily="34" charset="0"/>
              </a:rPr>
              <a:t>db = db.drop(columns=['fecha_disponible'])</a:t>
            </a:r>
          </a:p>
        </p:txBody>
      </p:sp>
      <p:sp>
        <p:nvSpPr>
          <p:cNvPr id="14" name="LblTbl"/>
          <p:cNvSpPr/>
          <p:nvPr/>
        </p:nvSpPr>
        <p:spPr>
          <a:xfrm>
            <a:off x="4572000" y="948960"/>
            <a:ext cx="4298640" cy="228600"/>
          </a:xfrm>
          <a:prstGeom prst="rect">
            <a:avLst/>
          </a:prstGeom>
          <a:solidFill>
            <a:srgbClr val="1A2E4A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50" b="1" dirty="0">
                <a:solidFill>
                  <a:srgbClr val="D4A843"/>
                </a:solidFill>
                <a:latin typeface="Calibri" pitchFamily="34" charset="0"/>
              </a:rPr>
              <a:t>🔀  Variables: antes → después del encoding</a:t>
            </a:r>
          </a:p>
        </p:txBody>
      </p:sp>
      <p:sp>
        <p:nvSpPr>
          <p:cNvPr id="15" name="TblHdr"/>
          <p:cNvSpPr/>
          <p:nvPr/>
        </p:nvSpPr>
        <p:spPr>
          <a:xfrm>
            <a:off x="4572000" y="1177560"/>
            <a:ext cx="4298640" cy="274320"/>
          </a:xfrm>
          <a:prstGeom prst="rect">
            <a:avLst/>
          </a:prstGeom>
          <a:solidFill>
            <a:srgbClr val="2A5080"/>
          </a:solidFill>
          <a:ln/>
        </p:spPr>
        <p:txBody>
          <a:bodyPr wrap="square" lIns="114300" tIns="45720" rIns="114300" bIns="45720" rtlCol="0" anchor="ctr"/>
          <a:lstStyle/>
          <a:p>
            <a:pPr marL="0" indent="0">
              <a:buNone/>
            </a:pPr>
            <a:r>
              <a:rPr lang="es-ES" sz="880" b="1" dirty="0">
                <a:solidFill>
                  <a:srgbClr val="D4A843"/>
                </a:solidFill>
                <a:latin typeface="Calibri" pitchFamily="34" charset="0"/>
              </a:rPr>
              <a:t>Variable original</a:t>
            </a:r>
            <a:r>
              <a:rPr lang="es-ES" sz="880" dirty="0">
                <a:solidFill>
                  <a:srgbClr val="CBD5E1"/>
                </a:solidFill>
                <a:latin typeface="Calibri" pitchFamily="34" charset="0"/>
              </a:rPr>
              <a:t>   →   </a:t>
            </a:r>
            <a:r>
              <a:rPr lang="es-ES" sz="880" b="1" dirty="0">
                <a:solidFill>
                  <a:srgbClr val="D4A843"/>
                </a:solidFill>
                <a:latin typeface="Calibri" pitchFamily="34" charset="0"/>
              </a:rPr>
              <a:t>Resultado    [Técnica]</a:t>
            </a:r>
          </a:p>
        </p:txBody>
      </p:sp>
      <p:sp>
        <p:nvSpPr>
          <p:cNvPr id="20" name="Row0"/>
          <p:cNvSpPr/>
          <p:nvPr/>
        </p:nvSpPr>
        <p:spPr>
          <a:xfrm>
            <a:off x="4572000" y="1451880"/>
            <a:ext cx="4298640" cy="50292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91440" tIns="30480" rIns="91440" bIns="30480" rtlCol="0" anchor="ctr"/>
          <a:lstStyle/>
          <a:p>
            <a:pPr marL="0" indent="0">
              <a:buNone/>
            </a:pPr>
            <a:r>
              <a:rPr lang="es-ES" sz="800" dirty="0">
                <a:solidFill>
                  <a:srgbClr val="1E293B"/>
                </a:solidFill>
                <a:latin typeface="Calibri" pitchFamily="34" charset="0"/>
              </a:rPr>
              <a:t>titulo, codigo_postal,
url_estancia, fecha_extraccion</a:t>
            </a:r>
            <a:r>
              <a:rPr lang="es-ES" sz="800" dirty="0">
                <a:solidFill>
                  <a:srgbClr val="64748B"/>
                </a:solidFill>
                <a:latin typeface="Calibri" pitchFamily="34" charset="0"/>
              </a:rPr>
              <a:t>  → </a:t>
            </a:r>
            <a:r>
              <a:rPr lang="es-ES" sz="800" b="1" dirty="0">
                <a:solidFill>
                  <a:srgbClr val="5C1A1A"/>
                </a:solidFill>
                <a:latin typeface="Calibri" pitchFamily="34" charset="0"/>
              </a:rPr>
              <a:t>  eliminadas</a:t>
            </a:r>
            <a:r>
              <a:rPr lang="es-ES" sz="780" dirty="0">
                <a:solidFill>
                  <a:srgbClr val="64748B"/>
                </a:solidFill>
                <a:latin typeface="Calibri" pitchFamily="34" charset="0"/>
              </a:rPr>
              <a:t>   [Drop]</a:t>
            </a:r>
          </a:p>
        </p:txBody>
      </p:sp>
      <p:sp>
        <p:nvSpPr>
          <p:cNvPr id="21" name="Row1"/>
          <p:cNvSpPr/>
          <p:nvPr/>
        </p:nvSpPr>
        <p:spPr>
          <a:xfrm>
            <a:off x="4572000" y="1954800"/>
            <a:ext cx="4298640" cy="274320"/>
          </a:xfrm>
          <a:prstGeom prst="rect">
            <a:avLst/>
          </a:prstGeom>
          <a:solidFill>
            <a:srgbClr val="E8F1FA"/>
          </a:solidFill>
          <a:ln>
            <a:solidFill>
              <a:srgbClr val="CBD5E1"/>
            </a:solidFill>
          </a:ln>
        </p:spPr>
        <p:txBody>
          <a:bodyPr wrap="square" lIns="91440" tIns="30480" rIns="91440" bIns="30480" rtlCol="0" anchor="ctr"/>
          <a:lstStyle/>
          <a:p>
            <a:pPr marL="0" indent="0">
              <a:buNone/>
            </a:pPr>
            <a:r>
              <a:rPr lang="es-ES" sz="800" dirty="0">
                <a:solidFill>
                  <a:srgbClr val="1E293B"/>
                </a:solidFill>
                <a:latin typeface="Calibri" pitchFamily="34" charset="0"/>
              </a:rPr>
              <a:t>tipo  (Hotel / Otro)</a:t>
            </a:r>
            <a:r>
              <a:rPr lang="es-ES" sz="800" dirty="0">
                <a:solidFill>
                  <a:srgbClr val="64748B"/>
                </a:solidFill>
                <a:latin typeface="Calibri" pitchFamily="34" charset="0"/>
              </a:rPr>
              <a:t>  → </a:t>
            </a:r>
            <a:r>
              <a:rPr lang="es-ES" sz="800" b="1" dirty="0">
                <a:solidFill>
                  <a:srgbClr val="1B5E20"/>
                </a:solidFill>
                <a:latin typeface="Calibri" pitchFamily="34" charset="0"/>
              </a:rPr>
              <a:t>  tipo_Otro  (0/1)</a:t>
            </a:r>
            <a:r>
              <a:rPr lang="es-ES" sz="780" dirty="0">
                <a:solidFill>
                  <a:srgbClr val="64748B"/>
                </a:solidFill>
                <a:latin typeface="Calibri" pitchFamily="34" charset="0"/>
              </a:rPr>
              <a:t>   [OHE]</a:t>
            </a:r>
          </a:p>
        </p:txBody>
      </p:sp>
      <p:sp>
        <p:nvSpPr>
          <p:cNvPr id="22" name="Row2"/>
          <p:cNvSpPr/>
          <p:nvPr/>
        </p:nvSpPr>
        <p:spPr>
          <a:xfrm>
            <a:off x="4572000" y="2229120"/>
            <a:ext cx="4298640" cy="27432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91440" tIns="30480" rIns="91440" bIns="30480" rtlCol="0" anchor="ctr"/>
          <a:lstStyle/>
          <a:p>
            <a:pPr marL="0" indent="0">
              <a:buNone/>
            </a:pPr>
            <a:r>
              <a:rPr lang="es-ES" sz="800" dirty="0">
                <a:solidFill>
                  <a:srgbClr val="1E293B"/>
                </a:solidFill>
                <a:latin typeface="Calibri" pitchFamily="34" charset="0"/>
              </a:rPr>
              <a:t>localidad  (~500 valores)</a:t>
            </a:r>
            <a:r>
              <a:rPr lang="es-ES" sz="800" dirty="0">
                <a:solidFill>
                  <a:srgbClr val="64748B"/>
                </a:solidFill>
                <a:latin typeface="Calibri" pitchFamily="34" charset="0"/>
              </a:rPr>
              <a:t>  → </a:t>
            </a:r>
            <a:r>
              <a:rPr lang="es-ES" sz="800" b="1" dirty="0">
                <a:solidFill>
                  <a:srgbClr val="4A1A6B"/>
                </a:solidFill>
                <a:latin typeface="Calibri" pitchFamily="34" charset="0"/>
              </a:rPr>
              <a:t>  entero 0..N</a:t>
            </a:r>
            <a:r>
              <a:rPr lang="es-ES" sz="780" dirty="0">
                <a:solidFill>
                  <a:srgbClr val="64748B"/>
                </a:solidFill>
                <a:latin typeface="Calibri" pitchFamily="34" charset="0"/>
              </a:rPr>
              <a:t>   [Label Enc.]</a:t>
            </a:r>
          </a:p>
        </p:txBody>
      </p:sp>
      <p:sp>
        <p:nvSpPr>
          <p:cNvPr id="23" name="Row3"/>
          <p:cNvSpPr/>
          <p:nvPr/>
        </p:nvSpPr>
        <p:spPr>
          <a:xfrm>
            <a:off x="4572000" y="2503440"/>
            <a:ext cx="4298640" cy="274320"/>
          </a:xfrm>
          <a:prstGeom prst="rect">
            <a:avLst/>
          </a:prstGeom>
          <a:solidFill>
            <a:srgbClr val="E8F1FA"/>
          </a:solidFill>
          <a:ln>
            <a:solidFill>
              <a:srgbClr val="CBD5E1"/>
            </a:solidFill>
          </a:ln>
        </p:spPr>
        <p:txBody>
          <a:bodyPr wrap="square" lIns="91440" tIns="30480" rIns="91440" bIns="30480" rtlCol="0" anchor="ctr"/>
          <a:lstStyle/>
          <a:p>
            <a:pPr marL="0" indent="0">
              <a:buNone/>
            </a:pPr>
            <a:r>
              <a:rPr lang="es-ES" sz="800" dirty="0">
                <a:solidFill>
                  <a:srgbClr val="1E293B"/>
                </a:solidFill>
                <a:latin typeface="Calibri" pitchFamily="34" charset="0"/>
              </a:rPr>
              <a:t>provincia  (8 valores)</a:t>
            </a:r>
            <a:r>
              <a:rPr lang="es-ES" sz="800" dirty="0">
                <a:solidFill>
                  <a:srgbClr val="64748B"/>
                </a:solidFill>
                <a:latin typeface="Calibri" pitchFamily="34" charset="0"/>
              </a:rPr>
              <a:t>  → </a:t>
            </a:r>
            <a:r>
              <a:rPr lang="es-ES" sz="800" b="1" dirty="0">
                <a:solidFill>
                  <a:srgbClr val="4A1A6B"/>
                </a:solidFill>
                <a:latin typeface="Calibri" pitchFamily="34" charset="0"/>
              </a:rPr>
              <a:t>  entero 0..7</a:t>
            </a:r>
            <a:r>
              <a:rPr lang="es-ES" sz="780" dirty="0">
                <a:solidFill>
                  <a:srgbClr val="64748B"/>
                </a:solidFill>
                <a:latin typeface="Calibri" pitchFamily="34" charset="0"/>
              </a:rPr>
              <a:t>   [Label Enc.]</a:t>
            </a:r>
          </a:p>
        </p:txBody>
      </p:sp>
      <p:sp>
        <p:nvSpPr>
          <p:cNvPr id="24" name="Row4"/>
          <p:cNvSpPr/>
          <p:nvPr/>
        </p:nvSpPr>
        <p:spPr>
          <a:xfrm>
            <a:off x="4572000" y="2777760"/>
            <a:ext cx="4298640" cy="27432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91440" tIns="30480" rIns="91440" bIns="30480" rtlCol="0" anchor="ctr"/>
          <a:lstStyle/>
          <a:p>
            <a:pPr marL="0" indent="0">
              <a:buNone/>
            </a:pPr>
            <a:r>
              <a:rPr lang="es-ES" sz="800" dirty="0" err="1">
                <a:solidFill>
                  <a:srgbClr val="1E293B"/>
                </a:solidFill>
                <a:latin typeface="Calibri" pitchFamily="34" charset="0"/>
              </a:rPr>
              <a:t>fecha_disponible</a:t>
            </a:r>
            <a:r>
              <a:rPr lang="es-ES" sz="800" dirty="0">
                <a:solidFill>
                  <a:srgbClr val="64748B"/>
                </a:solidFill>
                <a:latin typeface="Calibri" pitchFamily="34" charset="0"/>
              </a:rPr>
              <a:t>  →  </a:t>
            </a:r>
            <a:r>
              <a:rPr lang="es-ES" sz="800" b="1" dirty="0">
                <a:solidFill>
                  <a:srgbClr val="7B341E"/>
                </a:solidFill>
                <a:latin typeface="Calibri" pitchFamily="34" charset="0"/>
              </a:rPr>
              <a:t> mes_disponible + dia_disponible</a:t>
            </a:r>
            <a:r>
              <a:rPr lang="es-ES" sz="780" dirty="0">
                <a:solidFill>
                  <a:srgbClr val="64748B"/>
                </a:solidFill>
                <a:latin typeface="Calibri" pitchFamily="34" charset="0"/>
              </a:rPr>
              <a:t>   [Descomp.]</a:t>
            </a:r>
          </a:p>
        </p:txBody>
      </p:sp>
      <p:sp>
        <p:nvSpPr>
          <p:cNvPr id="25" name="Row5"/>
          <p:cNvSpPr/>
          <p:nvPr/>
        </p:nvSpPr>
        <p:spPr>
          <a:xfrm>
            <a:off x="4572000" y="3052080"/>
            <a:ext cx="4298640" cy="502920"/>
          </a:xfrm>
          <a:prstGeom prst="rect">
            <a:avLst/>
          </a:prstGeom>
          <a:solidFill>
            <a:srgbClr val="E8F1FA"/>
          </a:solidFill>
          <a:ln>
            <a:solidFill>
              <a:srgbClr val="CBD5E1"/>
            </a:solidFill>
          </a:ln>
        </p:spPr>
        <p:txBody>
          <a:bodyPr wrap="square" lIns="91440" tIns="30480" rIns="91440" bIns="30480" rtlCol="0" anchor="ctr"/>
          <a:lstStyle/>
          <a:p>
            <a:pPr marL="0" indent="0">
              <a:buNone/>
            </a:pPr>
            <a:r>
              <a:rPr lang="es-ES" sz="800" dirty="0">
                <a:solidFill>
                  <a:srgbClr val="1E293B"/>
                </a:solidFill>
                <a:latin typeface="Calibri" pitchFamily="34" charset="0"/>
              </a:rPr>
              <a:t>estrellas, n_valoraciones,
tamaño_habitacion, precio...</a:t>
            </a:r>
            <a:r>
              <a:rPr lang="es-ES" sz="800" dirty="0">
                <a:solidFill>
                  <a:srgbClr val="64748B"/>
                </a:solidFill>
                <a:latin typeface="Calibri" pitchFamily="34" charset="0"/>
              </a:rPr>
              <a:t>  →  </a:t>
            </a:r>
            <a:r>
              <a:rPr lang="es-ES" sz="800" b="1" dirty="0">
                <a:solidFill>
                  <a:srgbClr val="1A4A8C"/>
                </a:solidFill>
                <a:latin typeface="Calibri" pitchFamily="34" charset="0"/>
              </a:rPr>
              <a:t>→  ya numéricas (int8/32)</a:t>
            </a:r>
            <a:r>
              <a:rPr lang="es-ES" sz="780" dirty="0">
                <a:solidFill>
                  <a:srgbClr val="64748B"/>
                </a:solidFill>
                <a:latin typeface="Calibri" pitchFamily="34" charset="0"/>
              </a:rPr>
              <a:t>   [Nativa]</a:t>
            </a:r>
          </a:p>
        </p:txBody>
      </p:sp>
      <p:sp>
        <p:nvSpPr>
          <p:cNvPr id="30" name="LblPers"/>
          <p:cNvSpPr/>
          <p:nvPr/>
        </p:nvSpPr>
        <p:spPr>
          <a:xfrm>
            <a:off x="4572000" y="3795840"/>
            <a:ext cx="4298640" cy="228600"/>
          </a:xfrm>
          <a:prstGeom prst="rect">
            <a:avLst/>
          </a:prstGeom>
          <a:solidFill>
            <a:srgbClr val="1F5C40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50" b="1" dirty="0">
                <a:solidFill>
                  <a:srgbClr val="D4A843"/>
                </a:solidFill>
                <a:latin typeface="Calibri" pitchFamily="34" charset="0"/>
              </a:rPr>
              <a:t>💾  Persistencia con joblib (reproducibilidad en producción)</a:t>
            </a:r>
          </a:p>
        </p:txBody>
      </p:sp>
      <p:sp>
        <p:nvSpPr>
          <p:cNvPr id="31" name="CardPers"/>
          <p:cNvSpPr/>
          <p:nvPr/>
        </p:nvSpPr>
        <p:spPr>
          <a:xfrm>
            <a:off x="4572000" y="4024439"/>
            <a:ext cx="4298640" cy="854635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91440" rIns="114300" bIns="91440" rtlCol="0" anchor="t"/>
          <a:lstStyle/>
          <a:p>
            <a:pPr marL="0" indent="0">
              <a:buNone/>
            </a:pPr>
            <a:r>
              <a:rPr lang="es-ES" sz="800" dirty="0">
                <a:solidFill>
                  <a:srgbClr val="1E293B"/>
                </a:solidFill>
                <a:latin typeface="Calibri" pitchFamily="34" charset="0"/>
              </a:rPr>
              <a:t>Los encoders y la lista de columnas se guardan para replicar exactamente el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1E293B"/>
                </a:solidFill>
                <a:latin typeface="Calibri" pitchFamily="34" charset="0"/>
              </a:rPr>
              <a:t>encoding en producción (app Streamlit) con los mismos índices:</a:t>
            </a:r>
          </a:p>
          <a:p>
            <a:pPr marL="0" indent="0">
              <a:buNone/>
            </a:pPr>
            <a:r>
              <a:rPr lang="es-ES" sz="8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1A2E4A"/>
                </a:solidFill>
                <a:latin typeface="Consolas" pitchFamily="34" charset="0"/>
              </a:rPr>
              <a:t>joblib.dump(le_localidad,  models_dir / </a:t>
            </a:r>
            <a:r>
              <a:rPr lang="es-ES" sz="800" dirty="0">
                <a:solidFill>
                  <a:srgbClr val="D4A843"/>
                </a:solidFill>
                <a:latin typeface="Consolas" pitchFamily="34" charset="0"/>
              </a:rPr>
              <a:t>'le_localidad.pkl')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1A2E4A"/>
                </a:solidFill>
                <a:latin typeface="Consolas" pitchFamily="34" charset="0"/>
              </a:rPr>
              <a:t>joblib.dump(le_provincia,  models_dir / </a:t>
            </a:r>
            <a:r>
              <a:rPr lang="es-ES" sz="800" dirty="0">
                <a:solidFill>
                  <a:srgbClr val="D4A843"/>
                </a:solidFill>
                <a:latin typeface="Consolas" pitchFamily="34" charset="0"/>
              </a:rPr>
              <a:t>'le_provincia.pkl')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1A2E4A"/>
                </a:solidFill>
                <a:latin typeface="Consolas" pitchFamily="34" charset="0"/>
              </a:rPr>
              <a:t>joblib.dump(columnas_modelo, models_dir / </a:t>
            </a:r>
            <a:r>
              <a:rPr lang="es-ES" sz="800" dirty="0">
                <a:solidFill>
                  <a:srgbClr val="D4A843"/>
                </a:solidFill>
                <a:latin typeface="Consolas" pitchFamily="34" charset="0"/>
              </a:rPr>
              <a:t>'columnas_modelo.pkl')</a:t>
            </a:r>
          </a:p>
        </p:txBody>
      </p:sp>
      <p:sp>
        <p:nvSpPr>
          <p:cNvPr id="97" name="Footer"/>
          <p:cNvSpPr/>
          <p:nvPr/>
        </p:nvSpPr>
        <p:spPr>
          <a:xfrm>
            <a:off x="457200" y="4826520"/>
            <a:ext cx="7772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800" dirty="0">
                <a:solidFill>
                  <a:srgbClr val="64748B"/>
                </a:solidFill>
                <a:latin typeface="Calibri" pitchFamily="34" charset="0"/>
              </a:rPr>
              <a:t>TFG · Detector de Chollos en Andalucía · Mario Jiménez · Universidad de Sevilla</a:t>
            </a:r>
          </a:p>
        </p:txBody>
      </p:sp>
      <p:sp>
        <p:nvSpPr>
          <p:cNvPr id="98" name="PageNum"/>
          <p:cNvSpPr/>
          <p:nvPr/>
        </p:nvSpPr>
        <p:spPr>
          <a:xfrm>
            <a:off x="8686680" y="4879074"/>
            <a:ext cx="36576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s-ES" sz="900" dirty="0">
              <a:solidFill>
                <a:srgbClr val="64748B"/>
              </a:solidFill>
              <a:latin typeface="Calibri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ld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itle"/>
          <p:cNvSpPr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400" b="1" dirty="0">
                <a:solidFill>
                  <a:srgbClr val="FFFFFF"/>
                </a:solidFill>
                <a:latin typeface="Calibri" pitchFamily="34" charset="0"/>
              </a:rPr>
              <a:t>Eficiencia del almacenamiento · RAW vs Procesado</a:t>
            </a:r>
          </a:p>
        </p:txBody>
      </p:sp>
      <p:sp>
        <p:nvSpPr>
          <p:cNvPr id="4" name="Sub"/>
          <p:cNvSpPr/>
          <p:nvPr/>
        </p:nvSpPr>
        <p:spPr>
          <a:xfrm>
            <a:off x="457200" y="603504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000" dirty="0">
                <a:solidFill>
                  <a:srgbClr val="F0C060"/>
                </a:solidFill>
                <a:latin typeface="Calibri" pitchFamily="34" charset="0"/>
              </a:rPr>
              <a:t>CSV raw (por provincia)  ·  Parquet procesado (8 provincias + todas las fechas)</a:t>
            </a:r>
          </a:p>
        </p:txBody>
      </p:sp>
      <p:sp>
        <p:nvSpPr>
          <p:cNvPr id="5" name="LblRaw"/>
          <p:cNvSpPr/>
          <p:nvPr/>
        </p:nvSpPr>
        <p:spPr>
          <a:xfrm>
            <a:off x="6900864" y="809657"/>
            <a:ext cx="1882180" cy="511651"/>
          </a:xfrm>
          <a:prstGeom prst="rect">
            <a:avLst/>
          </a:prstGeom>
          <a:solidFill>
            <a:srgbClr val="5C1A1A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50" b="1" dirty="0">
                <a:solidFill>
                  <a:srgbClr val="F0C060"/>
                </a:solidFill>
                <a:latin typeface="Calibri" pitchFamily="34" charset="0"/>
              </a:rPr>
              <a:t>📄  RAW — resultados_booking_Málaga.csv  (1 provincia)</a:t>
            </a:r>
          </a:p>
        </p:txBody>
      </p:sp>
      <p:sp>
        <p:nvSpPr>
          <p:cNvPr id="6" name="RawStats"/>
          <p:cNvSpPr/>
          <p:nvPr/>
        </p:nvSpPr>
        <p:spPr>
          <a:xfrm>
            <a:off x="6902786" y="1332018"/>
            <a:ext cx="1880258" cy="492704"/>
          </a:xfrm>
          <a:prstGeom prst="rect">
            <a:avLst/>
          </a:prstGeom>
          <a:solidFill>
            <a:srgbClr val="2A5080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880" b="1" dirty="0">
                <a:solidFill>
                  <a:srgbClr val="FFFFFF"/>
                </a:solidFill>
                <a:latin typeface="Calibri" pitchFamily="34" charset="0"/>
              </a:rPr>
              <a:t>8.871 registros</a:t>
            </a:r>
            <a:r>
              <a:rPr lang="es-ES" sz="880" dirty="0">
                <a:solidFill>
                  <a:srgbClr val="CBD5E1"/>
                </a:solidFill>
                <a:latin typeface="Calibri" pitchFamily="34" charset="0"/>
              </a:rPr>
              <a:t>  ·  25 columnas  ·  </a:t>
            </a:r>
            <a:r>
              <a:rPr lang="es-ES" sz="880" b="1" dirty="0">
                <a:solidFill>
                  <a:srgbClr val="F0C060"/>
                </a:solidFill>
                <a:latin typeface="Calibri" pitchFamily="34" charset="0"/>
              </a:rPr>
              <a:t>279,7 MB</a:t>
            </a:r>
            <a:r>
              <a:rPr lang="es-ES" sz="880" dirty="0">
                <a:solidFill>
                  <a:srgbClr val="CBD5E1"/>
                </a:solidFill>
                <a:latin typeface="Calibri" pitchFamily="34" charset="0"/>
              </a:rPr>
              <a:t>  en disco</a:t>
            </a:r>
          </a:p>
        </p:txBody>
      </p:sp>
      <p:pic>
        <p:nvPicPr>
          <p:cNvPr id="7" name="TablaRaw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820367"/>
            <a:ext cx="6716063" cy="1360440"/>
          </a:xfrm>
          <a:prstGeom prst="rect">
            <a:avLst/>
          </a:prstGeom>
          <a:noFill/>
          <a:ln/>
        </p:spPr>
      </p:pic>
      <p:sp>
        <p:nvSpPr>
          <p:cNvPr id="8" name="LblProc"/>
          <p:cNvSpPr/>
          <p:nvPr/>
        </p:nvSpPr>
        <p:spPr>
          <a:xfrm>
            <a:off x="6900864" y="2237824"/>
            <a:ext cx="1879297" cy="492704"/>
          </a:xfrm>
          <a:prstGeom prst="rect">
            <a:avLst/>
          </a:prstGeom>
          <a:solidFill>
            <a:srgbClr val="1F5C40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50" b="1" dirty="0">
                <a:solidFill>
                  <a:srgbClr val="F0C060"/>
                </a:solidFill>
                <a:latin typeface="Calibri" pitchFamily="34" charset="0"/>
              </a:rPr>
              <a:t>🧱  PROCESSED — db_final_analisis.parquet  (8 provincias)</a:t>
            </a:r>
          </a:p>
        </p:txBody>
      </p:sp>
      <p:sp>
        <p:nvSpPr>
          <p:cNvPr id="9" name="ProcStats"/>
          <p:cNvSpPr/>
          <p:nvPr/>
        </p:nvSpPr>
        <p:spPr>
          <a:xfrm>
            <a:off x="6902786" y="2723160"/>
            <a:ext cx="1880258" cy="487428"/>
          </a:xfrm>
          <a:prstGeom prst="rect">
            <a:avLst/>
          </a:prstGeom>
          <a:solidFill>
            <a:srgbClr val="2A5080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880" b="1" dirty="0">
                <a:solidFill>
                  <a:srgbClr val="FFFFFF"/>
                </a:solidFill>
                <a:latin typeface="Calibri" pitchFamily="34" charset="0"/>
              </a:rPr>
              <a:t>2.766.237 registros</a:t>
            </a:r>
            <a:r>
              <a:rPr lang="es-ES" sz="880" dirty="0">
                <a:solidFill>
                  <a:srgbClr val="CBD5E1"/>
                </a:solidFill>
                <a:latin typeface="Calibri" pitchFamily="34" charset="0"/>
              </a:rPr>
              <a:t>  ·  33 columnas  ·  </a:t>
            </a:r>
            <a:r>
              <a:rPr lang="es-ES" sz="880" b="1" dirty="0">
                <a:solidFill>
                  <a:srgbClr val="16A34A"/>
                </a:solidFill>
                <a:latin typeface="Calibri" pitchFamily="34" charset="0"/>
              </a:rPr>
              <a:t>11,2 MB</a:t>
            </a:r>
            <a:r>
              <a:rPr lang="es-ES" sz="880" dirty="0">
                <a:solidFill>
                  <a:srgbClr val="CBD5E1"/>
                </a:solidFill>
                <a:latin typeface="Calibri" pitchFamily="34" charset="0"/>
              </a:rPr>
              <a:t>  en disco</a:t>
            </a:r>
          </a:p>
        </p:txBody>
      </p:sp>
      <p:pic>
        <p:nvPicPr>
          <p:cNvPr id="10" name="TablaProcesse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919" y="2237687"/>
            <a:ext cx="6717023" cy="1547929"/>
          </a:xfrm>
          <a:prstGeom prst="rect">
            <a:avLst/>
          </a:prstGeom>
          <a:noFill/>
          <a:ln/>
        </p:spPr>
      </p:pic>
      <p:sp>
        <p:nvSpPr>
          <p:cNvPr id="20" name="Callout0"/>
          <p:cNvSpPr/>
          <p:nvPr/>
        </p:nvSpPr>
        <p:spPr>
          <a:xfrm>
            <a:off x="184560" y="3831048"/>
            <a:ext cx="2743200" cy="426609"/>
          </a:xfrm>
          <a:prstGeom prst="rect">
            <a:avLst/>
          </a:prstGeom>
          <a:solidFill>
            <a:srgbClr val="1E3A5F"/>
          </a:solidFill>
          <a:ln>
            <a:solidFill>
              <a:srgbClr val="2A5080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2000" b="1" dirty="0">
                <a:solidFill>
                  <a:srgbClr val="D4A843"/>
                </a:solidFill>
                <a:latin typeface="Calibri" pitchFamily="34" charset="0"/>
              </a:rPr>
              <a:t>x312</a:t>
            </a:r>
          </a:p>
          <a:p>
            <a:pPr marL="0" indent="0">
              <a:buNone/>
            </a:pPr>
            <a:r>
              <a:rPr lang="es-ES" sz="880" dirty="0">
                <a:solidFill>
                  <a:srgbClr val="CBD5E1"/>
                </a:solidFill>
                <a:latin typeface="Calibri" pitchFamily="34" charset="0"/>
              </a:rPr>
              <a:t>más filas en el parquet</a:t>
            </a:r>
          </a:p>
        </p:txBody>
      </p:sp>
      <p:sp>
        <p:nvSpPr>
          <p:cNvPr id="21" name="Callout1"/>
          <p:cNvSpPr/>
          <p:nvPr/>
        </p:nvSpPr>
        <p:spPr>
          <a:xfrm>
            <a:off x="3109920" y="3831047"/>
            <a:ext cx="2743200" cy="426609"/>
          </a:xfrm>
          <a:prstGeom prst="rect">
            <a:avLst/>
          </a:prstGeom>
          <a:solidFill>
            <a:srgbClr val="1E3A5F"/>
          </a:solidFill>
          <a:ln>
            <a:solidFill>
              <a:srgbClr val="2A5080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2000" b="1" dirty="0">
                <a:solidFill>
                  <a:srgbClr val="16A34A"/>
                </a:solidFill>
                <a:latin typeface="Calibri" pitchFamily="34" charset="0"/>
              </a:rPr>
              <a:t>x25 menos</a:t>
            </a:r>
          </a:p>
          <a:p>
            <a:pPr marL="0" indent="0">
              <a:buNone/>
            </a:pPr>
            <a:r>
              <a:rPr lang="es-ES" sz="880" dirty="0">
                <a:solidFill>
                  <a:srgbClr val="CBD5E1"/>
                </a:solidFill>
                <a:latin typeface="Calibri" pitchFamily="34" charset="0"/>
              </a:rPr>
              <a:t>peso en disco</a:t>
            </a:r>
          </a:p>
        </p:txBody>
      </p:sp>
      <p:sp>
        <p:nvSpPr>
          <p:cNvPr id="22" name="Callout2"/>
          <p:cNvSpPr/>
          <p:nvPr/>
        </p:nvSpPr>
        <p:spPr>
          <a:xfrm>
            <a:off x="6128640" y="3831047"/>
            <a:ext cx="2743200" cy="428655"/>
          </a:xfrm>
          <a:prstGeom prst="rect">
            <a:avLst/>
          </a:prstGeom>
          <a:solidFill>
            <a:srgbClr val="1E3A5F"/>
          </a:solidFill>
          <a:ln>
            <a:solidFill>
              <a:srgbClr val="2A5080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2000" b="1" dirty="0">
                <a:solidFill>
                  <a:srgbClr val="2A7BDE"/>
                </a:solidFill>
                <a:latin typeface="Calibri" pitchFamily="34" charset="0"/>
              </a:rPr>
              <a:t>+8 col.</a:t>
            </a:r>
          </a:p>
          <a:p>
            <a:pPr marL="0" indent="0">
              <a:buNone/>
            </a:pPr>
            <a:r>
              <a:rPr lang="es-ES" sz="880" dirty="0">
                <a:solidFill>
                  <a:srgbClr val="CBD5E1"/>
                </a:solidFill>
                <a:latin typeface="Calibri" pitchFamily="34" charset="0"/>
              </a:rPr>
              <a:t>nuevas variables (features)</a:t>
            </a:r>
          </a:p>
        </p:txBody>
      </p:sp>
      <p:sp>
        <p:nvSpPr>
          <p:cNvPr id="23" name="Insight"/>
          <p:cNvSpPr/>
          <p:nvPr/>
        </p:nvSpPr>
        <p:spPr>
          <a:xfrm>
            <a:off x="184560" y="4316005"/>
            <a:ext cx="8777520" cy="514080"/>
          </a:xfrm>
          <a:prstGeom prst="rect">
            <a:avLst/>
          </a:prstGeom>
          <a:solidFill>
            <a:srgbClr val="1E3A5F"/>
          </a:solidFill>
          <a:ln>
            <a:solidFill>
              <a:srgbClr val="2A5080"/>
            </a:solidFill>
          </a:ln>
        </p:spPr>
        <p:txBody>
          <a:bodyPr wrap="square" lIns="182880" tIns="91440" rIns="182880" bIns="91440" rtlCol="0" anchor="ctr"/>
          <a:lstStyle/>
          <a:p>
            <a:pPr marL="0" indent="0">
              <a:buNone/>
            </a:pPr>
            <a:r>
              <a:rPr lang="es-ES" sz="1000" b="1" dirty="0">
                <a:solidFill>
                  <a:srgbClr val="D4A843"/>
                </a:solidFill>
                <a:latin typeface="Calibri" pitchFamily="34" charset="0"/>
              </a:rPr>
              <a:t>💡  Por qué es importante:</a:t>
            </a:r>
          </a:p>
          <a:p>
            <a:pPr marL="0" indent="0">
              <a:buNone/>
            </a:pPr>
            <a:r>
              <a:rPr lang="es-ES" sz="900" dirty="0">
                <a:solidFill>
                  <a:srgbClr val="F4F8FC"/>
                </a:solidFill>
                <a:latin typeface="Calibri" pitchFamily="34" charset="0"/>
              </a:rPr>
              <a:t>El parquet tiene 312× más filas que el CSV de Málaga (combina todas las provincias y fechas), pero pesa 25× menos. Esto ilustra la eficiencia del formato Parquet: compresión columnar, tipado óptimo (int8, float32, category) y la limpieza realizada durante el preprocesamiento.</a:t>
            </a:r>
          </a:p>
        </p:txBody>
      </p:sp>
      <p:sp>
        <p:nvSpPr>
          <p:cNvPr id="97" name="Footer"/>
          <p:cNvSpPr/>
          <p:nvPr/>
        </p:nvSpPr>
        <p:spPr>
          <a:xfrm>
            <a:off x="457200" y="4826520"/>
            <a:ext cx="7772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800" dirty="0">
                <a:solidFill>
                  <a:srgbClr val="4A6080"/>
                </a:solidFill>
                <a:latin typeface="Calibri" pitchFamily="34" charset="0"/>
              </a:rPr>
              <a:t>TFG · Detector de Chollos en Andalucía · Mario Jiménez · Universidad de Sevilla</a:t>
            </a:r>
          </a:p>
        </p:txBody>
      </p:sp>
      <p:sp>
        <p:nvSpPr>
          <p:cNvPr id="98" name="PageNum"/>
          <p:cNvSpPr/>
          <p:nvPr/>
        </p:nvSpPr>
        <p:spPr>
          <a:xfrm>
            <a:off x="8686800" y="4830085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s-ES" sz="900" dirty="0">
              <a:solidFill>
                <a:srgbClr val="4A6080"/>
              </a:solidFill>
              <a:latin typeface="Calibri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drBand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2E4A"/>
          </a:solidFill>
          <a:ln/>
        </p:spPr>
      </p:sp>
      <p:sp>
        <p:nvSpPr>
          <p:cNvPr id="3" name="Gold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itle"/>
          <p:cNvSpPr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400" b="1" dirty="0">
                <a:solidFill>
                  <a:srgbClr val="FFFFFF"/>
                </a:solidFill>
                <a:latin typeface="Calibri" pitchFamily="34" charset="0"/>
              </a:rPr>
              <a:t>ML Supervisado · transformaciones.py</a:t>
            </a:r>
          </a:p>
        </p:txBody>
      </p:sp>
      <p:sp>
        <p:nvSpPr>
          <p:cNvPr id="5" name="Sub"/>
          <p:cNvSpPr/>
          <p:nvPr/>
        </p:nvSpPr>
        <p:spPr>
          <a:xfrm>
            <a:off x="457200" y="603504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000" dirty="0">
                <a:solidFill>
                  <a:srgbClr val="F0C060"/>
                </a:solidFill>
                <a:latin typeface="Consolas" pitchFamily="34" charset="0"/>
              </a:rPr>
              <a:t>Modelizacion/transformaciones.py  ·  partición + estandarización  ·  módulo separado del entrenamiento</a:t>
            </a:r>
          </a:p>
        </p:txBody>
      </p:sp>
      <p:sp>
        <p:nvSpPr>
          <p:cNvPr id="6" name="LblPart"/>
          <p:cNvSpPr/>
          <p:nvPr/>
        </p:nvSpPr>
        <p:spPr>
          <a:xfrm>
            <a:off x="274320" y="948960"/>
            <a:ext cx="4115880" cy="228600"/>
          </a:xfrm>
          <a:prstGeom prst="rect">
            <a:avLst/>
          </a:prstGeom>
          <a:solidFill>
            <a:srgbClr val="1A2E4A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50" b="1" dirty="0">
                <a:solidFill>
                  <a:srgbClr val="D4A843"/>
                </a:solidFill>
                <a:latin typeface="Calibri" pitchFamily="34" charset="0"/>
              </a:rPr>
              <a:t>✂️  train_test_validation_particion()</a:t>
            </a:r>
          </a:p>
        </p:txBody>
      </p:sp>
      <p:sp>
        <p:nvSpPr>
          <p:cNvPr id="7" name="CardPart"/>
          <p:cNvSpPr/>
          <p:nvPr/>
        </p:nvSpPr>
        <p:spPr>
          <a:xfrm>
            <a:off x="274320" y="1177560"/>
            <a:ext cx="4115880" cy="135180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91440" rIns="114300" bIns="91440" rtlCol="0" anchor="t"/>
          <a:lstStyle/>
          <a:p>
            <a:pPr marL="0" indent="0">
              <a:buNone/>
            </a:pPr>
            <a:r>
              <a:rPr lang="es-ES" sz="880" dirty="0">
                <a:solidFill>
                  <a:srgbClr val="1E293B"/>
                </a:solidFill>
                <a:latin typeface="Calibri" pitchFamily="34" charset="0"/>
              </a:rPr>
              <a:t>Divide el dataset en 3 conjuntos con proporción 70 / 15 / 15:</a:t>
            </a:r>
          </a:p>
          <a:p>
            <a:pPr marL="0" indent="0">
              <a:buNone/>
            </a:pPr>
            <a:r>
              <a:rPr lang="es-ES" sz="7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850" b="1" dirty="0">
                <a:solidFill>
                  <a:srgbClr val="1A2E4A"/>
                </a:solidFill>
                <a:latin typeface="Calibri" pitchFamily="34" charset="0"/>
              </a:rPr>
              <a:t>Estrategia en 2 pasos:</a:t>
            </a:r>
          </a:p>
          <a:p>
            <a:pPr marL="0" indent="0">
              <a:buNone/>
            </a:pPr>
            <a:r>
              <a:rPr lang="es-ES" sz="840" dirty="0">
                <a:solidFill>
                  <a:srgbClr val="374151"/>
                </a:solidFill>
                <a:latin typeface="Calibri" pitchFamily="34" charset="0"/>
              </a:rPr>
              <a:t>1. Partición 70-30 → train y temporal</a:t>
            </a:r>
          </a:p>
          <a:p>
            <a:pPr marL="0" indent="0">
              <a:buNone/>
            </a:pPr>
            <a:r>
              <a:rPr lang="es-ES" sz="840" dirty="0">
                <a:solidFill>
                  <a:srgbClr val="374151"/>
                </a:solidFill>
                <a:latin typeface="Calibri" pitchFamily="34" charset="0"/>
              </a:rPr>
              <a:t>2. Partición 50-50 del temporal → val y test</a:t>
            </a:r>
          </a:p>
          <a:p>
            <a:pPr marL="0" indent="0">
              <a:buNone/>
            </a:pPr>
            <a:r>
              <a:rPr lang="es-ES" sz="7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830" dirty="0">
                <a:solidFill>
                  <a:srgbClr val="1A2E4A"/>
                </a:solidFill>
                <a:latin typeface="Consolas" pitchFamily="34" charset="0"/>
              </a:rPr>
              <a:t>X_train, X_temp, y_train, y_temp = train_test_split(</a:t>
            </a:r>
          </a:p>
          <a:p>
            <a:pPr marL="0" indent="0">
              <a:buNone/>
            </a:pPr>
            <a:r>
              <a:rPr lang="es-ES" sz="830" dirty="0">
                <a:solidFill>
                  <a:srgbClr val="1A2E4A"/>
                </a:solidFill>
                <a:latin typeface="Consolas" pitchFamily="34" charset="0"/>
              </a:rPr>
              <a:t>    features, target, train_size=0.7, random_state=42)</a:t>
            </a:r>
          </a:p>
          <a:p>
            <a:pPr marL="0" indent="0">
              <a:buNone/>
            </a:pPr>
            <a:r>
              <a:rPr lang="es-ES" sz="830" dirty="0">
                <a:solidFill>
                  <a:srgbClr val="1A2E4A"/>
                </a:solidFill>
                <a:latin typeface="Consolas" pitchFamily="34" charset="0"/>
              </a:rPr>
              <a:t>X_val, X_test, y_val, y_test = train_test_split(</a:t>
            </a:r>
          </a:p>
          <a:p>
            <a:pPr marL="0" indent="0">
              <a:buNone/>
            </a:pPr>
            <a:r>
              <a:rPr lang="es-ES" sz="830" dirty="0">
                <a:solidFill>
                  <a:srgbClr val="1A2E4A"/>
                </a:solidFill>
                <a:latin typeface="Consolas" pitchFamily="34" charset="0"/>
              </a:rPr>
              <a:t>    X_temp, y_temp, train_size=0.5, random_state=42)</a:t>
            </a:r>
          </a:p>
        </p:txBody>
      </p:sp>
      <p:sp>
        <p:nvSpPr>
          <p:cNvPr id="8" name="LblEst"/>
          <p:cNvSpPr/>
          <p:nvPr/>
        </p:nvSpPr>
        <p:spPr>
          <a:xfrm>
            <a:off x="274320" y="2568719"/>
            <a:ext cx="4115880" cy="228600"/>
          </a:xfrm>
          <a:prstGeom prst="rect">
            <a:avLst/>
          </a:prstGeom>
          <a:solidFill>
            <a:srgbClr val="1B5E20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50" b="1" dirty="0">
                <a:solidFill>
                  <a:srgbClr val="D4A843"/>
                </a:solidFill>
                <a:latin typeface="Calibri" pitchFamily="34" charset="0"/>
              </a:rPr>
              <a:t>📏  estandarizar_datos()  —  solo para Regresión Lineal</a:t>
            </a:r>
          </a:p>
        </p:txBody>
      </p:sp>
      <p:sp>
        <p:nvSpPr>
          <p:cNvPr id="9" name="CardEst"/>
          <p:cNvSpPr/>
          <p:nvPr/>
        </p:nvSpPr>
        <p:spPr>
          <a:xfrm>
            <a:off x="274320" y="2797319"/>
            <a:ext cx="4115880" cy="202320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91440" rIns="114300" bIns="91440" rtlCol="0" anchor="t"/>
          <a:lstStyle/>
          <a:p>
            <a:pPr marL="0" indent="0">
              <a:buNone/>
            </a:pPr>
            <a:r>
              <a:rPr lang="es-ES" sz="880" dirty="0">
                <a:solidFill>
                  <a:srgbClr val="1E293B"/>
                </a:solidFill>
                <a:latin typeface="Calibri" pitchFamily="34" charset="0"/>
              </a:rPr>
              <a:t>Aplica Z-score scaling: media = 0, desviación = 1.</a:t>
            </a:r>
          </a:p>
          <a:p>
            <a:pPr marL="0" indent="0">
              <a:buNone/>
            </a:pPr>
            <a:r>
              <a:rPr lang="es-ES" sz="880" b="1" dirty="0">
                <a:solidFill>
                  <a:srgbClr val="1A2E4A"/>
                </a:solidFill>
                <a:latin typeface="Consolas" pitchFamily="34" charset="0"/>
              </a:rPr>
              <a:t>Fórmula: z = (x − μ) / σ</a:t>
            </a:r>
          </a:p>
          <a:p>
            <a:pPr marL="0" indent="0">
              <a:buNone/>
            </a:pPr>
            <a:r>
              <a:rPr lang="es-ES" sz="7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850" b="1" dirty="0">
                <a:solidFill>
                  <a:srgbClr val="DC2626"/>
                </a:solidFill>
                <a:latin typeface="Calibri" pitchFamily="34" charset="0"/>
              </a:rPr>
              <a:t>⚠️  fit() solo sobre train:</a:t>
            </a:r>
          </a:p>
          <a:p>
            <a:pPr marL="0" indent="0">
              <a:buNone/>
            </a:pPr>
            <a:r>
              <a:rPr lang="es-ES" sz="840" dirty="0">
                <a:solidFill>
                  <a:srgbClr val="374151"/>
                </a:solidFill>
                <a:latin typeface="Calibri" pitchFamily="34" charset="0"/>
              </a:rPr>
              <a:t>El scaler aprende μ y σ en train. Val y test solo usan transform().</a:t>
            </a:r>
          </a:p>
          <a:p>
            <a:pPr marL="0" indent="0">
              <a:buNone/>
            </a:pPr>
            <a:r>
              <a:rPr lang="es-ES" sz="840" dirty="0">
                <a:solidFill>
                  <a:srgbClr val="374151"/>
                </a:solidFill>
                <a:latin typeface="Calibri" pitchFamily="34" charset="0"/>
              </a:rPr>
              <a:t>Evita filtrar información del futuro al modelo (data leakage).</a:t>
            </a:r>
          </a:p>
          <a:p>
            <a:pPr marL="0" indent="0">
              <a:buNone/>
            </a:pPr>
            <a:r>
              <a:rPr lang="es-ES" sz="7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830" dirty="0">
                <a:solidFill>
                  <a:srgbClr val="1A2E4A"/>
                </a:solidFill>
                <a:latin typeface="Consolas" pitchFamily="34" charset="0"/>
              </a:rPr>
              <a:t>scaler_X = StandardScaler()</a:t>
            </a:r>
          </a:p>
          <a:p>
            <a:pPr marL="0" indent="0">
              <a:buNone/>
            </a:pPr>
            <a:r>
              <a:rPr lang="es-ES" sz="830" dirty="0">
                <a:solidFill>
                  <a:srgbClr val="1A2E4A"/>
                </a:solidFill>
                <a:latin typeface="Consolas" pitchFamily="34" charset="0"/>
              </a:rPr>
              <a:t>X_train = scaler_X.fit_transform(X_train)</a:t>
            </a:r>
          </a:p>
          <a:p>
            <a:pPr marL="0" indent="0">
              <a:buNone/>
            </a:pPr>
            <a:r>
              <a:rPr lang="es-ES" sz="830" dirty="0">
                <a:solidFill>
                  <a:srgbClr val="1A2E4A"/>
                </a:solidFill>
                <a:latin typeface="Consolas" pitchFamily="34" charset="0"/>
              </a:rPr>
              <a:t>X_val   = scaler_X.transform(X_val)   # solo transforma</a:t>
            </a:r>
          </a:p>
          <a:p>
            <a:pPr marL="0" indent="0">
              <a:buNone/>
            </a:pPr>
            <a:r>
              <a:rPr lang="es-ES" sz="830" dirty="0">
                <a:solidFill>
                  <a:srgbClr val="1A2E4A"/>
                </a:solidFill>
                <a:latin typeface="Consolas" pitchFamily="34" charset="0"/>
              </a:rPr>
              <a:t>X_test  = scaler_X.transform(X_test)  # solo transforma</a:t>
            </a:r>
          </a:p>
          <a:p>
            <a:pPr marL="0" indent="0">
              <a:buNone/>
            </a:pPr>
            <a:r>
              <a:rPr lang="es-ES" sz="7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820" dirty="0">
                <a:solidFill>
                  <a:srgbClr val="64748B"/>
                </a:solidFill>
                <a:latin typeface="Consolas" pitchFamily="34" charset="0"/>
              </a:rPr>
              <a:t># Guardado si el mejor modelo es Regresión Lineal:</a:t>
            </a:r>
          </a:p>
          <a:p>
            <a:pPr marL="0" indent="0">
              <a:buNone/>
            </a:pPr>
            <a:r>
              <a:rPr lang="es-ES" sz="820" dirty="0">
                <a:solidFill>
                  <a:srgbClr val="1A2E4A"/>
                </a:solidFill>
                <a:latin typeface="Consolas" pitchFamily="34" charset="0"/>
              </a:rPr>
              <a:t>joblib.dump(scaler_X, 'scaler_X_regresion.pkl')</a:t>
            </a:r>
          </a:p>
          <a:p>
            <a:pPr marL="0" indent="0">
              <a:buNone/>
            </a:pPr>
            <a:r>
              <a:rPr lang="es-ES" sz="820" dirty="0">
                <a:solidFill>
                  <a:srgbClr val="1A2E4A"/>
                </a:solidFill>
                <a:latin typeface="Consolas" pitchFamily="34" charset="0"/>
              </a:rPr>
              <a:t>joblib.dump(scaler_y, 'scaler_y_regresion.pkl')</a:t>
            </a:r>
          </a:p>
        </p:txBody>
      </p:sp>
      <p:sp>
        <p:nvSpPr>
          <p:cNvPr id="10" name="LblDiag"/>
          <p:cNvSpPr/>
          <p:nvPr/>
        </p:nvSpPr>
        <p:spPr>
          <a:xfrm>
            <a:off x="4480920" y="948960"/>
            <a:ext cx="4390920" cy="228600"/>
          </a:xfrm>
          <a:prstGeom prst="rect">
            <a:avLst/>
          </a:prstGeom>
          <a:solidFill>
            <a:srgbClr val="1A2E4A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50" b="1" dirty="0">
                <a:solidFill>
                  <a:srgbClr val="D4A843"/>
                </a:solidFill>
                <a:latin typeface="Calibri" pitchFamily="34" charset="0"/>
              </a:rPr>
              <a:t>📊  Diagrama de partición 70 / 15 / 15</a:t>
            </a:r>
          </a:p>
        </p:txBody>
      </p:sp>
      <p:sp>
        <p:nvSpPr>
          <p:cNvPr id="20" name="Block0"/>
          <p:cNvSpPr/>
          <p:nvPr/>
        </p:nvSpPr>
        <p:spPr>
          <a:xfrm>
            <a:off x="4480920" y="1177559"/>
            <a:ext cx="1371600" cy="983159"/>
          </a:xfrm>
          <a:prstGeom prst="rect">
            <a:avLst/>
          </a:prstGeom>
          <a:solidFill>
            <a:srgbClr val="2A5080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1000" b="1" dirty="0" err="1">
                <a:solidFill>
                  <a:srgbClr val="D4A843"/>
                </a:solidFill>
                <a:latin typeface="Calibri" pitchFamily="34" charset="0"/>
              </a:rPr>
              <a:t>X_train</a:t>
            </a:r>
            <a:r>
              <a:rPr lang="es-ES" sz="1000" b="1" dirty="0">
                <a:solidFill>
                  <a:srgbClr val="D4A843"/>
                </a:solidFill>
                <a:latin typeface="Calibri" pitchFamily="34" charset="0"/>
              </a:rPr>
              <a:t>: 70%</a:t>
            </a:r>
          </a:p>
          <a:p>
            <a:pPr marL="0" indent="0">
              <a:buNone/>
            </a:pPr>
            <a:r>
              <a:rPr lang="es-ES" sz="7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F4F8FC"/>
                </a:solidFill>
                <a:latin typeface="Calibri" pitchFamily="34" charset="0"/>
              </a:rPr>
              <a:t>GridSearchCV
+ K-Fold cv=3
Ajuste hiperparáms</a:t>
            </a:r>
          </a:p>
          <a:p>
            <a:pPr marL="0" indent="0">
              <a:buNone/>
            </a:pPr>
            <a:r>
              <a:rPr lang="es-ES" sz="7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750" b="1" dirty="0">
                <a:solidFill>
                  <a:srgbClr val="F0C060"/>
                </a:solidFill>
                <a:latin typeface="Calibri" pitchFamily="34" charset="0"/>
              </a:rPr>
              <a:t>→ Ajusta y entrena</a:t>
            </a:r>
          </a:p>
        </p:txBody>
      </p:sp>
      <p:sp>
        <p:nvSpPr>
          <p:cNvPr id="21" name="Block1"/>
          <p:cNvSpPr/>
          <p:nvPr/>
        </p:nvSpPr>
        <p:spPr>
          <a:xfrm>
            <a:off x="5943960" y="1177560"/>
            <a:ext cx="1371600" cy="983158"/>
          </a:xfrm>
          <a:prstGeom prst="rect">
            <a:avLst/>
          </a:prstGeom>
          <a:solidFill>
            <a:srgbClr val="1F5C40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1000" b="1" dirty="0" err="1">
                <a:solidFill>
                  <a:srgbClr val="D4A843"/>
                </a:solidFill>
                <a:latin typeface="Calibri" pitchFamily="34" charset="0"/>
              </a:rPr>
              <a:t>X_val</a:t>
            </a:r>
            <a:r>
              <a:rPr lang="es-ES" sz="1000" b="1" dirty="0">
                <a:solidFill>
                  <a:srgbClr val="D4A843"/>
                </a:solidFill>
                <a:latin typeface="Calibri" pitchFamily="34" charset="0"/>
              </a:rPr>
              <a:t>: 15%</a:t>
            </a:r>
          </a:p>
          <a:p>
            <a:pPr marL="0" indent="0">
              <a:buNone/>
            </a:pPr>
            <a:r>
              <a:rPr lang="es-ES" sz="7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F4F8FC"/>
                </a:solidFill>
                <a:latin typeface="Calibri" pitchFamily="34" charset="0"/>
              </a:rPr>
              <a:t>Comparación
modelos
→ selección</a:t>
            </a:r>
          </a:p>
          <a:p>
            <a:pPr marL="0" indent="0">
              <a:buNone/>
            </a:pPr>
            <a:r>
              <a:rPr lang="es-ES" sz="7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750" b="1" dirty="0">
                <a:solidFill>
                  <a:srgbClr val="F0C060"/>
                </a:solidFill>
                <a:latin typeface="Calibri" pitchFamily="34" charset="0"/>
              </a:rPr>
              <a:t>→ Tomas decisiones</a:t>
            </a:r>
          </a:p>
        </p:txBody>
      </p:sp>
      <p:sp>
        <p:nvSpPr>
          <p:cNvPr id="22" name="Block2"/>
          <p:cNvSpPr/>
          <p:nvPr/>
        </p:nvSpPr>
        <p:spPr>
          <a:xfrm>
            <a:off x="7407000" y="1177560"/>
            <a:ext cx="1371600" cy="975852"/>
          </a:xfrm>
          <a:prstGeom prst="rect">
            <a:avLst/>
          </a:prstGeom>
          <a:solidFill>
            <a:srgbClr val="5C1A1A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1000" b="1" dirty="0" err="1">
                <a:solidFill>
                  <a:srgbClr val="D4A843"/>
                </a:solidFill>
                <a:latin typeface="Calibri" pitchFamily="34" charset="0"/>
              </a:rPr>
              <a:t>X_test</a:t>
            </a:r>
            <a:r>
              <a:rPr lang="es-ES" sz="1000" b="1" dirty="0">
                <a:solidFill>
                  <a:srgbClr val="D4A843"/>
                </a:solidFill>
                <a:latin typeface="Calibri" pitchFamily="34" charset="0"/>
              </a:rPr>
              <a:t>: 15%</a:t>
            </a:r>
          </a:p>
          <a:p>
            <a:pPr marL="0" indent="0">
              <a:buNone/>
            </a:pPr>
            <a:r>
              <a:rPr lang="es-ES" sz="7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F4F8FC"/>
                </a:solidFill>
                <a:latin typeface="Calibri" pitchFamily="34" charset="0"/>
              </a:rPr>
              <a:t>Evaluación
final
(solo 1 vez)</a:t>
            </a:r>
          </a:p>
          <a:p>
            <a:pPr marL="0" indent="0">
              <a:buNone/>
            </a:pPr>
            <a:r>
              <a:rPr lang="es-ES" sz="7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750" b="1" dirty="0">
                <a:solidFill>
                  <a:srgbClr val="F0C060"/>
                </a:solidFill>
                <a:latin typeface="Calibri" pitchFamily="34" charset="0"/>
              </a:rPr>
              <a:t>→ No tomas decisiones</a:t>
            </a:r>
          </a:p>
        </p:txBody>
      </p:sp>
      <p:sp>
        <p:nvSpPr>
          <p:cNvPr id="23" name="LblWhy"/>
          <p:cNvSpPr/>
          <p:nvPr/>
        </p:nvSpPr>
        <p:spPr>
          <a:xfrm>
            <a:off x="4478760" y="2206079"/>
            <a:ext cx="4390920" cy="244783"/>
          </a:xfrm>
          <a:prstGeom prst="rect">
            <a:avLst/>
          </a:prstGeom>
          <a:solidFill>
            <a:srgbClr val="4A1A6B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50" b="1" dirty="0">
                <a:solidFill>
                  <a:srgbClr val="D4A843"/>
                </a:solidFill>
                <a:latin typeface="Calibri" pitchFamily="34" charset="0"/>
              </a:rPr>
              <a:t>💡  ¿Por qué módulo separado?</a:t>
            </a:r>
          </a:p>
        </p:txBody>
      </p:sp>
      <p:sp>
        <p:nvSpPr>
          <p:cNvPr id="24" name="CardWhy"/>
          <p:cNvSpPr/>
          <p:nvPr/>
        </p:nvSpPr>
        <p:spPr>
          <a:xfrm>
            <a:off x="4478760" y="2434680"/>
            <a:ext cx="4390920" cy="104004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91440" rIns="114300" bIns="91440" rtlCol="0" anchor="t"/>
          <a:lstStyle/>
          <a:p>
            <a:pPr marL="0" indent="0">
              <a:buNone/>
            </a:pPr>
            <a:r>
              <a:rPr lang="es-ES" sz="880" dirty="0">
                <a:solidFill>
                  <a:srgbClr val="1E293B"/>
                </a:solidFill>
                <a:latin typeface="Calibri" pitchFamily="34" charset="0"/>
              </a:rPr>
              <a:t>Separar transformaciones.py de Modelizacion.py permite:</a:t>
            </a:r>
          </a:p>
          <a:p>
            <a:pPr marL="0" indent="0">
              <a:buNone/>
            </a:pPr>
            <a:r>
              <a:rPr lang="es-ES" sz="7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840" dirty="0">
                <a:solidFill>
                  <a:srgbClr val="374151"/>
                </a:solidFill>
                <a:latin typeface="Calibri" pitchFamily="34" charset="0"/>
              </a:rPr>
              <a:t>✅  Reutilizar la partición en diferentes experimentos</a:t>
            </a:r>
          </a:p>
          <a:p>
            <a:pPr marL="0" indent="0">
              <a:buNone/>
            </a:pPr>
            <a:r>
              <a:rPr lang="es-ES" sz="840" dirty="0">
                <a:solidFill>
                  <a:srgbClr val="374151"/>
                </a:solidFill>
                <a:latin typeface="Calibri" pitchFamily="34" charset="0"/>
              </a:rPr>
              <a:t>✅  La app (_feature_engineering.py) importa solo</a:t>
            </a:r>
          </a:p>
          <a:p>
            <a:pPr marL="0" indent="0">
              <a:buNone/>
            </a:pPr>
            <a:r>
              <a:rPr lang="es-ES" sz="840" dirty="0">
                <a:solidFill>
                  <a:srgbClr val="374151"/>
                </a:solidFill>
                <a:latin typeface="Calibri" pitchFamily="34" charset="0"/>
              </a:rPr>
              <a:t>     las transformaciones sin cargar todo el pipeline ML</a:t>
            </a:r>
          </a:p>
          <a:p>
            <a:pPr marL="0" indent="0">
              <a:buNone/>
            </a:pPr>
            <a:r>
              <a:rPr lang="es-ES" sz="840" dirty="0">
                <a:solidFill>
                  <a:srgbClr val="374151"/>
                </a:solidFill>
                <a:latin typeface="Calibri" pitchFamily="34" charset="0"/>
              </a:rPr>
              <a:t>✅  Tests unitarios más fáciles de escribir</a:t>
            </a:r>
          </a:p>
          <a:p>
            <a:pPr marL="0" indent="0">
              <a:buNone/>
            </a:pPr>
            <a:r>
              <a:rPr lang="es-ES" sz="840" dirty="0">
                <a:solidFill>
                  <a:srgbClr val="374151"/>
                </a:solidFill>
                <a:latin typeface="Calibri" pitchFamily="34" charset="0"/>
              </a:rPr>
              <a:t>✅  Sigue el principio de responsabilidad única (SRP)</a:t>
            </a:r>
          </a:p>
        </p:txBody>
      </p:sp>
      <p:sp>
        <p:nvSpPr>
          <p:cNvPr id="25" name="LblImport"/>
          <p:cNvSpPr/>
          <p:nvPr/>
        </p:nvSpPr>
        <p:spPr>
          <a:xfrm>
            <a:off x="4480920" y="3520080"/>
            <a:ext cx="4390920" cy="228600"/>
          </a:xfrm>
          <a:prstGeom prst="rect">
            <a:avLst/>
          </a:prstGeom>
          <a:solidFill>
            <a:srgbClr val="1A5C5C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50" b="1" dirty="0">
                <a:solidFill>
                  <a:srgbClr val="D4A843"/>
                </a:solidFill>
                <a:latin typeface="Calibri" pitchFamily="34" charset="0"/>
              </a:rPr>
              <a:t>🔗  Uso en Modelizacion.py</a:t>
            </a:r>
          </a:p>
        </p:txBody>
      </p:sp>
      <p:sp>
        <p:nvSpPr>
          <p:cNvPr id="26" name="CardImport"/>
          <p:cNvSpPr/>
          <p:nvPr/>
        </p:nvSpPr>
        <p:spPr>
          <a:xfrm>
            <a:off x="4480920" y="3748680"/>
            <a:ext cx="4390920" cy="1077840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lIns="114300" tIns="91440" rIns="114300" bIns="91440" rtlCol="0" anchor="t"/>
          <a:lstStyle/>
          <a:p>
            <a:pPr marL="0" indent="0">
              <a:buNone/>
            </a:pPr>
            <a:r>
              <a:rPr lang="es-ES" sz="800" dirty="0">
                <a:solidFill>
                  <a:srgbClr val="E2E8F0"/>
                </a:solidFill>
                <a:latin typeface="Consolas" pitchFamily="34" charset="0"/>
              </a:rPr>
              <a:t>from TFG_Chollos.Modelizacion.transformaciones import (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F0C060"/>
                </a:solidFill>
                <a:latin typeface="Consolas" pitchFamily="34" charset="0"/>
              </a:rPr>
              <a:t>    train_test_validation_particion,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F0C060"/>
                </a:solidFill>
                <a:latin typeface="Consolas" pitchFamily="34" charset="0"/>
              </a:rPr>
              <a:t>    estandarizar_datos,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E2E8F0"/>
                </a:solidFill>
                <a:latin typeface="Consolas" pitchFamily="34" charset="0"/>
              </a:rPr>
              <a:t>)</a:t>
            </a:r>
          </a:p>
          <a:p>
            <a:pPr marL="0" indent="0">
              <a:buNone/>
            </a:pPr>
            <a:r>
              <a:rPr lang="es-ES" sz="700" dirty="0">
                <a:latin typeface="Consolas" pitchFamily="34" charset="0"/>
              </a:rPr>
              <a:t> 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64748B"/>
                </a:solidFill>
                <a:latin typeface="Consolas" pitchFamily="34" charset="0"/>
              </a:rPr>
              <a:t># Y en la app (_feature_engineering.py):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E2E8F0"/>
                </a:solidFill>
                <a:latin typeface="Consolas" pitchFamily="34" charset="0"/>
              </a:rPr>
              <a:t>from TFG_Chollos.Cleaning.preprocessing import (</a:t>
            </a:r>
          </a:p>
          <a:p>
            <a:pPr marL="0" indent="0">
              <a:buNone/>
            </a:pPr>
            <a:r>
              <a:rPr lang="es-ES" sz="780" dirty="0">
                <a:solidFill>
                  <a:srgbClr val="F0C060"/>
                </a:solidFill>
                <a:latin typeface="Consolas" pitchFamily="34" charset="0"/>
              </a:rPr>
              <a:t>    extraer_servicios_influyentes, añadir_distancia_centro)</a:t>
            </a:r>
          </a:p>
        </p:txBody>
      </p:sp>
      <p:sp>
        <p:nvSpPr>
          <p:cNvPr id="97" name="Footer"/>
          <p:cNvSpPr/>
          <p:nvPr/>
        </p:nvSpPr>
        <p:spPr>
          <a:xfrm>
            <a:off x="457200" y="4826520"/>
            <a:ext cx="7772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800" dirty="0">
                <a:solidFill>
                  <a:srgbClr val="64748B"/>
                </a:solidFill>
                <a:latin typeface="Calibri" pitchFamily="34" charset="0"/>
              </a:rPr>
              <a:t>TFG · Detector de Chollos en Andalucía · Mario Jiménez · Universidad de Sevilla</a:t>
            </a:r>
          </a:p>
        </p:txBody>
      </p:sp>
      <p:sp>
        <p:nvSpPr>
          <p:cNvPr id="98" name="PageNum"/>
          <p:cNvSpPr/>
          <p:nvPr/>
        </p:nvSpPr>
        <p:spPr>
          <a:xfrm>
            <a:off x="8688960" y="480517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s-ES" sz="900" dirty="0">
              <a:solidFill>
                <a:srgbClr val="64748B"/>
              </a:solidFill>
              <a:latin typeface="Calibri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4630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Supervisado · Regresión de Precio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603504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C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Modelizacion/Modelizacion.py  +  Modelizacion/transformaciones.py  →  predicción del precio justo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2651760" cy="777240"/>
          </a:xfrm>
          <a:prstGeom prst="rect">
            <a:avLst/>
          </a:prstGeom>
          <a:solidFill>
            <a:srgbClr val="2A508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9418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X_train (70%)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179576"/>
            <a:ext cx="2651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GridSearchCV + K-Fold cv=3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 hiperparámetros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mejor combinación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182112" y="914400"/>
            <a:ext cx="1828800" cy="777240"/>
          </a:xfrm>
          <a:prstGeom prst="rect">
            <a:avLst/>
          </a:prstGeom>
          <a:solidFill>
            <a:srgbClr val="1F5C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182112" y="94183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X_val (15%)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182112" y="117957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Comparación de modelos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selección del mejor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por R²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84064" y="914400"/>
            <a:ext cx="1828800" cy="777240"/>
          </a:xfrm>
          <a:prstGeom prst="rect">
            <a:avLst/>
          </a:prstGeom>
          <a:solidFill>
            <a:srgbClr val="5C1A1A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084064" y="94183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X_test (15%)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84064" y="117957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final única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R², MAE, RMSE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 se toca antes)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12064" y="3926666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fit_transform() solo en X_train · transform() en val/test → no data leakage · X_test usado una sola vez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1975104"/>
            <a:ext cx="6537960" cy="246888"/>
          </a:xfrm>
          <a:prstGeom prst="rect">
            <a:avLst/>
          </a:prstGeom>
          <a:solidFill>
            <a:srgbClr val="2A5080"/>
          </a:solidFill>
          <a:ln/>
        </p:spPr>
      </p:sp>
      <p:sp>
        <p:nvSpPr>
          <p:cNvPr id="16" name="Text 14"/>
          <p:cNvSpPr/>
          <p:nvPr/>
        </p:nvSpPr>
        <p:spPr>
          <a:xfrm>
            <a:off x="530352" y="1993392"/>
            <a:ext cx="1371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938528" y="1993392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Escalado requerido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712464" y="1993392"/>
            <a:ext cx="33375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Hiperparámetros GridSearch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221992"/>
            <a:ext cx="6537960" cy="2468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0" name="Text 18"/>
          <p:cNvSpPr/>
          <p:nvPr/>
        </p:nvSpPr>
        <p:spPr>
          <a:xfrm>
            <a:off x="530352" y="2240280"/>
            <a:ext cx="1371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 Lineal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938528" y="2240280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StandardScaler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3712464" y="2240280"/>
            <a:ext cx="3200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57200" y="2468880"/>
            <a:ext cx="6537960" cy="246888"/>
          </a:xfrm>
          <a:prstGeom prst="rect">
            <a:avLst/>
          </a:prstGeom>
          <a:solidFill>
            <a:srgbClr val="1A2E4A"/>
          </a:solidFill>
          <a:ln/>
        </p:spPr>
      </p:sp>
      <p:sp>
        <p:nvSpPr>
          <p:cNvPr id="24" name="Text 22"/>
          <p:cNvSpPr/>
          <p:nvPr/>
        </p:nvSpPr>
        <p:spPr>
          <a:xfrm>
            <a:off x="530352" y="2487168"/>
            <a:ext cx="1371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Árbol de Decisión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938528" y="2487168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escalar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712464" y="2487168"/>
            <a:ext cx="3200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max_depth [3,5,10,15]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57200" y="2715768"/>
            <a:ext cx="6537960" cy="4023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8" name="Text 26"/>
          <p:cNvSpPr/>
          <p:nvPr/>
        </p:nvSpPr>
        <p:spPr>
          <a:xfrm>
            <a:off x="530352" y="273405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938528" y="273405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escalar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712464" y="273405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n_estimators [50,100]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max_depth [10,20]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57200" y="3118104"/>
            <a:ext cx="6537960" cy="402336"/>
          </a:xfrm>
          <a:prstGeom prst="rect">
            <a:avLst/>
          </a:prstGeom>
          <a:solidFill>
            <a:srgbClr val="1A2E4A"/>
          </a:solidFill>
          <a:ln/>
        </p:spPr>
      </p:sp>
      <p:sp>
        <p:nvSpPr>
          <p:cNvPr id="32" name="Text 30"/>
          <p:cNvSpPr/>
          <p:nvPr/>
        </p:nvSpPr>
        <p:spPr>
          <a:xfrm>
            <a:off x="530352" y="31363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938528" y="313639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escalar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3712464" y="313639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n_est [100,300,500]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 [0.01,0.05,0.1]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max_depth [3,5]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7150608" y="713232"/>
            <a:ext cx="914400" cy="201168"/>
          </a:xfrm>
          <a:prstGeom prst="rect">
            <a:avLst/>
          </a:prstGeom>
          <a:solidFill>
            <a:srgbClr val="2A5080"/>
          </a:solidFill>
          <a:ln/>
        </p:spPr>
      </p:sp>
      <p:sp>
        <p:nvSpPr>
          <p:cNvPr id="49" name="Text 47"/>
          <p:cNvSpPr/>
          <p:nvPr/>
        </p:nvSpPr>
        <p:spPr>
          <a:xfrm>
            <a:off x="7205472" y="713232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0C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XGBoost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278624" y="987552"/>
            <a:ext cx="1280160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Ejemplo: XGBoost Regressor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boosting = XGBRegressor(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random_state=42,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n_jobs=-1,    # paralela interna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verbosity=0)  # silencia output propio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param_grid =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'n_estimators':  [100, 300, 500],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'learning_rate': [0.01, 0.05, 0.1],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'max_depth':     [3, 5],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grid = GridSearchCV(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estimator=boosting,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param_grid=param_grid,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cv=3,  # K-Fold sobre X_train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scoring='neg_mean_squared_error',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n_jobs=-1)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grid.fit(X_train, y_train)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mejor = grid.best_estimator_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joblib.dump(mejor, 'boosting_reg.pkl')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57200" y="4828032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TFG · Detector de Chollos en Andalucía · Mario Jiménez · Universidad de Sevilla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859536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4630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 · </a:t>
            </a:r>
            <a:r>
              <a:rPr lang="en-US" sz="2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Corrplot</a:t>
            </a: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26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Studio</a:t>
            </a: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(1/3)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56272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C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Correlación lineal (Pearson) · dataset codificado numéricamente</a:t>
            </a:r>
            <a:endParaRPr lang="en-US" sz="10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1819" y="982104"/>
            <a:ext cx="6788377" cy="3940928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457200" y="4928616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TFG · Detector de Chollos en Andalucía · Mario Jiménez · Universidad de Sevilla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859536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50" name="LabelCorrplot"/>
          <p:cNvSpPr/>
          <p:nvPr/>
        </p:nvSpPr>
        <p:spPr>
          <a:xfrm>
            <a:off x="274680" y="786436"/>
            <a:ext cx="859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900" b="1" dirty="0">
                <a:solidFill>
                  <a:srgbClr val="D4A843"/>
                </a:solidFill>
                <a:latin typeface="Calibri" pitchFamily="34" charset="0"/>
              </a:rPr>
              <a:t>📊  Pearson · </a:t>
            </a:r>
            <a:r>
              <a:rPr lang="es-ES" sz="900" b="1" dirty="0">
                <a:solidFill>
                  <a:srgbClr val="FF0000"/>
                </a:solidFill>
                <a:latin typeface="Calibri" pitchFamily="34" charset="0"/>
              </a:rPr>
              <a:t>R Studio </a:t>
            </a:r>
            <a:r>
              <a:rPr lang="es-ES" sz="900" b="1" dirty="0" err="1">
                <a:solidFill>
                  <a:srgbClr val="FF0000"/>
                </a:solidFill>
                <a:latin typeface="Calibri" pitchFamily="34" charset="0"/>
              </a:rPr>
              <a:t>corrplot</a:t>
            </a:r>
            <a:r>
              <a:rPr lang="es-ES" sz="900" b="1" dirty="0">
                <a:solidFill>
                  <a:srgbClr val="FF0000"/>
                </a:solidFill>
                <a:latin typeface="Calibri" pitchFamily="34" charset="0"/>
              </a:rPr>
              <a:t> </a:t>
            </a:r>
            <a:r>
              <a:rPr lang="es-ES" sz="900" b="1" dirty="0">
                <a:solidFill>
                  <a:srgbClr val="D4A843"/>
                </a:solidFill>
                <a:latin typeface="Calibri" pitchFamily="34" charset="0"/>
              </a:rPr>
              <a:t>· 30 variables · LabelEncoder + get_dummies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4630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 de Datos  (2/3)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603504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C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Regresión Lineal  ·  Mapa Coroplético Andalucía</a:t>
            </a:r>
            <a:endParaRPr lang="en-US" sz="10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36" y="1175004"/>
            <a:ext cx="4535424" cy="3310128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457200" y="4828032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TFG · Detector de Chollos en Andalucía · Mario Jiménez · Universidad de Sevilla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859536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50" name="LabelCorrplot"/>
          <p:cNvSpPr/>
          <p:nvPr/>
        </p:nvSpPr>
        <p:spPr>
          <a:xfrm>
            <a:off x="274320" y="770400"/>
            <a:ext cx="438912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900" b="1" dirty="0">
                <a:solidFill>
                  <a:srgbClr val="D4A843"/>
                </a:solidFill>
                <a:latin typeface="Calibri" pitchFamily="34" charset="0"/>
              </a:rPr>
              <a:t>Regresión Lineal: tamaño_habitacion vs precio</a:t>
            </a:r>
          </a:p>
        </p:txBody>
      </p:sp>
      <p:sp>
        <p:nvSpPr>
          <p:cNvPr id="51" name="LabelArbol"/>
          <p:cNvSpPr/>
          <p:nvPr/>
        </p:nvSpPr>
        <p:spPr>
          <a:xfrm>
            <a:off x="4731120" y="770400"/>
            <a:ext cx="413064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900" b="1" dirty="0">
                <a:solidFill>
                  <a:srgbClr val="D4A843"/>
                </a:solidFill>
                <a:latin typeface="Calibri" pitchFamily="34" charset="0"/>
              </a:rPr>
              <a:t>🗺️  Mapa Coroplético Andalucía  ·  plotly.express</a:t>
            </a:r>
          </a:p>
        </p:txBody>
      </p:sp>
      <p:sp>
        <p:nvSpPr>
          <p:cNvPr id="60" name="MapaDesc"/>
          <p:cNvSpPr/>
          <p:nvPr/>
        </p:nvSpPr>
        <p:spPr>
          <a:xfrm>
            <a:off x="4731120" y="960120"/>
            <a:ext cx="4130640" cy="1143000"/>
          </a:xfrm>
          <a:prstGeom prst="rect">
            <a:avLst/>
          </a:prstGeom>
          <a:solidFill>
            <a:srgbClr val="1E3A5F"/>
          </a:solidFill>
          <a:ln/>
        </p:spPr>
        <p:txBody>
          <a:bodyPr wrap="square" lIns="91440" tIns="91440" rIns="91440" bIns="91440" rtlCol="0" anchor="t"/>
          <a:lstStyle/>
          <a:p>
            <a:pPr marL="0" indent="0">
              <a:buNone/>
            </a:pPr>
            <a:r>
              <a:rPr lang="es-ES" sz="900" dirty="0">
                <a:solidFill>
                  <a:srgbClr val="F4F8FC"/>
                </a:solidFill>
                <a:latin typeface="Calibri" pitchFamily="34" charset="0"/>
              </a:rPr>
              <a:t>Choropleth por provincias andaluzas (GeoJSON spain-provinces) + scatter de alojamientos únicos (lat/lon). El HTML resultante se usa como mapa por defecto en la app Streamlit del usuario final.</a:t>
            </a:r>
          </a:p>
        </p:txBody>
      </p:sp>
      <p:sp>
        <p:nvSpPr>
          <p:cNvPr id="61" name="MapaCode"/>
          <p:cNvSpPr/>
          <p:nvPr/>
        </p:nvSpPr>
        <p:spPr>
          <a:xfrm>
            <a:off x="4731120" y="2160120"/>
            <a:ext cx="4130640" cy="1761876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lIns="91440" tIns="91440" rIns="91440" bIns="9144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49" charset="0"/>
              </a:rPr>
              <a:t># Mapa coroplético + scatter
fig = px.choropleth(
  locations=NOMBRES_PROVINCIAS,
  geojson=geojson,
  featureidkey="properties.name",
  color=alojamientos_por_provincia,
  color_continuous_scale="Reds")
fig.add_scattergeo(
  lat=df['latitud'],
  lon=df['longitud'],
  mode="markers",
  marker=dict(size=5,color="green"))
fig.write_html(salida)  # → Streamlit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4630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 · Árbol de </a:t>
            </a:r>
            <a:r>
              <a:rPr lang="en-US" sz="2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</a:t>
            </a: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(3/3)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603504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C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sklearn plot_tree · variable raíz: tamaño_habitacion ≤ 75.5 · primeros 4 niveles</a:t>
            </a:r>
            <a:endParaRPr lang="en-US" sz="1000" dirty="0"/>
          </a:p>
        </p:txBody>
      </p:sp>
      <p:pic>
        <p:nvPicPr>
          <p:cNvPr id="60" name="ArbolDecision" descr="arbol_d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0120"/>
            <a:ext cx="8594640" cy="4014720"/>
          </a:xfrm>
          <a:prstGeom prst="rect">
            <a:avLst/>
          </a:prstGeom>
          <a:noFill/>
          <a:ln/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ld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itle"/>
          <p:cNvSpPr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400" b="1" dirty="0">
                <a:solidFill>
                  <a:srgbClr val="FFFFFF"/>
                </a:solidFill>
                <a:latin typeface="Calibri" pitchFamily="34" charset="0"/>
              </a:rPr>
              <a:t>Resultados de los Modelos · Conjunto de TEST</a:t>
            </a:r>
          </a:p>
        </p:txBody>
      </p:sp>
      <p:sp>
        <p:nvSpPr>
          <p:cNvPr id="4" name="Sub"/>
          <p:cNvSpPr/>
          <p:nvPr/>
        </p:nvSpPr>
        <p:spPr>
          <a:xfrm>
            <a:off x="457200" y="603504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000" dirty="0">
                <a:solidFill>
                  <a:srgbClr val="F0C060"/>
                </a:solidFill>
                <a:latin typeface="Consolas" pitchFamily="34" charset="0"/>
              </a:rPr>
              <a:t>Modelizacion/Modelizacion.py · Evaluación final (X_test, usado una única vez)</a:t>
            </a:r>
          </a:p>
        </p:txBody>
      </p:sp>
      <p:sp>
        <p:nvSpPr>
          <p:cNvPr id="5" name="LblTabla"/>
          <p:cNvSpPr/>
          <p:nvPr/>
        </p:nvSpPr>
        <p:spPr>
          <a:xfrm>
            <a:off x="182880" y="868680"/>
            <a:ext cx="5486400" cy="228600"/>
          </a:xfrm>
          <a:prstGeom prst="rect">
            <a:avLst/>
          </a:prstGeom>
          <a:solidFill>
            <a:srgbClr val="2A5080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50" b="1" dirty="0">
                <a:solidFill>
                  <a:srgbClr val="D4A843"/>
                </a:solidFill>
                <a:latin typeface="Calibri" pitchFamily="34" charset="0"/>
              </a:rPr>
              <a:t>📊  Comparativa de modelos — Métricas sobre conjunto de TEST</a:t>
            </a:r>
          </a:p>
        </p:txBody>
      </p:sp>
      <p:pic>
        <p:nvPicPr>
          <p:cNvPr id="6" name="TablaMetrica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5486400" cy="1554480"/>
          </a:xfrm>
          <a:prstGeom prst="rect">
            <a:avLst/>
          </a:prstGeom>
          <a:noFill/>
          <a:ln/>
        </p:spPr>
      </p:pic>
      <p:sp>
        <p:nvSpPr>
          <p:cNvPr id="7" name="WinnerBox"/>
          <p:cNvSpPr/>
          <p:nvPr/>
        </p:nvSpPr>
        <p:spPr>
          <a:xfrm>
            <a:off x="5852880" y="868680"/>
            <a:ext cx="3108960" cy="1783080"/>
          </a:xfrm>
          <a:prstGeom prst="rect">
            <a:avLst/>
          </a:prstGeom>
          <a:solidFill>
            <a:srgbClr val="1E3A5F"/>
          </a:solidFill>
          <a:ln>
            <a:solidFill>
              <a:srgbClr val="16A34A"/>
            </a:solidFill>
          </a:ln>
        </p:spPr>
        <p:txBody>
          <a:bodyPr wrap="square" lIns="182880" tIns="91440" rIns="182880" bIns="91440" rtlCol="0" anchor="ctr"/>
          <a:lstStyle/>
          <a:p>
            <a:pPr marL="0" indent="0">
              <a:buNone/>
            </a:pPr>
            <a:r>
              <a:rPr lang="es-ES" sz="1050" b="1" dirty="0">
                <a:solidFill>
                  <a:srgbClr val="16A34A"/>
                </a:solidFill>
                <a:latin typeface="Calibri" pitchFamily="34" charset="0"/>
              </a:rPr>
              <a:t>🏆  Mejor modelo: Bosque Aleatorio</a:t>
            </a:r>
          </a:p>
          <a:p>
            <a:pPr marL="0" indent="0">
              <a:buNone/>
            </a:pPr>
            <a:r>
              <a:rPr lang="es-ES" sz="8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1000" b="1" dirty="0">
                <a:solidFill>
                  <a:srgbClr val="D4A843"/>
                </a:solidFill>
                <a:latin typeface="Calibri" pitchFamily="34" charset="0"/>
              </a:rPr>
              <a:t>R²</a:t>
            </a:r>
            <a:r>
              <a:rPr lang="es-ES" sz="900" dirty="0">
                <a:solidFill>
                  <a:srgbClr val="CBD5E1"/>
                </a:solidFill>
                <a:latin typeface="Calibri" pitchFamily="34" charset="0"/>
              </a:rPr>
              <a:t>  =  </a:t>
            </a:r>
            <a:r>
              <a:rPr lang="es-ES" sz="2200" b="1" dirty="0">
                <a:solidFill>
                  <a:srgbClr val="FFFFFF"/>
                </a:solidFill>
                <a:latin typeface="Calibri" pitchFamily="34" charset="0"/>
              </a:rPr>
              <a:t>0.8779</a:t>
            </a:r>
          </a:p>
          <a:p>
            <a:pPr marL="0" indent="0">
              <a:buNone/>
            </a:pPr>
            <a:r>
              <a:rPr lang="es-ES" sz="1000" b="1" dirty="0">
                <a:solidFill>
                  <a:srgbClr val="D4A843"/>
                </a:solidFill>
                <a:latin typeface="Calibri" pitchFamily="34" charset="0"/>
              </a:rPr>
              <a:t>MAE</a:t>
            </a:r>
            <a:r>
              <a:rPr lang="es-ES" sz="900" dirty="0">
                <a:solidFill>
                  <a:srgbClr val="CBD5E1"/>
                </a:solidFill>
                <a:latin typeface="Calibri" pitchFamily="34" charset="0"/>
              </a:rPr>
              <a:t>  =  </a:t>
            </a:r>
            <a:r>
              <a:rPr lang="es-ES" sz="1800" b="1" dirty="0">
                <a:solidFill>
                  <a:srgbClr val="F4F8FC"/>
                </a:solidFill>
                <a:latin typeface="Calibri" pitchFamily="34" charset="0"/>
              </a:rPr>
              <a:t>19.45 €</a:t>
            </a:r>
          </a:p>
          <a:p>
            <a:pPr marL="0" indent="0">
              <a:buNone/>
            </a:pPr>
            <a:r>
              <a:rPr lang="es-ES" sz="1000" b="1" dirty="0">
                <a:solidFill>
                  <a:srgbClr val="D4A843"/>
                </a:solidFill>
                <a:latin typeface="Calibri" pitchFamily="34" charset="0"/>
              </a:rPr>
              <a:t>RMSE</a:t>
            </a:r>
            <a:r>
              <a:rPr lang="es-ES" sz="900" dirty="0">
                <a:solidFill>
                  <a:srgbClr val="CBD5E1"/>
                </a:solidFill>
                <a:latin typeface="Calibri" pitchFamily="34" charset="0"/>
              </a:rPr>
              <a:t>  =  </a:t>
            </a:r>
            <a:r>
              <a:rPr lang="es-ES" sz="1800" b="1" dirty="0">
                <a:solidFill>
                  <a:srgbClr val="F4F8FC"/>
                </a:solidFill>
                <a:latin typeface="Calibri" pitchFamily="34" charset="0"/>
              </a:rPr>
              <a:t>33.18 €</a:t>
            </a:r>
          </a:p>
          <a:p>
            <a:pPr marL="0" indent="0">
              <a:buNone/>
            </a:pPr>
            <a:r>
              <a:rPr lang="es-ES" sz="8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900" dirty="0">
                <a:solidFill>
                  <a:srgbClr val="CBD5E1"/>
                </a:solidFill>
                <a:latin typeface="Calibri" pitchFamily="34" charset="0"/>
              </a:rPr>
              <a:t>Explica el 87,8% de la varianza del precio.
Error medio de ±19,45€ sobre el precio real.</a:t>
            </a:r>
          </a:p>
        </p:txBody>
      </p:sp>
      <p:sp>
        <p:nvSpPr>
          <p:cNvPr id="8" name="LblDist"/>
          <p:cNvSpPr/>
          <p:nvPr/>
        </p:nvSpPr>
        <p:spPr>
          <a:xfrm>
            <a:off x="182880" y="2743200"/>
            <a:ext cx="4921383" cy="228600"/>
          </a:xfrm>
          <a:prstGeom prst="rect">
            <a:avLst/>
          </a:prstGeom>
          <a:solidFill>
            <a:srgbClr val="1F5C40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50" b="1" dirty="0">
                <a:solidFill>
                  <a:srgbClr val="D4A843"/>
                </a:solidFill>
                <a:latin typeface="Calibri" pitchFamily="34" charset="0"/>
              </a:rPr>
              <a:t>📊  Distribución de categorías de chollo — Conjunto TEST (414.936 registros)</a:t>
            </a:r>
          </a:p>
        </p:txBody>
      </p:sp>
      <p:pic>
        <p:nvPicPr>
          <p:cNvPr id="9" name="TablaDistrib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2972880"/>
            <a:ext cx="4921383" cy="1782000"/>
          </a:xfrm>
          <a:prstGeom prst="rect">
            <a:avLst/>
          </a:prstGeom>
          <a:noFill/>
          <a:ln/>
        </p:spPr>
      </p:pic>
      <p:sp>
        <p:nvSpPr>
          <p:cNvPr id="10" name="InsightBox"/>
          <p:cNvSpPr/>
          <p:nvPr/>
        </p:nvSpPr>
        <p:spPr>
          <a:xfrm>
            <a:off x="5424985" y="2743200"/>
            <a:ext cx="3536855" cy="2011680"/>
          </a:xfrm>
          <a:prstGeom prst="rect">
            <a:avLst/>
          </a:prstGeom>
          <a:solidFill>
            <a:srgbClr val="1E3A5F"/>
          </a:solidFill>
          <a:ln>
            <a:solidFill>
              <a:srgbClr val="2A5080"/>
            </a:solidFill>
          </a:ln>
        </p:spPr>
        <p:txBody>
          <a:bodyPr wrap="square" lIns="182880" tIns="182880" rIns="182880" bIns="91440" rtlCol="0" anchor="t"/>
          <a:lstStyle/>
          <a:p>
            <a:pPr marL="0" indent="0">
              <a:buNone/>
            </a:pPr>
            <a:r>
              <a:rPr lang="es-ES" sz="1000" b="1" dirty="0">
                <a:solidFill>
                  <a:srgbClr val="D4A843"/>
                </a:solidFill>
                <a:latin typeface="Calibri" pitchFamily="34" charset="0"/>
              </a:rPr>
              <a:t>💡  Interpretación:</a:t>
            </a:r>
          </a:p>
          <a:p>
            <a:pPr marL="0" indent="0">
              <a:buNone/>
            </a:pPr>
            <a:r>
              <a:rPr lang="es-ES" sz="8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900" b="1" dirty="0">
                <a:solidFill>
                  <a:srgbClr val="16A34A"/>
                </a:solidFill>
                <a:latin typeface="Calibri" pitchFamily="34" charset="0"/>
              </a:rPr>
              <a:t>Chollos detectados</a:t>
            </a:r>
          </a:p>
          <a:p>
            <a:pPr marL="0" indent="0">
              <a:buNone/>
            </a:pPr>
            <a:r>
              <a:rPr lang="es-ES" sz="850" dirty="0">
                <a:solidFill>
                  <a:srgbClr val="CBD5E1"/>
                </a:solidFill>
                <a:latin typeface="Calibri" pitchFamily="34" charset="0"/>
              </a:rPr>
              <a:t>chollo + super + híper-chollo</a:t>
            </a:r>
          </a:p>
          <a:p>
            <a:pPr marL="0" indent="0">
              <a:buNone/>
            </a:pPr>
            <a:r>
              <a:rPr lang="es-ES" sz="1300" b="1" dirty="0">
                <a:solidFill>
                  <a:srgbClr val="FFFFFF"/>
                </a:solidFill>
                <a:latin typeface="Calibri" pitchFamily="34" charset="0"/>
              </a:rPr>
              <a:t>= 206.006 registros</a:t>
            </a:r>
          </a:p>
          <a:p>
            <a:pPr marL="0" indent="0">
              <a:buNone/>
            </a:pPr>
            <a:r>
              <a:rPr lang="es-ES" sz="1000" b="1" dirty="0">
                <a:solidFill>
                  <a:srgbClr val="16A34A"/>
                </a:solidFill>
                <a:latin typeface="Calibri" pitchFamily="34" charset="0"/>
              </a:rPr>
              <a:t>= 49,9% del conjunto TEST</a:t>
            </a:r>
          </a:p>
          <a:p>
            <a:pPr marL="0" indent="0">
              <a:buNone/>
            </a:pPr>
            <a:r>
              <a:rPr lang="es-ES" sz="8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900" dirty="0">
                <a:solidFill>
                  <a:srgbClr val="CBD5E1"/>
                </a:solidFill>
                <a:latin typeface="Calibri" pitchFamily="34" charset="0"/>
              </a:rPr>
              <a:t>El modelo identifica correctamente
casi 1 de cada 2 alojamientos
como oportunidad de ahorro.</a:t>
            </a:r>
          </a:p>
          <a:p>
            <a:pPr marL="0" indent="0">
              <a:buNone/>
            </a:pPr>
            <a:r>
              <a:rPr lang="es-ES" sz="800" dirty="0">
                <a:latin typeface="Calibri" pitchFamily="34" charset="0"/>
              </a:rPr>
              <a:t> </a:t>
            </a:r>
          </a:p>
          <a:p>
            <a:pPr marL="0" indent="0">
              <a:buNone/>
            </a:pPr>
            <a:r>
              <a:rPr lang="es-ES" sz="850" dirty="0">
                <a:solidFill>
                  <a:srgbClr val="8899AA"/>
                </a:solidFill>
                <a:latin typeface="Calibri" pitchFamily="34" charset="0"/>
              </a:rPr>
              <a:t>Inflado + Normal = 207.930 (50.1%)</a:t>
            </a:r>
          </a:p>
        </p:txBody>
      </p:sp>
      <p:sp>
        <p:nvSpPr>
          <p:cNvPr id="97" name="Footer"/>
          <p:cNvSpPr/>
          <p:nvPr/>
        </p:nvSpPr>
        <p:spPr>
          <a:xfrm>
            <a:off x="457200" y="4826520"/>
            <a:ext cx="7772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800" dirty="0">
                <a:solidFill>
                  <a:srgbClr val="4A6080"/>
                </a:solidFill>
                <a:latin typeface="Calibri" pitchFamily="34" charset="0"/>
              </a:rPr>
              <a:t>TFG · Detector de Chollos en Andalucía · Mario Jiménez · Universidad de Sevilla</a:t>
            </a:r>
          </a:p>
        </p:txBody>
      </p:sp>
      <p:sp>
        <p:nvSpPr>
          <p:cNvPr id="98" name="PageNum"/>
          <p:cNvSpPr/>
          <p:nvPr/>
        </p:nvSpPr>
        <p:spPr>
          <a:xfrm>
            <a:off x="859464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s-ES" sz="900" dirty="0">
              <a:solidFill>
                <a:srgbClr val="4A6080"/>
              </a:solidFill>
              <a:latin typeface="Calibri" pitchFamily="34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2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Categorización de Chollos · Núcleo del Proyecto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C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crear_etiqueta_chollo(y_real, y_predicho)  →  ratio precio_real / precio_predicho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115568"/>
            <a:ext cx="2148840" cy="475488"/>
          </a:xfrm>
          <a:prstGeom prst="rect">
            <a:avLst/>
          </a:prstGeom>
          <a:solidFill>
            <a:srgbClr val="1A7A2A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133856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Hiper-chollo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48640" y="1335024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≤ 0.75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&gt;25% más barato que el precio justo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1636776"/>
            <a:ext cx="2148840" cy="475488"/>
          </a:xfrm>
          <a:prstGeom prst="rect">
            <a:avLst/>
          </a:prstGeom>
          <a:solidFill>
            <a:srgbClr val="2E8B4A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1655064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Super-chollo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48640" y="1856232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 &lt; ratio &lt; 0.85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15–25% más barato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57200" y="2157984"/>
            <a:ext cx="2148840" cy="475488"/>
          </a:xfrm>
          <a:prstGeom prst="rect">
            <a:avLst/>
          </a:prstGeom>
          <a:solidFill>
            <a:srgbClr val="3DA85E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48640" y="2176272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Chollo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48640" y="2377440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0.85 ≤ ratio &lt; 0.99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1–15% más barato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57200" y="2679192"/>
            <a:ext cx="2148840" cy="475488"/>
          </a:xfrm>
          <a:prstGeom prst="rect">
            <a:avLst/>
          </a:prstGeom>
          <a:solidFill>
            <a:srgbClr val="1A4A8C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269748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Normal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48640" y="2898648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 ≤ ratio ≤ 1.01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dentro del ±1%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57200" y="3200400"/>
            <a:ext cx="2148840" cy="475488"/>
          </a:xfrm>
          <a:prstGeom prst="rect">
            <a:avLst/>
          </a:prstGeom>
          <a:solidFill>
            <a:srgbClr val="B81A1A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3218688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 Inflado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48640" y="3419856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&gt; 1.05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un 5% por encima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2724912" y="1115567"/>
            <a:ext cx="4023360" cy="2787352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24912" y="914400"/>
            <a:ext cx="2377440" cy="201168"/>
          </a:xfrm>
          <a:prstGeom prst="rect">
            <a:avLst/>
          </a:prstGeom>
          <a:solidFill>
            <a:srgbClr val="2A5080"/>
          </a:solidFill>
          <a:ln/>
        </p:spPr>
      </p:sp>
      <p:sp>
        <p:nvSpPr>
          <p:cNvPr id="23" name="Text 21"/>
          <p:cNvSpPr/>
          <p:nvPr/>
        </p:nvSpPr>
        <p:spPr>
          <a:xfrm>
            <a:off x="2779776" y="914400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0C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crear_etiqueta_chollo()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852928" y="1188720"/>
            <a:ext cx="3767328" cy="2505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crear_etiqueta_chollo(y_real, y_predicho):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"""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Compara precio real vs. precio predicho por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el modelo de regresión. El ratio indica cuánto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vale el alojamiento respecto a su 'precio justo'.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"""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ratio = y_real / y_predicho  # &lt; 1 = más barato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condiciones = [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ratio &lt;= 0.75,                       # hiper_chollo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(ratio &gt; 0.75) &amp; (ratio &lt; 0.85),    # super_chollo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(ratio &gt;= 0.85) &amp; (ratio &lt; 0.99),   # chollo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(ratio &gt;= 0.99) &amp; (ratio &lt;= 1.01),  # normal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ratio &gt; 1.05                         # inflado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]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etiquetas = [4, 3, 2, 1, 0]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np.select aplica condiciones vectorizadas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pd.Series(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np.select(condiciones, etiquetas),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index=y_real.index,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name='</a:t>
            </a:r>
            <a:r>
              <a:rPr lang="en-US" sz="8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categoria</a:t>
            </a: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')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903720" y="1115567"/>
            <a:ext cx="1783080" cy="2787351"/>
          </a:xfrm>
          <a:prstGeom prst="rect">
            <a:avLst/>
          </a:prstGeom>
          <a:solidFill>
            <a:srgbClr val="1E3A5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903720" y="1115568"/>
            <a:ext cx="178308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27" name="Text 25"/>
          <p:cNvSpPr/>
          <p:nvPr/>
        </p:nvSpPr>
        <p:spPr>
          <a:xfrm>
            <a:off x="6995160" y="118872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no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de clasificación?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995160" y="1627632"/>
            <a:ext cx="1600200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categoría chollo es consecuencia directa de la comparación entre precio real y precio predicho.</a:t>
            </a:r>
            <a:endParaRPr lang="en-US" sz="800" dirty="0"/>
          </a:p>
          <a:p>
            <a:pPr marL="0" indent="0">
              <a:lnSpc>
                <a:spcPct val="125000"/>
              </a:lnSpc>
              <a:buNone/>
            </a:pPr>
            <a:endParaRPr lang="en-US" sz="8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chollo no tiene sentido sin su precio de referencia.</a:t>
            </a:r>
            <a:endParaRPr lang="en-US" sz="800" dirty="0"/>
          </a:p>
          <a:p>
            <a:pPr marL="0" indent="0">
              <a:lnSpc>
                <a:spcPct val="125000"/>
              </a:lnSpc>
              <a:buNone/>
            </a:pPr>
            <a:endParaRPr lang="en-US" sz="8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Entrenar un modelo de clasificación sobre etiquetas derivadas del propio modelo de regresión sería redundante y añadiría complejidad sin valor.</a:t>
            </a:r>
            <a:endParaRPr lang="en-US" sz="800" dirty="0"/>
          </a:p>
          <a:p>
            <a:pPr marL="0" indent="0">
              <a:lnSpc>
                <a:spcPct val="125000"/>
              </a:lnSpc>
              <a:buNone/>
            </a:pPr>
            <a:endParaRPr lang="en-US" sz="8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determinista (ratio) es interpretable, reproducible y no introduce sesgo de aprendizaje.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02336" y="3838911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completo: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950976" y="4058367"/>
            <a:ext cx="1097280" cy="502920"/>
          </a:xfrm>
          <a:prstGeom prst="rect">
            <a:avLst/>
          </a:prstGeom>
          <a:solidFill>
            <a:srgbClr val="1A2E4A"/>
          </a:solidFill>
          <a:ln w="12700">
            <a:solidFill>
              <a:srgbClr val="2A508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50976" y="4058367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features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048256" y="4277823"/>
            <a:ext cx="146304" cy="7315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3" name="Shape 31"/>
          <p:cNvSpPr/>
          <p:nvPr/>
        </p:nvSpPr>
        <p:spPr>
          <a:xfrm>
            <a:off x="2194560" y="4058367"/>
            <a:ext cx="1097280" cy="502920"/>
          </a:xfrm>
          <a:prstGeom prst="rect">
            <a:avLst/>
          </a:prstGeom>
          <a:solidFill>
            <a:srgbClr val="2A5080"/>
          </a:solidFill>
          <a:ln w="12700">
            <a:solidFill>
              <a:srgbClr val="D4A84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94560" y="4058367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3291840" y="4277823"/>
            <a:ext cx="146304" cy="7315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6" name="Shape 34"/>
          <p:cNvSpPr/>
          <p:nvPr/>
        </p:nvSpPr>
        <p:spPr>
          <a:xfrm>
            <a:off x="3438144" y="4058367"/>
            <a:ext cx="1097280" cy="502920"/>
          </a:xfrm>
          <a:prstGeom prst="rect">
            <a:avLst/>
          </a:prstGeom>
          <a:solidFill>
            <a:srgbClr val="1A2E4A"/>
          </a:solidFill>
          <a:ln w="12700">
            <a:solidFill>
              <a:srgbClr val="2A508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438144" y="4058367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y_predicho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535424" y="4277823"/>
            <a:ext cx="146304" cy="7315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9" name="Shape 37"/>
          <p:cNvSpPr/>
          <p:nvPr/>
        </p:nvSpPr>
        <p:spPr>
          <a:xfrm>
            <a:off x="4681728" y="4058367"/>
            <a:ext cx="1097280" cy="502920"/>
          </a:xfrm>
          <a:prstGeom prst="rect">
            <a:avLst/>
          </a:prstGeom>
          <a:solidFill>
            <a:srgbClr val="2A5080"/>
          </a:solidFill>
          <a:ln w="12700">
            <a:solidFill>
              <a:srgbClr val="D4A84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1728" y="4058367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=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/ pred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5779008" y="4277823"/>
            <a:ext cx="146304" cy="7315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2" name="Shape 40"/>
          <p:cNvSpPr/>
          <p:nvPr/>
        </p:nvSpPr>
        <p:spPr>
          <a:xfrm>
            <a:off x="5925312" y="4058367"/>
            <a:ext cx="1097280" cy="502920"/>
          </a:xfrm>
          <a:prstGeom prst="rect">
            <a:avLst/>
          </a:prstGeom>
          <a:solidFill>
            <a:srgbClr val="2A5080"/>
          </a:solidFill>
          <a:ln w="12700">
            <a:solidFill>
              <a:srgbClr val="D4A84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25312" y="4058367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crear_etiqueta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F4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_chollo()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7022592" y="4277823"/>
            <a:ext cx="146304" cy="7315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5" name="Shape 43"/>
          <p:cNvSpPr/>
          <p:nvPr/>
        </p:nvSpPr>
        <p:spPr>
          <a:xfrm>
            <a:off x="7168896" y="4058367"/>
            <a:ext cx="1097280" cy="502920"/>
          </a:xfrm>
          <a:prstGeom prst="rect">
            <a:avLst/>
          </a:prstGeom>
          <a:solidFill>
            <a:srgbClr val="1F5C40"/>
          </a:solidFill>
          <a:ln w="12700">
            <a:solidFill>
              <a:srgbClr val="D4A84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168896" y="4058367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Categoría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(0–4)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402336" y="4607007"/>
            <a:ext cx="8229600" cy="256032"/>
          </a:xfrm>
          <a:prstGeom prst="rect">
            <a:avLst/>
          </a:prstGeom>
          <a:solidFill>
            <a:srgbClr val="1F5C40"/>
          </a:solidFill>
          <a:ln/>
        </p:spPr>
      </p:sp>
      <p:sp>
        <p:nvSpPr>
          <p:cNvPr id="51" name="Text 49"/>
          <p:cNvSpPr/>
          <p:nvPr/>
        </p:nvSpPr>
        <p:spPr>
          <a:xfrm>
            <a:off x="493776" y="4607007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del modelo de regresión sobre X_test (una sola vez): R², MAE, RMSE  ·  joblib guarda modelo + scalers para producción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402336" y="4899615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TFG · Detector de Chollos en Andalucía · Mario Jiménez · Universidad de Sevilla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8741664" y="4858331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ld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itle"/>
          <p:cNvSpPr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400" b="1" dirty="0">
                <a:solidFill>
                  <a:srgbClr val="FFFFFF"/>
                </a:solidFill>
                <a:latin typeface="Calibri" pitchFamily="34" charset="0"/>
              </a:rPr>
              <a:t>Aplicación Web · Streamlit · Arquitectura</a:t>
            </a:r>
          </a:p>
        </p:txBody>
      </p:sp>
      <p:sp>
        <p:nvSpPr>
          <p:cNvPr id="4" name="Sub"/>
          <p:cNvSpPr/>
          <p:nvPr/>
        </p:nvSpPr>
        <p:spPr>
          <a:xfrm>
            <a:off x="457200" y="603504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000" dirty="0">
                <a:solidFill>
                  <a:srgbClr val="F0C060"/>
                </a:solidFill>
                <a:latin typeface="Consolas" pitchFamily="34" charset="0"/>
              </a:rPr>
              <a:t>App/run.py  →  streamlit run App/main.py  ·  múltiples módulos especializados</a:t>
            </a:r>
          </a:p>
        </p:txBody>
      </p:sp>
      <p:sp>
        <p:nvSpPr>
          <p:cNvPr id="5" name="LblMod"/>
          <p:cNvSpPr/>
          <p:nvPr/>
        </p:nvSpPr>
        <p:spPr>
          <a:xfrm>
            <a:off x="182880" y="868680"/>
            <a:ext cx="4298640" cy="228600"/>
          </a:xfrm>
          <a:prstGeom prst="rect">
            <a:avLst/>
          </a:prstGeom>
          <a:solidFill>
            <a:srgbClr val="2A5080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50" b="1" dirty="0">
                <a:solidFill>
                  <a:srgbClr val="D4A843"/>
                </a:solidFill>
                <a:latin typeface="Calibri" pitchFamily="34" charset="0"/>
              </a:rPr>
              <a:t>📁  Estructura de la App  (TFG_Chollos/App/)</a:t>
            </a:r>
          </a:p>
        </p:txBody>
      </p:sp>
      <p:sp>
        <p:nvSpPr>
          <p:cNvPr id="10" name="Mod0"/>
          <p:cNvSpPr/>
          <p:nvPr/>
        </p:nvSpPr>
        <p:spPr>
          <a:xfrm>
            <a:off x="182880" y="1097280"/>
            <a:ext cx="4298640" cy="50292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45720" rIns="114300" bIns="45720" rtlCol="0" anchor="ctr"/>
          <a:lstStyle/>
          <a:p>
            <a:pPr marL="0" indent="0">
              <a:buNone/>
            </a:pPr>
            <a:r>
              <a:rPr lang="es-ES" sz="870" b="1" dirty="0">
                <a:solidFill>
                  <a:srgbClr val="1F5C40"/>
                </a:solidFill>
                <a:latin typeface="Consolas" pitchFamily="34" charset="0"/>
              </a:rPr>
              <a:t>main.py</a:t>
            </a:r>
          </a:p>
          <a:p>
            <a:pPr marL="0" indent="0">
              <a:buNone/>
            </a:pPr>
            <a:r>
              <a:rPr lang="es-ES" sz="820" dirty="0">
                <a:solidFill>
                  <a:srgbClr val="374151"/>
                </a:solidFill>
                <a:latin typeface="Calibri" pitchFamily="34" charset="0"/>
              </a:rPr>
              <a:t>Página principal: mapa corofético + gráficos de análisis</a:t>
            </a:r>
          </a:p>
        </p:txBody>
      </p:sp>
      <p:sp>
        <p:nvSpPr>
          <p:cNvPr id="11" name="Mod1"/>
          <p:cNvSpPr/>
          <p:nvPr/>
        </p:nvSpPr>
        <p:spPr>
          <a:xfrm>
            <a:off x="182880" y="1645920"/>
            <a:ext cx="4298640" cy="50292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45720" rIns="114300" bIns="45720" rtlCol="0" anchor="ctr"/>
          <a:lstStyle/>
          <a:p>
            <a:pPr marL="0" indent="0">
              <a:buNone/>
            </a:pPr>
            <a:r>
              <a:rPr lang="es-ES" sz="870" b="1" dirty="0">
                <a:solidFill>
                  <a:srgbClr val="1A4A8C"/>
                </a:solidFill>
                <a:latin typeface="Consolas" pitchFamily="34" charset="0"/>
              </a:rPr>
              <a:t>pages/Busqueda.py</a:t>
            </a:r>
          </a:p>
          <a:p>
            <a:pPr marL="0" indent="0">
              <a:buNone/>
            </a:pPr>
            <a:r>
              <a:rPr lang="es-ES" sz="820" dirty="0">
                <a:solidFill>
                  <a:srgbClr val="374151"/>
                </a:solidFill>
                <a:latin typeface="Calibri" pitchFamily="34" charset="0"/>
              </a:rPr>
              <a:t>Página de búsqueda: formulario + 16 filtros + resultados</a:t>
            </a:r>
          </a:p>
        </p:txBody>
      </p:sp>
      <p:sp>
        <p:nvSpPr>
          <p:cNvPr id="12" name="Mod2"/>
          <p:cNvSpPr/>
          <p:nvPr/>
        </p:nvSpPr>
        <p:spPr>
          <a:xfrm>
            <a:off x="182880" y="2194560"/>
            <a:ext cx="4298640" cy="50292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45720" rIns="114300" bIns="45720" rtlCol="0" anchor="ctr"/>
          <a:lstStyle/>
          <a:p>
            <a:pPr marL="0" indent="0">
              <a:buNone/>
            </a:pPr>
            <a:r>
              <a:rPr lang="es-ES" sz="870" b="1" dirty="0">
                <a:solidFill>
                  <a:srgbClr val="5C3A1E"/>
                </a:solidFill>
                <a:latin typeface="Consolas" pitchFamily="34" charset="0"/>
              </a:rPr>
              <a:t>_scraper_app.py</a:t>
            </a:r>
          </a:p>
          <a:p>
            <a:pPr marL="0" indent="0">
              <a:buNone/>
            </a:pPr>
            <a:r>
              <a:rPr lang="es-ES" sz="820" dirty="0">
                <a:solidFill>
                  <a:srgbClr val="374151"/>
                </a:solidFill>
                <a:latin typeface="Calibri" pitchFamily="34" charset="0"/>
              </a:rPr>
              <a:t>Scraping async (Playwright) + BookingExtractor (ThreadPool)</a:t>
            </a:r>
          </a:p>
        </p:txBody>
      </p:sp>
      <p:sp>
        <p:nvSpPr>
          <p:cNvPr id="13" name="Mod3"/>
          <p:cNvSpPr/>
          <p:nvPr/>
        </p:nvSpPr>
        <p:spPr>
          <a:xfrm>
            <a:off x="182880" y="2743200"/>
            <a:ext cx="4298640" cy="50292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45720" rIns="114300" bIns="45720" rtlCol="0" anchor="ctr"/>
          <a:lstStyle/>
          <a:p>
            <a:pPr marL="0" indent="0">
              <a:buNone/>
            </a:pPr>
            <a:r>
              <a:rPr lang="es-ES" sz="870" b="1" dirty="0">
                <a:solidFill>
                  <a:srgbClr val="4A1A6B"/>
                </a:solidFill>
                <a:latin typeface="Consolas" pitchFamily="34" charset="0"/>
              </a:rPr>
              <a:t>_feature_engineering.py</a:t>
            </a:r>
          </a:p>
          <a:p>
            <a:pPr marL="0" indent="0">
              <a:buNone/>
            </a:pPr>
            <a:r>
              <a:rPr lang="es-ES" sz="820" dirty="0">
                <a:solidFill>
                  <a:srgbClr val="374151"/>
                </a:solidFill>
                <a:latin typeface="Calibri" pitchFamily="34" charset="0"/>
              </a:rPr>
              <a:t>preprocesar_nuevos() + codificar_nuevos() con encoders guardados</a:t>
            </a:r>
          </a:p>
        </p:txBody>
      </p:sp>
      <p:sp>
        <p:nvSpPr>
          <p:cNvPr id="14" name="Mod4"/>
          <p:cNvSpPr/>
          <p:nvPr/>
        </p:nvSpPr>
        <p:spPr>
          <a:xfrm>
            <a:off x="182880" y="3291840"/>
            <a:ext cx="4298640" cy="50292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45720" rIns="114300" bIns="45720" rtlCol="0" anchor="ctr"/>
          <a:lstStyle/>
          <a:p>
            <a:pPr marL="0" indent="0">
              <a:buNone/>
            </a:pPr>
            <a:r>
              <a:rPr lang="es-ES" sz="870" b="1" dirty="0">
                <a:solidFill>
                  <a:srgbClr val="1A5C5C"/>
                </a:solidFill>
                <a:latin typeface="Consolas" pitchFamily="34" charset="0"/>
              </a:rPr>
              <a:t>_predictor.py</a:t>
            </a:r>
          </a:p>
          <a:p>
            <a:pPr marL="0" indent="0">
              <a:buNone/>
            </a:pPr>
            <a:r>
              <a:rPr lang="es-ES" sz="820" dirty="0">
                <a:solidFill>
                  <a:srgbClr val="374151"/>
                </a:solidFill>
                <a:latin typeface="Calibri" pitchFamily="34" charset="0"/>
              </a:rPr>
              <a:t>cargar_modelos() + predecir_nuevos() + mostrar_resultados()</a:t>
            </a:r>
          </a:p>
        </p:txBody>
      </p:sp>
      <p:sp>
        <p:nvSpPr>
          <p:cNvPr id="15" name="Mod5"/>
          <p:cNvSpPr/>
          <p:nvPr/>
        </p:nvSpPr>
        <p:spPr>
          <a:xfrm>
            <a:off x="182880" y="3840480"/>
            <a:ext cx="4298640" cy="50292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45720" rIns="114300" bIns="45720" rtlCol="0" anchor="ctr"/>
          <a:lstStyle/>
          <a:p>
            <a:pPr marL="0" indent="0">
              <a:buNone/>
            </a:pPr>
            <a:r>
              <a:rPr lang="es-ES" sz="870" b="1" dirty="0">
                <a:solidFill>
                  <a:srgbClr val="2C4A1A"/>
                </a:solidFill>
                <a:latin typeface="Consolas" pitchFamily="34" charset="0"/>
              </a:rPr>
              <a:t>run.py</a:t>
            </a:r>
          </a:p>
          <a:p>
            <a:pPr marL="0" indent="0">
              <a:buNone/>
            </a:pPr>
            <a:r>
              <a:rPr lang="es-ES" sz="820" dirty="0">
                <a:solidFill>
                  <a:srgbClr val="374151"/>
                </a:solidFill>
                <a:latin typeface="Calibri" pitchFamily="34" charset="0"/>
              </a:rPr>
              <a:t>Lanzador: subprocess.run([streamlit, run, App/main.py])</a:t>
            </a:r>
          </a:p>
        </p:txBody>
      </p:sp>
      <p:sp>
        <p:nvSpPr>
          <p:cNvPr id="20" name="LblFlujo"/>
          <p:cNvSpPr/>
          <p:nvPr/>
        </p:nvSpPr>
        <p:spPr>
          <a:xfrm>
            <a:off x="4663440" y="868680"/>
            <a:ext cx="4298640" cy="228600"/>
          </a:xfrm>
          <a:prstGeom prst="rect">
            <a:avLst/>
          </a:prstGeom>
          <a:solidFill>
            <a:srgbClr val="1F5C40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950" b="1" dirty="0">
                <a:solidFill>
                  <a:srgbClr val="D4A843"/>
                </a:solidFill>
                <a:latin typeface="Calibri" pitchFamily="34" charset="0"/>
              </a:rPr>
              <a:t>🔁  Flujo real (Busqueda.py)</a:t>
            </a:r>
          </a:p>
        </p:txBody>
      </p:sp>
      <p:sp>
        <p:nvSpPr>
          <p:cNvPr id="30" name="Step0"/>
          <p:cNvSpPr/>
          <p:nvPr/>
        </p:nvSpPr>
        <p:spPr>
          <a:xfrm>
            <a:off x="4663440" y="1097280"/>
            <a:ext cx="274320" cy="502920"/>
          </a:xfrm>
          <a:prstGeom prst="rect">
            <a:avLst/>
          </a:prstGeom>
          <a:solidFill>
            <a:srgbClr val="2A5080"/>
          </a:solidFill>
          <a:ln/>
        </p:spPr>
        <p:txBody>
          <a:bodyPr wrap="square" lIns="0" tIns="91440" rIns="0" bIns="0" rtlCol="0" anchor="ctr"/>
          <a:lstStyle/>
          <a:p>
            <a:pPr marL="0" indent="0">
              <a:buNone/>
            </a:pPr>
            <a:r>
              <a:rPr lang="es-ES" sz="18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40" name="StepTxt0"/>
          <p:cNvSpPr/>
          <p:nvPr/>
        </p:nvSpPr>
        <p:spPr>
          <a:xfrm>
            <a:off x="4937760" y="1097280"/>
            <a:ext cx="4024560" cy="50292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45720" rIns="114300" bIns="45720" rtlCol="0" anchor="ctr"/>
          <a:lstStyle/>
          <a:p>
            <a:pPr marL="0" indent="0">
              <a:buNone/>
            </a:pPr>
            <a:r>
              <a:rPr lang="es-ES" sz="870" b="1" dirty="0">
                <a:solidFill>
                  <a:srgbClr val="2A5080"/>
                </a:solidFill>
                <a:latin typeface="Calibri" pitchFamily="34" charset="0"/>
              </a:rPr>
              <a:t>Formulario usuario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374151"/>
                </a:solidFill>
                <a:latin typeface="Calibri" pitchFamily="34" charset="0"/>
              </a:rPr>
              <a:t>Provincia/localidad, fechas, tipo, 16 filtros (piscina, spa, mascotas, desayuno...)</a:t>
            </a:r>
          </a:p>
        </p:txBody>
      </p:sp>
      <p:sp>
        <p:nvSpPr>
          <p:cNvPr id="31" name="Step1"/>
          <p:cNvSpPr/>
          <p:nvPr/>
        </p:nvSpPr>
        <p:spPr>
          <a:xfrm>
            <a:off x="4663440" y="1645920"/>
            <a:ext cx="274320" cy="502920"/>
          </a:xfrm>
          <a:prstGeom prst="rect">
            <a:avLst/>
          </a:prstGeom>
          <a:solidFill>
            <a:srgbClr val="5C3A1E"/>
          </a:solidFill>
          <a:ln/>
        </p:spPr>
        <p:txBody>
          <a:bodyPr wrap="square" lIns="0" tIns="91440" rIns="0" bIns="0" rtlCol="0" anchor="ctr"/>
          <a:lstStyle/>
          <a:p>
            <a:pPr marL="0" indent="0">
              <a:buNone/>
            </a:pPr>
            <a:r>
              <a:rPr lang="es-ES" sz="18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41" name="StepTxt1"/>
          <p:cNvSpPr/>
          <p:nvPr/>
        </p:nvSpPr>
        <p:spPr>
          <a:xfrm>
            <a:off x="4937760" y="1645920"/>
            <a:ext cx="4024560" cy="50292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45720" rIns="114300" bIns="45720" rtlCol="0" anchor="ctr"/>
          <a:lstStyle/>
          <a:p>
            <a:pPr marL="0" indent="0">
              <a:buNone/>
            </a:pPr>
            <a:r>
              <a:rPr lang="es-ES" sz="870" b="1" dirty="0">
                <a:solidFill>
                  <a:srgbClr val="5C3A1E"/>
                </a:solidFill>
                <a:latin typeface="Calibri" pitchFamily="34" charset="0"/>
              </a:rPr>
              <a:t>scrape_busqueda()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374151"/>
                </a:solidFill>
                <a:latin typeface="Calibri" pitchFamily="34" charset="0"/>
              </a:rPr>
              <a:t>Playwright async → listado Booking + BookingExtractor → fichas detalle (max 25 por lugar)</a:t>
            </a:r>
          </a:p>
        </p:txBody>
      </p:sp>
      <p:sp>
        <p:nvSpPr>
          <p:cNvPr id="32" name="Step2"/>
          <p:cNvSpPr/>
          <p:nvPr/>
        </p:nvSpPr>
        <p:spPr>
          <a:xfrm>
            <a:off x="4663440" y="2194560"/>
            <a:ext cx="274320" cy="502920"/>
          </a:xfrm>
          <a:prstGeom prst="rect">
            <a:avLst/>
          </a:prstGeom>
          <a:solidFill>
            <a:srgbClr val="4A1A6B"/>
          </a:solidFill>
          <a:ln/>
        </p:spPr>
        <p:txBody>
          <a:bodyPr wrap="square" lIns="0" tIns="91440" rIns="0" bIns="0" rtlCol="0" anchor="ctr"/>
          <a:lstStyle/>
          <a:p>
            <a:pPr marL="0" indent="0">
              <a:buNone/>
            </a:pPr>
            <a:r>
              <a:rPr lang="es-ES" sz="18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42" name="StepTxt2"/>
          <p:cNvSpPr/>
          <p:nvPr/>
        </p:nvSpPr>
        <p:spPr>
          <a:xfrm>
            <a:off x="4937760" y="2194560"/>
            <a:ext cx="4024560" cy="50292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45720" rIns="114300" bIns="45720" rtlCol="0" anchor="ctr"/>
          <a:lstStyle/>
          <a:p>
            <a:pPr marL="0" indent="0">
              <a:buNone/>
            </a:pPr>
            <a:r>
              <a:rPr lang="es-ES" sz="870" b="1" dirty="0">
                <a:solidFill>
                  <a:srgbClr val="4A1A6B"/>
                </a:solidFill>
                <a:latin typeface="Calibri" pitchFamily="34" charset="0"/>
              </a:rPr>
              <a:t>preprocesar_nuevos()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374151"/>
                </a:solidFill>
                <a:latin typeface="Calibri" pitchFamily="34" charset="0"/>
              </a:rPr>
              <a:t>Extrae servicios, distancia Haversine, es_finde, dias_restantes... Igual que preprocessing.py</a:t>
            </a:r>
          </a:p>
        </p:txBody>
      </p:sp>
      <p:sp>
        <p:nvSpPr>
          <p:cNvPr id="33" name="Step3"/>
          <p:cNvSpPr/>
          <p:nvPr/>
        </p:nvSpPr>
        <p:spPr>
          <a:xfrm>
            <a:off x="4663440" y="2743200"/>
            <a:ext cx="274320" cy="502920"/>
          </a:xfrm>
          <a:prstGeom prst="rect">
            <a:avLst/>
          </a:prstGeom>
          <a:solidFill>
            <a:srgbClr val="1A4A8C"/>
          </a:solidFill>
          <a:ln/>
        </p:spPr>
        <p:txBody>
          <a:bodyPr wrap="square" lIns="0" tIns="91440" rIns="0" bIns="0" rtlCol="0" anchor="ctr"/>
          <a:lstStyle/>
          <a:p>
            <a:pPr marL="0" indent="0">
              <a:buNone/>
            </a:pPr>
            <a:r>
              <a:rPr lang="es-ES" sz="1800" b="1" dirty="0">
                <a:solidFill>
                  <a:srgbClr val="FFFFFF"/>
                </a:solidFill>
                <a:latin typeface="Calibri" pitchFamily="34" charset="0"/>
              </a:rPr>
              <a:t>4</a:t>
            </a:r>
          </a:p>
        </p:txBody>
      </p:sp>
      <p:sp>
        <p:nvSpPr>
          <p:cNvPr id="43" name="StepTxt3"/>
          <p:cNvSpPr/>
          <p:nvPr/>
        </p:nvSpPr>
        <p:spPr>
          <a:xfrm>
            <a:off x="4937760" y="2743200"/>
            <a:ext cx="4024560" cy="50292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45720" rIns="114300" bIns="45720" rtlCol="0" anchor="ctr"/>
          <a:lstStyle/>
          <a:p>
            <a:pPr marL="0" indent="0">
              <a:buNone/>
            </a:pPr>
            <a:r>
              <a:rPr lang="es-ES" sz="870" b="1" dirty="0">
                <a:solidFill>
                  <a:srgbClr val="1A4A8C"/>
                </a:solidFill>
                <a:latin typeface="Calibri" pitchFamily="34" charset="0"/>
              </a:rPr>
              <a:t>codificar_nuevos()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374151"/>
                </a:solidFill>
                <a:latin typeface="Calibri" pitchFamily="34" charset="0"/>
              </a:rPr>
              <a:t>Aplica le_localidad.pkl + le_provincia.pkl + columnas_modelo.pkl guardados en training</a:t>
            </a:r>
          </a:p>
        </p:txBody>
      </p:sp>
      <p:sp>
        <p:nvSpPr>
          <p:cNvPr id="34" name="Step4"/>
          <p:cNvSpPr/>
          <p:nvPr/>
        </p:nvSpPr>
        <p:spPr>
          <a:xfrm>
            <a:off x="4663440" y="3291840"/>
            <a:ext cx="274320" cy="502920"/>
          </a:xfrm>
          <a:prstGeom prst="rect">
            <a:avLst/>
          </a:prstGeom>
          <a:solidFill>
            <a:srgbClr val="1F5C40"/>
          </a:solidFill>
          <a:ln/>
        </p:spPr>
        <p:txBody>
          <a:bodyPr wrap="square" lIns="0" tIns="91440" rIns="0" bIns="0" rtlCol="0" anchor="ctr"/>
          <a:lstStyle/>
          <a:p>
            <a:pPr marL="0" indent="0">
              <a:buNone/>
            </a:pPr>
            <a:r>
              <a:rPr lang="es-ES" sz="1800" b="1" dirty="0">
                <a:solidFill>
                  <a:srgbClr val="FFFFFF"/>
                </a:solidFill>
                <a:latin typeface="Calibri" pitchFamily="34" charset="0"/>
              </a:rPr>
              <a:t>5</a:t>
            </a:r>
          </a:p>
        </p:txBody>
      </p:sp>
      <p:sp>
        <p:nvSpPr>
          <p:cNvPr id="44" name="StepTxt4"/>
          <p:cNvSpPr/>
          <p:nvPr/>
        </p:nvSpPr>
        <p:spPr>
          <a:xfrm>
            <a:off x="4937760" y="3291840"/>
            <a:ext cx="4024560" cy="50292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45720" rIns="114300" bIns="45720" rtlCol="0" anchor="ctr"/>
          <a:lstStyle/>
          <a:p>
            <a:pPr marL="0" indent="0">
              <a:buNone/>
            </a:pPr>
            <a:r>
              <a:rPr lang="es-ES" sz="870" b="1" dirty="0">
                <a:solidFill>
                  <a:srgbClr val="1F5C40"/>
                </a:solidFill>
                <a:latin typeface="Calibri" pitchFamily="34" charset="0"/>
              </a:rPr>
              <a:t>predecir_nuevos()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374151"/>
                </a:solidFill>
                <a:latin typeface="Calibri" pitchFamily="34" charset="0"/>
              </a:rPr>
              <a:t>bosque_aleatorio_reg.pkl → y_pred × n_noches → crear_etiqueta_chollo() → categoría</a:t>
            </a:r>
          </a:p>
        </p:txBody>
      </p:sp>
      <p:sp>
        <p:nvSpPr>
          <p:cNvPr id="35" name="Step5"/>
          <p:cNvSpPr/>
          <p:nvPr/>
        </p:nvSpPr>
        <p:spPr>
          <a:xfrm>
            <a:off x="4663440" y="3840480"/>
            <a:ext cx="274320" cy="502920"/>
          </a:xfrm>
          <a:prstGeom prst="rect">
            <a:avLst/>
          </a:prstGeom>
          <a:solidFill>
            <a:srgbClr val="1A2E4A"/>
          </a:solidFill>
          <a:ln/>
        </p:spPr>
        <p:txBody>
          <a:bodyPr wrap="square" lIns="0" tIns="91440" rIns="0" bIns="0" rtlCol="0" anchor="ctr"/>
          <a:lstStyle/>
          <a:p>
            <a:pPr marL="0" indent="0">
              <a:buNone/>
            </a:pPr>
            <a:r>
              <a:rPr lang="es-ES" sz="1800" b="1" dirty="0">
                <a:solidFill>
                  <a:srgbClr val="FFFFFF"/>
                </a:solidFill>
                <a:latin typeface="Calibri" pitchFamily="34" charset="0"/>
              </a:rPr>
              <a:t>6</a:t>
            </a:r>
          </a:p>
        </p:txBody>
      </p:sp>
      <p:sp>
        <p:nvSpPr>
          <p:cNvPr id="45" name="StepTxt5"/>
          <p:cNvSpPr/>
          <p:nvPr/>
        </p:nvSpPr>
        <p:spPr>
          <a:xfrm>
            <a:off x="4937760" y="3840480"/>
            <a:ext cx="4024560" cy="50292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lIns="114300" tIns="45720" rIns="114300" bIns="45720" rtlCol="0" anchor="ctr"/>
          <a:lstStyle/>
          <a:p>
            <a:pPr marL="0" indent="0">
              <a:buNone/>
            </a:pPr>
            <a:r>
              <a:rPr lang="es-ES" sz="870" b="1" dirty="0">
                <a:solidFill>
                  <a:srgbClr val="1A2E4A"/>
                </a:solidFill>
                <a:latin typeface="Calibri" pitchFamily="34" charset="0"/>
              </a:rPr>
              <a:t>mostrar_resultados()</a:t>
            </a:r>
          </a:p>
          <a:p>
            <a:pPr marL="0" indent="0">
              <a:buNone/>
            </a:pPr>
            <a:r>
              <a:rPr lang="es-ES" sz="800" dirty="0">
                <a:solidFill>
                  <a:srgbClr val="374151"/>
                </a:solidFill>
                <a:latin typeface="Calibri" pitchFamily="34" charset="0"/>
              </a:rPr>
              <a:t>st.dataframe() ordenado por ahorro + gráfico pie de categorías con plotly</a:t>
            </a:r>
          </a:p>
        </p:txBody>
      </p:sp>
      <p:sp>
        <p:nvSpPr>
          <p:cNvPr id="97" name="Footer"/>
          <p:cNvSpPr/>
          <p:nvPr/>
        </p:nvSpPr>
        <p:spPr>
          <a:xfrm>
            <a:off x="457200" y="4826520"/>
            <a:ext cx="7772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800" dirty="0">
                <a:solidFill>
                  <a:srgbClr val="4A6080"/>
                </a:solidFill>
                <a:latin typeface="Calibri" pitchFamily="34" charset="0"/>
              </a:rPr>
              <a:t>TFG · Detector de Chollos en Andalucía · Mario Jiménez · Universidad de Sevilla</a:t>
            </a:r>
          </a:p>
        </p:txBody>
      </p:sp>
      <p:sp>
        <p:nvSpPr>
          <p:cNvPr id="98" name="PageNum"/>
          <p:cNvSpPr/>
          <p:nvPr/>
        </p:nvSpPr>
        <p:spPr>
          <a:xfrm>
            <a:off x="859464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s-ES" sz="900" dirty="0">
              <a:solidFill>
                <a:srgbClr val="4A6080"/>
              </a:solidFill>
              <a:latin typeface="Calibri" pitchFamily="34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ld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Hdr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2E4A"/>
          </a:solidFill>
          <a:ln/>
        </p:spPr>
      </p:sp>
      <p:sp>
        <p:nvSpPr>
          <p:cNvPr id="4" name="Title"/>
          <p:cNvSpPr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400" b="1" dirty="0">
                <a:solidFill>
                  <a:srgbClr val="FFFFFF"/>
                </a:solidFill>
                <a:latin typeface="Calibri" pitchFamily="34" charset="0"/>
              </a:rPr>
              <a:t>Conclusiones y Trabajo Futuro</a:t>
            </a:r>
          </a:p>
        </p:txBody>
      </p:sp>
      <p:sp>
        <p:nvSpPr>
          <p:cNvPr id="5" name="Sub"/>
          <p:cNvSpPr/>
          <p:nvPr/>
        </p:nvSpPr>
        <p:spPr>
          <a:xfrm>
            <a:off x="457200" y="603504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 dirty="0">
                <a:solidFill>
                  <a:srgbClr val="F0C060"/>
                </a:solidFill>
                <a:latin typeface="Calibri" pitchFamily="34" charset="0"/>
              </a:rPr>
              <a:t>Reflexiones finales sobre el proyecto</a:t>
            </a:r>
          </a:p>
        </p:txBody>
      </p:sp>
      <p:sp>
        <p:nvSpPr>
          <p:cNvPr id="10" name="Card0"/>
          <p:cNvSpPr/>
          <p:nvPr/>
        </p:nvSpPr>
        <p:spPr>
          <a:xfrm>
            <a:off x="182880" y="948960"/>
            <a:ext cx="4389120" cy="14630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0" name="Bar0"/>
          <p:cNvSpPr/>
          <p:nvPr/>
        </p:nvSpPr>
        <p:spPr>
          <a:xfrm>
            <a:off x="182880" y="948960"/>
            <a:ext cx="54864" cy="1463040"/>
          </a:xfrm>
          <a:prstGeom prst="rect">
            <a:avLst/>
          </a:prstGeom>
          <a:solidFill>
            <a:srgbClr val="1F5C40"/>
          </a:solidFill>
          <a:ln/>
        </p:spPr>
      </p:sp>
      <p:sp>
        <p:nvSpPr>
          <p:cNvPr id="60" name="Num0"/>
          <p:cNvSpPr/>
          <p:nvPr/>
        </p:nvSpPr>
        <p:spPr>
          <a:xfrm>
            <a:off x="256320" y="1003824"/>
            <a:ext cx="365760" cy="365760"/>
          </a:xfrm>
          <a:prstGeom prst="rect">
            <a:avLst/>
          </a:prstGeom>
          <a:solidFill>
            <a:srgbClr val="1F5C40"/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8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70" name="CTitle0"/>
          <p:cNvSpPr/>
          <p:nvPr/>
        </p:nvSpPr>
        <p:spPr>
          <a:xfrm>
            <a:off x="685800" y="1022400"/>
            <a:ext cx="3831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050" b="1" dirty="0">
                <a:solidFill>
                  <a:srgbClr val="D4A843"/>
                </a:solidFill>
                <a:latin typeface="Calibri" pitchFamily="34" charset="0"/>
              </a:rPr>
              <a:t>El precio “justo” es predecible</a:t>
            </a:r>
          </a:p>
        </p:txBody>
      </p:sp>
      <p:sp>
        <p:nvSpPr>
          <p:cNvPr id="80" name="CBody0"/>
          <p:cNvSpPr/>
          <p:nvPr/>
        </p:nvSpPr>
        <p:spPr>
          <a:xfrm>
            <a:off x="274320" y="1406160"/>
            <a:ext cx="4206240" cy="9144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s-ES" sz="880" dirty="0">
                <a:solidFill>
                  <a:srgbClr val="F4F8FC"/>
                </a:solidFill>
                <a:latin typeface="Calibri" pitchFamily="34" charset="0"/>
              </a:rPr>
              <a:t>El Bosque Aleatorio explica el 87,8 % de la varianza del precio (R² = 0.8779) con un error medio de ±19,45 €. El precio de un alojamiento no es aleatorio: depende fundamentalmente del tamaño, la ubicación y la temporalidad.</a:t>
            </a:r>
          </a:p>
        </p:txBody>
      </p:sp>
      <p:sp>
        <p:nvSpPr>
          <p:cNvPr id="11" name="Card1"/>
          <p:cNvSpPr/>
          <p:nvPr/>
        </p:nvSpPr>
        <p:spPr>
          <a:xfrm>
            <a:off x="4663440" y="948960"/>
            <a:ext cx="4389120" cy="14630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1" name="Bar1"/>
          <p:cNvSpPr/>
          <p:nvPr/>
        </p:nvSpPr>
        <p:spPr>
          <a:xfrm>
            <a:off x="4663440" y="948960"/>
            <a:ext cx="54864" cy="1463040"/>
          </a:xfrm>
          <a:prstGeom prst="rect">
            <a:avLst/>
          </a:prstGeom>
          <a:solidFill>
            <a:srgbClr val="1A4A8C"/>
          </a:solidFill>
          <a:ln/>
        </p:spPr>
      </p:sp>
      <p:sp>
        <p:nvSpPr>
          <p:cNvPr id="61" name="Num1"/>
          <p:cNvSpPr/>
          <p:nvPr/>
        </p:nvSpPr>
        <p:spPr>
          <a:xfrm>
            <a:off x="4736880" y="1003824"/>
            <a:ext cx="365760" cy="365760"/>
          </a:xfrm>
          <a:prstGeom prst="rect">
            <a:avLst/>
          </a:prstGeom>
          <a:solidFill>
            <a:srgbClr val="1A4A8C"/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8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71" name="CTitle1"/>
          <p:cNvSpPr/>
          <p:nvPr/>
        </p:nvSpPr>
        <p:spPr>
          <a:xfrm>
            <a:off x="5166360" y="1022400"/>
            <a:ext cx="3831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050" b="1" dirty="0">
                <a:solidFill>
                  <a:srgbClr val="D4A843"/>
                </a:solidFill>
                <a:latin typeface="Calibri" pitchFamily="34" charset="0"/>
              </a:rPr>
              <a:t>Casi 1 de cada 2 alojamientos es un chollo</a:t>
            </a:r>
          </a:p>
        </p:txBody>
      </p:sp>
      <p:sp>
        <p:nvSpPr>
          <p:cNvPr id="81" name="CBody1"/>
          <p:cNvSpPr/>
          <p:nvPr/>
        </p:nvSpPr>
        <p:spPr>
          <a:xfrm>
            <a:off x="4754880" y="1406160"/>
            <a:ext cx="4206240" cy="9144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s-ES" sz="880" dirty="0">
                <a:solidFill>
                  <a:srgbClr val="F4F8FC"/>
                </a:solidFill>
                <a:latin typeface="Calibri" pitchFamily="34" charset="0"/>
              </a:rPr>
              <a:t>El 49,9 % de los alojamientos del conjunto de test tienen un precio inferior al predicho. Booking.com tiene una variabilidad de precios real que el usuario no puede percibir sin apoyo de ML.</a:t>
            </a:r>
          </a:p>
        </p:txBody>
      </p:sp>
      <p:sp>
        <p:nvSpPr>
          <p:cNvPr id="12" name="Card2"/>
          <p:cNvSpPr/>
          <p:nvPr/>
        </p:nvSpPr>
        <p:spPr>
          <a:xfrm>
            <a:off x="182880" y="2560080"/>
            <a:ext cx="4389120" cy="14630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2" name="Bar2"/>
          <p:cNvSpPr/>
          <p:nvPr/>
        </p:nvSpPr>
        <p:spPr>
          <a:xfrm>
            <a:off x="182880" y="2560080"/>
            <a:ext cx="54864" cy="1463040"/>
          </a:xfrm>
          <a:prstGeom prst="rect">
            <a:avLst/>
          </a:prstGeom>
          <a:solidFill>
            <a:srgbClr val="7B341E"/>
          </a:solidFill>
          <a:ln/>
        </p:spPr>
      </p:sp>
      <p:sp>
        <p:nvSpPr>
          <p:cNvPr id="62" name="Num2"/>
          <p:cNvSpPr/>
          <p:nvPr/>
        </p:nvSpPr>
        <p:spPr>
          <a:xfrm>
            <a:off x="256320" y="2614944"/>
            <a:ext cx="365760" cy="365760"/>
          </a:xfrm>
          <a:prstGeom prst="rect">
            <a:avLst/>
          </a:prstGeom>
          <a:solidFill>
            <a:srgbClr val="7B341E"/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8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72" name="CTitle2"/>
          <p:cNvSpPr/>
          <p:nvPr/>
        </p:nvSpPr>
        <p:spPr>
          <a:xfrm>
            <a:off x="685800" y="2633520"/>
            <a:ext cx="3831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050" b="1" dirty="0">
                <a:solidFill>
                  <a:srgbClr val="D4A843"/>
                </a:solidFill>
                <a:latin typeface="Calibri" pitchFamily="34" charset="0"/>
              </a:rPr>
              <a:t>La calidad del dato importa más que el modelo</a:t>
            </a:r>
          </a:p>
        </p:txBody>
      </p:sp>
      <p:sp>
        <p:nvSpPr>
          <p:cNvPr id="82" name="CBody2"/>
          <p:cNvSpPr/>
          <p:nvPr/>
        </p:nvSpPr>
        <p:spPr>
          <a:xfrm>
            <a:off x="274320" y="3017280"/>
            <a:ext cx="4206240" cy="9144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s-ES" sz="880" dirty="0">
                <a:solidFill>
                  <a:srgbClr val="F4F8FC"/>
                </a:solidFill>
                <a:latin typeface="Calibri" pitchFamily="34" charset="0"/>
              </a:rPr>
              <a:t>El scraping en 2 fases, la geocodificación, la extracción de servicios binarios y la gestión de outliers fueron más determinantes para el resultado final que la elección del algoritmo.</a:t>
            </a:r>
          </a:p>
        </p:txBody>
      </p:sp>
      <p:sp>
        <p:nvSpPr>
          <p:cNvPr id="13" name="Card3"/>
          <p:cNvSpPr/>
          <p:nvPr/>
        </p:nvSpPr>
        <p:spPr>
          <a:xfrm>
            <a:off x="4663440" y="2560080"/>
            <a:ext cx="4389120" cy="14630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3" name="Bar3"/>
          <p:cNvSpPr/>
          <p:nvPr/>
        </p:nvSpPr>
        <p:spPr>
          <a:xfrm>
            <a:off x="4663440" y="2560080"/>
            <a:ext cx="54864" cy="1463040"/>
          </a:xfrm>
          <a:prstGeom prst="rect">
            <a:avLst/>
          </a:prstGeom>
          <a:solidFill>
            <a:srgbClr val="4A1A6B"/>
          </a:solidFill>
          <a:ln/>
        </p:spPr>
      </p:sp>
      <p:sp>
        <p:nvSpPr>
          <p:cNvPr id="63" name="Num3"/>
          <p:cNvSpPr/>
          <p:nvPr/>
        </p:nvSpPr>
        <p:spPr>
          <a:xfrm>
            <a:off x="4736880" y="2614944"/>
            <a:ext cx="365760" cy="365760"/>
          </a:xfrm>
          <a:prstGeom prst="rect">
            <a:avLst/>
          </a:prstGeom>
          <a:solidFill>
            <a:srgbClr val="4A1A6B"/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800" b="1" dirty="0">
                <a:solidFill>
                  <a:srgbClr val="FFFFFF"/>
                </a:solidFill>
                <a:latin typeface="Calibri" pitchFamily="34" charset="0"/>
              </a:rPr>
              <a:t>4</a:t>
            </a:r>
          </a:p>
        </p:txBody>
      </p:sp>
      <p:sp>
        <p:nvSpPr>
          <p:cNvPr id="73" name="CTitle3"/>
          <p:cNvSpPr/>
          <p:nvPr/>
        </p:nvSpPr>
        <p:spPr>
          <a:xfrm>
            <a:off x="5166360" y="2633520"/>
            <a:ext cx="3831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050" b="1" dirty="0">
                <a:solidFill>
                  <a:srgbClr val="D4A843"/>
                </a:solidFill>
                <a:latin typeface="Calibri" pitchFamily="34" charset="0"/>
              </a:rPr>
              <a:t>Un sistema end-to-end es más que la suma de sus partes</a:t>
            </a:r>
          </a:p>
        </p:txBody>
      </p:sp>
      <p:sp>
        <p:nvSpPr>
          <p:cNvPr id="83" name="CBody3"/>
          <p:cNvSpPr/>
          <p:nvPr/>
        </p:nvSpPr>
        <p:spPr>
          <a:xfrm>
            <a:off x="4754880" y="3017280"/>
            <a:ext cx="4206240" cy="9144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s-ES" sz="880" dirty="0">
                <a:solidFill>
                  <a:srgbClr val="F4F8FC"/>
                </a:solidFill>
                <a:latin typeface="Calibri" pitchFamily="34" charset="0"/>
              </a:rPr>
              <a:t>Conectar scraping → preprocesamiento → modelización → app web en un único sistema reproducible es el verdadero reto de ingeniería. El modelo solo funciona si todos los eslabónes están bien alineados.</a:t>
            </a:r>
          </a:p>
        </p:txBody>
      </p:sp>
      <p:sp>
        <p:nvSpPr>
          <p:cNvPr id="30" name="FutLbl"/>
          <p:cNvSpPr/>
          <p:nvPr/>
        </p:nvSpPr>
        <p:spPr>
          <a:xfrm>
            <a:off x="182880" y="4097400"/>
            <a:ext cx="8778240" cy="228600"/>
          </a:xfrm>
          <a:prstGeom prst="rect">
            <a:avLst/>
          </a:prstGeom>
          <a:solidFill>
            <a:srgbClr val="2A5080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1000" b="1" dirty="0">
                <a:solidFill>
                  <a:srgbClr val="D4A843"/>
                </a:solidFill>
                <a:latin typeface="Calibri" pitchFamily="34" charset="0"/>
              </a:rPr>
              <a:t>🔭  Líneas de trabajo futuro</a:t>
            </a:r>
          </a:p>
        </p:txBody>
      </p:sp>
      <p:sp>
        <p:nvSpPr>
          <p:cNvPr id="40" name="Fut0"/>
          <p:cNvSpPr/>
          <p:nvPr/>
        </p:nvSpPr>
        <p:spPr>
          <a:xfrm>
            <a:off x="182880" y="4371480"/>
            <a:ext cx="2184840" cy="365760"/>
          </a:xfrm>
          <a:prstGeom prst="rect">
            <a:avLst/>
          </a:prstGeom>
          <a:solidFill>
            <a:srgbClr val="1E3A5F"/>
          </a:solidFill>
          <a:ln>
            <a:solidFill>
              <a:srgbClr val="2A5080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880" dirty="0">
                <a:solidFill>
                  <a:srgbClr val="F4F8FC"/>
                </a:solidFill>
                <a:latin typeface="Calibri" pitchFamily="34" charset="0"/>
              </a:rPr>
              <a:t>→  Despliegue Streamlit Cloud</a:t>
            </a:r>
          </a:p>
        </p:txBody>
      </p:sp>
      <p:sp>
        <p:nvSpPr>
          <p:cNvPr id="41" name="Fut1"/>
          <p:cNvSpPr/>
          <p:nvPr/>
        </p:nvSpPr>
        <p:spPr>
          <a:xfrm>
            <a:off x="2377440" y="4371480"/>
            <a:ext cx="2184840" cy="365760"/>
          </a:xfrm>
          <a:prstGeom prst="rect">
            <a:avLst/>
          </a:prstGeom>
          <a:solidFill>
            <a:srgbClr val="1E3A5F"/>
          </a:solidFill>
          <a:ln>
            <a:solidFill>
              <a:srgbClr val="1F5C40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880" dirty="0">
                <a:solidFill>
                  <a:srgbClr val="F4F8FC"/>
                </a:solidFill>
                <a:latin typeface="Calibri" pitchFamily="34" charset="0"/>
              </a:rPr>
              <a:t>→  ML no supervisado</a:t>
            </a:r>
          </a:p>
        </p:txBody>
      </p:sp>
      <p:sp>
        <p:nvSpPr>
          <p:cNvPr id="42" name="Fut2"/>
          <p:cNvSpPr/>
          <p:nvPr/>
        </p:nvSpPr>
        <p:spPr>
          <a:xfrm>
            <a:off x="4572000" y="4371480"/>
            <a:ext cx="2184840" cy="365760"/>
          </a:xfrm>
          <a:prstGeom prst="rect">
            <a:avLst/>
          </a:prstGeom>
          <a:solidFill>
            <a:srgbClr val="1E3A5F"/>
          </a:solidFill>
          <a:ln>
            <a:solidFill>
              <a:srgbClr val="5C3A1E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880" dirty="0">
                <a:solidFill>
                  <a:srgbClr val="F4F8FC"/>
                </a:solidFill>
                <a:latin typeface="Calibri" pitchFamily="34" charset="0"/>
              </a:rPr>
              <a:t>→  Ampliar a Airbnb / Idealista</a:t>
            </a:r>
          </a:p>
        </p:txBody>
      </p:sp>
      <p:sp>
        <p:nvSpPr>
          <p:cNvPr id="43" name="Fut3"/>
          <p:cNvSpPr/>
          <p:nvPr/>
        </p:nvSpPr>
        <p:spPr>
          <a:xfrm>
            <a:off x="6766560" y="4371480"/>
            <a:ext cx="2184840" cy="365760"/>
          </a:xfrm>
          <a:prstGeom prst="rect">
            <a:avLst/>
          </a:prstGeom>
          <a:solidFill>
            <a:srgbClr val="1E3A5F"/>
          </a:solidFill>
          <a:ln>
            <a:solidFill>
              <a:srgbClr val="4A1A6B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ES" sz="880" dirty="0">
                <a:solidFill>
                  <a:srgbClr val="F4F8FC"/>
                </a:solidFill>
                <a:latin typeface="Calibri" pitchFamily="34" charset="0"/>
              </a:rPr>
              <a:t>→  Alertas automáticas</a:t>
            </a:r>
          </a:p>
        </p:txBody>
      </p:sp>
      <p:sp>
        <p:nvSpPr>
          <p:cNvPr id="97" name="Footer"/>
          <p:cNvSpPr/>
          <p:nvPr/>
        </p:nvSpPr>
        <p:spPr>
          <a:xfrm>
            <a:off x="457200" y="4826520"/>
            <a:ext cx="7772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800" dirty="0">
                <a:solidFill>
                  <a:srgbClr val="4A6080"/>
                </a:solidFill>
                <a:latin typeface="Calibri" pitchFamily="34" charset="0"/>
              </a:rPr>
              <a:t>TFG · Detector de Chollos en Andalucía · Mario Jiménez · Universidad de Sevilla</a:t>
            </a:r>
          </a:p>
        </p:txBody>
      </p:sp>
      <p:sp>
        <p:nvSpPr>
          <p:cNvPr id="98" name="PageNum"/>
          <p:cNvSpPr/>
          <p:nvPr/>
        </p:nvSpPr>
        <p:spPr>
          <a:xfrm>
            <a:off x="859464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s-ES" sz="900" dirty="0">
              <a:solidFill>
                <a:srgbClr val="CBD5E1"/>
              </a:solidFill>
              <a:latin typeface="Calibri" pitchFamily="34" charset="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Shape 2"/>
          <p:cNvSpPr/>
          <p:nvPr/>
        </p:nvSpPr>
        <p:spPr>
          <a:xfrm>
            <a:off x="3200400" y="1280160"/>
            <a:ext cx="274320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4173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¡Gracias!</a:t>
            </a:r>
            <a:endParaRPr lang="en-US" sz="5200" dirty="0"/>
          </a:p>
        </p:txBody>
      </p:sp>
      <p:sp>
        <p:nvSpPr>
          <p:cNvPr id="6" name="Shape 4"/>
          <p:cNvSpPr/>
          <p:nvPr/>
        </p:nvSpPr>
        <p:spPr>
          <a:xfrm>
            <a:off x="3200400" y="2423160"/>
            <a:ext cx="274320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606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 de Chollos en Alojamientos Turísticos de Andalucía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017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Mario Jiménez · Trabajo de Fin de Grado · Universidad de Sevilla · 2025–2026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017520" y="3493008"/>
            <a:ext cx="3108960" cy="347472"/>
          </a:xfrm>
          <a:prstGeom prst="rect">
            <a:avLst/>
          </a:prstGeom>
          <a:solidFill>
            <a:srgbClr val="2A508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017520" y="349300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4A8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🔗  github.com/Marjimleo3/TFG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331</TotalTime>
  <Words>5712</Words>
  <Application>Microsoft Office PowerPoint</Application>
  <PresentationFormat>Presentación en pantalla (16:9)</PresentationFormat>
  <Paragraphs>767</Paragraphs>
  <Slides>22</Slides>
  <Notes>13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22</vt:i4>
      </vt:variant>
    </vt:vector>
  </HeadingPairs>
  <TitlesOfParts>
    <vt:vector size="26" baseType="lpstr">
      <vt:lpstr>Arial</vt:lpstr>
      <vt:lpstr>Calibri</vt:lpstr>
      <vt:lpstr>Consolas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Detector de Chollos en Alojamientos de Andalucía</dc:title>
  <dc:subject>PptxGenJS Presentation</dc:subject>
  <dc:creator>Mario Jiménez</dc:creator>
  <cp:lastModifiedBy>Mario Jimenez</cp:lastModifiedBy>
  <cp:revision>57</cp:revision>
  <dcterms:created xsi:type="dcterms:W3CDTF">2026-06-02T13:35:16Z</dcterms:created>
  <dcterms:modified xsi:type="dcterms:W3CDTF">2026-06-03T07:11:27Z</dcterms:modified>
</cp:coreProperties>
</file>